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22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31520" y="1005840"/>
            <a:ext cx="10728655" cy="54864"/>
          </a:xfrm>
          <a:prstGeom prst="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1280160"/>
            <a:ext cx="10728655" cy="2011680"/>
          </a:xfrm>
          <a:prstGeom prst="rect">
            <a:avLst/>
          </a:prstGeom>
          <a:noFill/>
        </p:spPr>
        <p:txBody>
          <a:bodyPr wrap="square">
            <a:spAutoFit/>
          </a:bodyPr>
          <a:lstStyle/>
          <a:p>
            <a:pPr>
              <a:defRPr sz="3200" b="1">
                <a:solidFill>
                  <a:srgbClr val="D97706"/>
                </a:solidFill>
                <a:latin typeface="Arial"/>
              </a:defRPr>
            </a:pPr>
            <a:r>
              <a:t>BÁO CÁO TIẾN ĐỘ DỰ ÁN KHOA HỌC DỮ LIỆU</a:t>
            </a:r>
          </a:p>
          <a:p>
            <a:pPr>
              <a:spcBef>
                <a:spcPts val="1200"/>
              </a:spcBef>
              <a:defRPr sz="1900" b="1">
                <a:solidFill>
                  <a:srgbClr val="FFFFFF"/>
                </a:solidFill>
                <a:latin typeface="Arial"/>
              </a:defRPr>
            </a:pPr>
            <a:r>
              <a:t>PHÂN TÍCH KHÁM PHÁ, SUY LUẬN THỐNG KÊ &amp; PHÂN TÍCH HỒI QUY GIÁ BĐS HÀ NỘI</a:t>
            </a:r>
          </a:p>
          <a:p>
            <a:pPr>
              <a:spcBef>
                <a:spcPts val="800"/>
              </a:spcBef>
              <a:defRPr sz="1400">
                <a:solidFill>
                  <a:srgbClr val="CBD5E1"/>
                </a:solidFill>
                <a:latin typeface="Arial"/>
              </a:defRPr>
            </a:pPr>
            <a:r>
              <a:t>Quy mô dữ liệu: 99.998 tin rao thô ➔ 37.402 bản ghi chuẩn hóa sạch (18 tháng gần nhất) • INFO3020</a:t>
            </a:r>
          </a:p>
        </p:txBody>
      </p:sp>
      <p:sp>
        <p:nvSpPr>
          <p:cNvPr id="5" name="Rectangle 4"/>
          <p:cNvSpPr/>
          <p:nvPr/>
        </p:nvSpPr>
        <p:spPr>
          <a:xfrm>
            <a:off x="731520" y="3931920"/>
            <a:ext cx="5184648" cy="2103120"/>
          </a:xfrm>
          <a:prstGeom prst="rect">
            <a:avLst/>
          </a:prstGeom>
          <a:solidFill>
            <a:srgbClr val="1A365D"/>
          </a:solidFill>
          <a:ln w="1270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500" b="1">
                <a:solidFill>
                  <a:srgbClr val="D97706"/>
                </a:solidFill>
                <a:latin typeface="Arial"/>
              </a:defRPr>
            </a:pPr>
            <a:r>
              <a:t>🏛️ HỘI ĐỒNG &amp; GIẢNG VIÊN HƯỚNG DẪN</a:t>
            </a:r>
          </a:p>
          <a:p>
            <a:pPr>
              <a:spcBef>
                <a:spcPts val="1000"/>
              </a:spcBef>
              <a:defRPr sz="1350">
                <a:solidFill>
                  <a:srgbClr val="FFFFFF"/>
                </a:solidFill>
                <a:latin typeface="Arial"/>
              </a:defRPr>
            </a:pPr>
            <a:r>
              <a:t>• Học phần: Khoa Học Dữ Liệu Thực Hành (INFO3020 - Tuần 1 đến 10)</a:t>
            </a:r>
            <a:br/>
            <a:r>
              <a:t>• Đơn vị: Bộ môn Khoa Học Dữ Liệu &amp; Trí Tuệ Nhân Tạo</a:t>
            </a:r>
            <a:br/>
            <a:r>
              <a:t>• Mục tiêu: Báo cáo nghiệm thu tiến độ EDA, Thống kê suy luận &amp; Phân tích Hồi quy</a:t>
            </a:r>
          </a:p>
        </p:txBody>
      </p:sp>
      <p:sp>
        <p:nvSpPr>
          <p:cNvPr id="6" name="Rectangle 5"/>
          <p:cNvSpPr/>
          <p:nvPr/>
        </p:nvSpPr>
        <p:spPr>
          <a:xfrm>
            <a:off x="6272784" y="3931920"/>
            <a:ext cx="5184648" cy="2103120"/>
          </a:xfrm>
          <a:prstGeom prst="rect">
            <a:avLst/>
          </a:prstGeom>
          <a:solidFill>
            <a:srgbClr val="1A365D"/>
          </a:solidFill>
          <a:ln w="1270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500" b="1">
                <a:solidFill>
                  <a:srgbClr val="D97706"/>
                </a:solidFill>
                <a:latin typeface="Arial"/>
              </a:defRPr>
            </a:pPr>
            <a:r>
              <a:t>👨‍💻 NHÓM SINH VIÊN THỰC HIỆN DỰ ÁN</a:t>
            </a:r>
          </a:p>
          <a:p>
            <a:pPr>
              <a:spcBef>
                <a:spcPts val="1000"/>
              </a:spcBef>
              <a:defRPr sz="1350">
                <a:solidFill>
                  <a:srgbClr val="FFFFFF"/>
                </a:solidFill>
                <a:latin typeface="Arial"/>
              </a:defRPr>
            </a:pPr>
            <a:r>
              <a:t>• Sinh viên thực hiện: Hoàng Long &amp; Cộng sự</a:t>
            </a:r>
            <a:br/>
            <a:r>
              <a:t>• Chuyên ngành: Khoa Học Dữ Liệu / Trí Tuệ Nhân Tạo</a:t>
            </a:r>
            <a:br/>
            <a:r>
              <a:t>• Thời gian nghiệm thu: Tháng 10/2026</a:t>
            </a:r>
            <a:br/>
            <a:r>
              <a:t>• Phạm vi nghiên cứu: 30 Quận / Huyện TP. Hà Nội</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60120"/>
          </a:xfrm>
          <a:prstGeom prst="rect">
            <a:avLst/>
          </a:prstGeom>
          <a:solidFill>
            <a:srgbClr val="0F22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32688"/>
            <a:ext cx="12191695" cy="36576"/>
          </a:xfrm>
          <a:prstGeom prst="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146304"/>
            <a:ext cx="10728655" cy="658368"/>
          </a:xfrm>
          <a:prstGeom prst="rect">
            <a:avLst/>
          </a:prstGeom>
          <a:noFill/>
        </p:spPr>
        <p:txBody>
          <a:bodyPr wrap="square">
            <a:spAutoFit/>
          </a:bodyPr>
          <a:lstStyle/>
          <a:p>
            <a:pPr>
              <a:defRPr sz="2200" b="1">
                <a:solidFill>
                  <a:srgbClr val="FFFFFF"/>
                </a:solidFill>
                <a:latin typeface="Arial"/>
              </a:defRPr>
            </a:pPr>
            <a:r>
              <a:t>Bối Cảnh Thị Trường &amp; 3 Bài Toán Khoa Học Dữ Liệu</a:t>
            </a:r>
          </a:p>
        </p:txBody>
      </p:sp>
      <p:sp>
        <p:nvSpPr>
          <p:cNvPr id="5" name="Rectangle 4"/>
          <p:cNvSpPr/>
          <p:nvPr/>
        </p:nvSpPr>
        <p:spPr>
          <a:xfrm>
            <a:off x="731520" y="1234440"/>
            <a:ext cx="3328416" cy="5166360"/>
          </a:xfrm>
          <a:prstGeom prst="rect">
            <a:avLst/>
          </a:prstGeom>
          <a:solidFill>
            <a:srgbClr val="FFFF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731520" y="1234440"/>
            <a:ext cx="3328416" cy="438912"/>
          </a:xfrm>
          <a:prstGeom prst="rect">
            <a:avLst/>
          </a:prstGeom>
          <a:solidFill>
            <a:srgbClr val="1A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96112" y="1271016"/>
            <a:ext cx="2999232" cy="365760"/>
          </a:xfrm>
          <a:prstGeom prst="rect">
            <a:avLst/>
          </a:prstGeom>
          <a:noFill/>
        </p:spPr>
        <p:txBody>
          <a:bodyPr wrap="square">
            <a:spAutoFit/>
          </a:bodyPr>
          <a:lstStyle/>
          <a:p>
            <a:pPr>
              <a:defRPr sz="1400" b="1">
                <a:solidFill>
                  <a:srgbClr val="FFFFFF"/>
                </a:solidFill>
                <a:latin typeface="Arial"/>
              </a:defRPr>
            </a:pPr>
            <a:r>
              <a:t>BÀI TOÁN 1: DỰ BÁO GIÁ</a:t>
            </a:r>
          </a:p>
        </p:txBody>
      </p:sp>
      <p:sp>
        <p:nvSpPr>
          <p:cNvPr id="8" name="TextBox 7"/>
          <p:cNvSpPr txBox="1"/>
          <p:nvPr/>
        </p:nvSpPr>
        <p:spPr>
          <a:xfrm>
            <a:off x="914400" y="1764792"/>
            <a:ext cx="2962656" cy="4544568"/>
          </a:xfrm>
          <a:prstGeom prst="rect">
            <a:avLst/>
          </a:prstGeom>
          <a:noFill/>
        </p:spPr>
        <p:txBody>
          <a:bodyPr wrap="square">
            <a:spAutoFit/>
          </a:bodyPr>
          <a:lstStyle/>
          <a:p>
            <a:pPr>
              <a:defRPr sz="1350" b="1">
                <a:solidFill>
                  <a:srgbClr val="D97706"/>
                </a:solidFill>
                <a:latin typeface="Arial"/>
              </a:defRPr>
            </a:pPr>
            <a:r>
              <a:t>🎯 PHÂN TÍCH HỒI QUY (TUẦN 10)</a:t>
            </a:r>
          </a:p>
          <a:p>
            <a:pPr>
              <a:spcBef>
                <a:spcPts val="1400"/>
              </a:spcBef>
              <a:defRPr sz="1350" b="1">
                <a:solidFill>
                  <a:srgbClr val="1A365D"/>
                </a:solidFill>
                <a:latin typeface="Arial"/>
              </a:defRPr>
            </a:pPr>
            <a:r>
              <a:t>• Vấn đề thực tế:</a:t>
            </a:r>
          </a:p>
          <a:p>
            <a:pPr>
              <a:spcBef>
                <a:spcPts val="300"/>
              </a:spcBef>
              <a:defRPr sz="1300">
                <a:solidFill>
                  <a:srgbClr val="1E293B"/>
                </a:solidFill>
                <a:latin typeface="Arial"/>
              </a:defRPr>
            </a:pPr>
            <a:r>
              <a:t>Thị trường BĐS Hà Nội biến động mạnh, mức giá giữa các khu vực có sự phân hóa sâu sắc.</a:t>
            </a:r>
          </a:p>
          <a:p>
            <a:pPr>
              <a:spcBef>
                <a:spcPts val="1400"/>
              </a:spcBef>
              <a:defRPr sz="1350" b="1">
                <a:solidFill>
                  <a:srgbClr val="1A365D"/>
                </a:solidFill>
                <a:latin typeface="Arial"/>
              </a:defRPr>
            </a:pPr>
            <a:r>
              <a:t>• Phương pháp tiếp cận:</a:t>
            </a:r>
          </a:p>
          <a:p>
            <a:pPr>
              <a:spcBef>
                <a:spcPts val="300"/>
              </a:spcBef>
              <a:defRPr sz="1300">
                <a:solidFill>
                  <a:srgbClr val="1E293B"/>
                </a:solidFill>
                <a:latin typeface="Arial"/>
              </a:defRPr>
            </a:pPr>
            <a:r>
              <a:t>Xây dựng phương trình Hồi quy tuyến tính đa biến (OLS) kết hợp điều chuẩn (Ridge, Lasso) và biến đổi Logarit.</a:t>
            </a:r>
          </a:p>
          <a:p>
            <a:pPr>
              <a:spcBef>
                <a:spcPts val="1400"/>
              </a:spcBef>
              <a:defRPr sz="1350" b="1">
                <a:solidFill>
                  <a:srgbClr val="1A365D"/>
                </a:solidFill>
                <a:latin typeface="Arial"/>
              </a:defRPr>
            </a:pPr>
            <a:r>
              <a:t>• Kết quả kỳ vọng:</a:t>
            </a:r>
          </a:p>
          <a:p>
            <a:pPr>
              <a:spcBef>
                <a:spcPts val="300"/>
              </a:spcBef>
              <a:defRPr sz="1300">
                <a:solidFill>
                  <a:srgbClr val="1E293B"/>
                </a:solidFill>
                <a:latin typeface="Arial"/>
              </a:defRPr>
            </a:pPr>
            <a:r>
              <a:t>Tối ưu hóa sai số dự báo MAE, giải thích định lượng mức độ đóng góp của từng yếu tố đến đơn giá m².</a:t>
            </a:r>
          </a:p>
        </p:txBody>
      </p:sp>
      <p:sp>
        <p:nvSpPr>
          <p:cNvPr id="9" name="Rectangle 8"/>
          <p:cNvSpPr/>
          <p:nvPr/>
        </p:nvSpPr>
        <p:spPr>
          <a:xfrm>
            <a:off x="4425696" y="1234440"/>
            <a:ext cx="3328416" cy="5166360"/>
          </a:xfrm>
          <a:prstGeom prst="rect">
            <a:avLst/>
          </a:prstGeom>
          <a:solidFill>
            <a:srgbClr val="FFFF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425696" y="1234440"/>
            <a:ext cx="3328416" cy="438912"/>
          </a:xfrm>
          <a:prstGeom prst="rect">
            <a:avLst/>
          </a:prstGeom>
          <a:solidFill>
            <a:srgbClr val="1A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90288" y="1271016"/>
            <a:ext cx="2999232" cy="365760"/>
          </a:xfrm>
          <a:prstGeom prst="rect">
            <a:avLst/>
          </a:prstGeom>
          <a:noFill/>
        </p:spPr>
        <p:txBody>
          <a:bodyPr wrap="square">
            <a:spAutoFit/>
          </a:bodyPr>
          <a:lstStyle/>
          <a:p>
            <a:pPr>
              <a:defRPr sz="1400" b="1">
                <a:solidFill>
                  <a:srgbClr val="FFFFFF"/>
                </a:solidFill>
                <a:latin typeface="Arial"/>
              </a:defRPr>
            </a:pPr>
            <a:r>
              <a:t>BÀI TOÁN 2: THẨM ĐỊNH</a:t>
            </a:r>
          </a:p>
        </p:txBody>
      </p:sp>
      <p:sp>
        <p:nvSpPr>
          <p:cNvPr id="12" name="TextBox 11"/>
          <p:cNvSpPr txBox="1"/>
          <p:nvPr/>
        </p:nvSpPr>
        <p:spPr>
          <a:xfrm>
            <a:off x="4608576" y="1764792"/>
            <a:ext cx="2962656" cy="4544568"/>
          </a:xfrm>
          <a:prstGeom prst="rect">
            <a:avLst/>
          </a:prstGeom>
          <a:noFill/>
        </p:spPr>
        <p:txBody>
          <a:bodyPr wrap="square">
            <a:spAutoFit/>
          </a:bodyPr>
          <a:lstStyle/>
          <a:p>
            <a:pPr>
              <a:defRPr sz="1350" b="1">
                <a:solidFill>
                  <a:srgbClr val="D97706"/>
                </a:solidFill>
                <a:latin typeface="Arial"/>
              </a:defRPr>
            </a:pPr>
            <a:r>
              <a:t>🎯 QUẢN TRỊ RỦI RO TÍN DỤNG</a:t>
            </a:r>
          </a:p>
          <a:p>
            <a:pPr>
              <a:spcBef>
                <a:spcPts val="1400"/>
              </a:spcBef>
              <a:defRPr sz="1350" b="1">
                <a:solidFill>
                  <a:srgbClr val="1A365D"/>
                </a:solidFill>
                <a:latin typeface="Arial"/>
              </a:defRPr>
            </a:pPr>
            <a:r>
              <a:t>• Vấn đề thực tế:</a:t>
            </a:r>
          </a:p>
          <a:p>
            <a:pPr>
              <a:spcBef>
                <a:spcPts val="300"/>
              </a:spcBef>
              <a:defRPr sz="1300">
                <a:solidFill>
                  <a:srgbClr val="1E293B"/>
                </a:solidFill>
                <a:latin typeface="Arial"/>
              </a:defRPr>
            </a:pPr>
            <a:r>
              <a:t>Định giá sai lệch gây rủi ro nợ xấu lớn cho ngân hàng và tổ chức tài chính khi duyệt hồ sơ thế chấp.</a:t>
            </a:r>
          </a:p>
          <a:p>
            <a:pPr>
              <a:spcBef>
                <a:spcPts val="1400"/>
              </a:spcBef>
              <a:defRPr sz="1350" b="1">
                <a:solidFill>
                  <a:srgbClr val="1A365D"/>
                </a:solidFill>
                <a:latin typeface="Arial"/>
              </a:defRPr>
            </a:pPr>
            <a:r>
              <a:t>• Phương pháp tiếp cận:</a:t>
            </a:r>
          </a:p>
          <a:p>
            <a:pPr>
              <a:spcBef>
                <a:spcPts val="300"/>
              </a:spcBef>
              <a:defRPr sz="1300">
                <a:solidFill>
                  <a:srgbClr val="1E293B"/>
                </a:solidFill>
                <a:latin typeface="Arial"/>
              </a:defRPr>
            </a:pPr>
            <a:r>
              <a:t>Ứng dụng phương pháp thống kê suy luận (Welch's t-test, Bootstrap CI) để ước lượng dải giá an toàn.</a:t>
            </a:r>
          </a:p>
          <a:p>
            <a:pPr>
              <a:spcBef>
                <a:spcPts val="1400"/>
              </a:spcBef>
              <a:defRPr sz="1350" b="1">
                <a:solidFill>
                  <a:srgbClr val="1A365D"/>
                </a:solidFill>
                <a:latin typeface="Arial"/>
              </a:defRPr>
            </a:pPr>
            <a:r>
              <a:t>• Kết quả kỳ vọng:</a:t>
            </a:r>
          </a:p>
          <a:p>
            <a:pPr>
              <a:spcBef>
                <a:spcPts val="300"/>
              </a:spcBef>
              <a:defRPr sz="1300">
                <a:solidFill>
                  <a:srgbClr val="1E293B"/>
                </a:solidFill>
                <a:latin typeface="Arial"/>
              </a:defRPr>
            </a:pPr>
            <a:r>
              <a:t>Cung cấp ngưỡng định giá an toàn, hạn chế tối đa rủi ro giải ngân vượt giá trị thực của tài sản.</a:t>
            </a:r>
          </a:p>
        </p:txBody>
      </p:sp>
      <p:sp>
        <p:nvSpPr>
          <p:cNvPr id="13" name="Rectangle 12"/>
          <p:cNvSpPr/>
          <p:nvPr/>
        </p:nvSpPr>
        <p:spPr>
          <a:xfrm>
            <a:off x="8119872" y="1234440"/>
            <a:ext cx="3328416" cy="5166360"/>
          </a:xfrm>
          <a:prstGeom prst="rect">
            <a:avLst/>
          </a:prstGeom>
          <a:solidFill>
            <a:srgbClr val="FFFF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8119872" y="1234440"/>
            <a:ext cx="3328416" cy="438912"/>
          </a:xfrm>
          <a:prstGeom prst="rect">
            <a:avLst/>
          </a:prstGeom>
          <a:solidFill>
            <a:srgbClr val="1A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284464" y="1271016"/>
            <a:ext cx="2999232" cy="365760"/>
          </a:xfrm>
          <a:prstGeom prst="rect">
            <a:avLst/>
          </a:prstGeom>
          <a:noFill/>
        </p:spPr>
        <p:txBody>
          <a:bodyPr wrap="square">
            <a:spAutoFit/>
          </a:bodyPr>
          <a:lstStyle/>
          <a:p>
            <a:pPr>
              <a:defRPr sz="1400" b="1">
                <a:solidFill>
                  <a:srgbClr val="FFFFFF"/>
                </a:solidFill>
                <a:latin typeface="Arial"/>
              </a:defRPr>
            </a:pPr>
            <a:r>
              <a:t>BÀI TOÁN 3: ĐẦU TƯ</a:t>
            </a:r>
          </a:p>
        </p:txBody>
      </p:sp>
      <p:sp>
        <p:nvSpPr>
          <p:cNvPr id="16" name="TextBox 15"/>
          <p:cNvSpPr txBox="1"/>
          <p:nvPr/>
        </p:nvSpPr>
        <p:spPr>
          <a:xfrm>
            <a:off x="8302752" y="1764792"/>
            <a:ext cx="2962656" cy="4544568"/>
          </a:xfrm>
          <a:prstGeom prst="rect">
            <a:avLst/>
          </a:prstGeom>
          <a:noFill/>
        </p:spPr>
        <p:txBody>
          <a:bodyPr wrap="square">
            <a:spAutoFit/>
          </a:bodyPr>
          <a:lstStyle/>
          <a:p>
            <a:pPr>
              <a:defRPr sz="1350" b="1">
                <a:solidFill>
                  <a:srgbClr val="D97706"/>
                </a:solidFill>
                <a:latin typeface="Arial"/>
              </a:defRPr>
            </a:pPr>
            <a:r>
              <a:t>🎯 PHÂN TẦNG &amp; TÀI SẢN THAY THẾ</a:t>
            </a:r>
          </a:p>
          <a:p>
            <a:pPr>
              <a:spcBef>
                <a:spcPts val="1400"/>
              </a:spcBef>
              <a:defRPr sz="1350" b="1">
                <a:solidFill>
                  <a:srgbClr val="1A365D"/>
                </a:solidFill>
                <a:latin typeface="Arial"/>
              </a:defRPr>
            </a:pPr>
            <a:r>
              <a:t>• Vấn đề thực tế:</a:t>
            </a:r>
          </a:p>
          <a:p>
            <a:pPr>
              <a:spcBef>
                <a:spcPts val="300"/>
              </a:spcBef>
              <a:defRPr sz="1300">
                <a:solidFill>
                  <a:srgbClr val="1E293B"/>
                </a:solidFill>
                <a:latin typeface="Arial"/>
              </a:defRPr>
            </a:pPr>
            <a:r>
              <a:t>Nhà đầu tư gặp khó khăn trong việc nhận diện các khu vực có mức giá và tiềm năng tương đương để phân bổ vốn.</a:t>
            </a:r>
          </a:p>
          <a:p>
            <a:pPr>
              <a:spcBef>
                <a:spcPts val="1400"/>
              </a:spcBef>
              <a:defRPr sz="1350" b="1">
                <a:solidFill>
                  <a:srgbClr val="1A365D"/>
                </a:solidFill>
                <a:latin typeface="Arial"/>
              </a:defRPr>
            </a:pPr>
            <a:r>
              <a:t>• Phương pháp tiếp cận:</a:t>
            </a:r>
          </a:p>
          <a:p>
            <a:pPr>
              <a:spcBef>
                <a:spcPts val="300"/>
              </a:spcBef>
              <a:defRPr sz="1300">
                <a:solidFill>
                  <a:srgbClr val="1E293B"/>
                </a:solidFill>
                <a:latin typeface="Arial"/>
              </a:defRPr>
            </a:pPr>
            <a:r>
              <a:t>Phân tích phương sai One-Way ANOVA &amp; đối sánh từng cặp Tukey HSD để tìm kiếm các quận có mức giá đồng nhất.</a:t>
            </a:r>
          </a:p>
          <a:p>
            <a:pPr>
              <a:spcBef>
                <a:spcPts val="1400"/>
              </a:spcBef>
              <a:defRPr sz="1350" b="1">
                <a:solidFill>
                  <a:srgbClr val="1A365D"/>
                </a:solidFill>
                <a:latin typeface="Arial"/>
              </a:defRPr>
            </a:pPr>
            <a:r>
              <a:t>• Kết quả kỳ vọng:</a:t>
            </a:r>
          </a:p>
          <a:p>
            <a:pPr>
              <a:spcBef>
                <a:spcPts val="300"/>
              </a:spcBef>
              <a:defRPr sz="1300">
                <a:solidFill>
                  <a:srgbClr val="1E293B"/>
                </a:solidFill>
                <a:latin typeface="Arial"/>
              </a:defRPr>
            </a:pPr>
            <a:r>
              <a:t>Xác lập bản đồ tài sản thay thế, mở rộng cơ hội đầu tư và tối ưu hóa danh mục tài sản.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60120"/>
          </a:xfrm>
          <a:prstGeom prst="rect">
            <a:avLst/>
          </a:prstGeom>
          <a:solidFill>
            <a:srgbClr val="0F22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32688"/>
            <a:ext cx="12191695" cy="36576"/>
          </a:xfrm>
          <a:prstGeom prst="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146304"/>
            <a:ext cx="10728655" cy="658368"/>
          </a:xfrm>
          <a:prstGeom prst="rect">
            <a:avLst/>
          </a:prstGeom>
          <a:noFill/>
        </p:spPr>
        <p:txBody>
          <a:bodyPr wrap="square">
            <a:spAutoFit/>
          </a:bodyPr>
          <a:lstStyle/>
          <a:p>
            <a:pPr>
              <a:defRPr sz="2200" b="1">
                <a:solidFill>
                  <a:srgbClr val="FFFFFF"/>
                </a:solidFill>
                <a:latin typeface="Arial"/>
              </a:defRPr>
            </a:pPr>
            <a:r>
              <a:t>Phễu Sàng Lọc &amp; Chuẩn Hóa Dữ Liệu (99.998 ➔ 37.402 Bản Ghi)</a:t>
            </a:r>
          </a:p>
        </p:txBody>
      </p:sp>
      <p:sp>
        <p:nvSpPr>
          <p:cNvPr id="5" name="Rectangle 4"/>
          <p:cNvSpPr/>
          <p:nvPr/>
        </p:nvSpPr>
        <p:spPr>
          <a:xfrm>
            <a:off x="731520" y="1234440"/>
            <a:ext cx="2542032" cy="1371600"/>
          </a:xfrm>
          <a:prstGeom prst="rect">
            <a:avLst/>
          </a:prstGeom>
          <a:solidFill>
            <a:srgbClr val="1A365D"/>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50" b="1">
                <a:solidFill>
                  <a:srgbClr val="D97706"/>
                </a:solidFill>
                <a:latin typeface="Arial"/>
              </a:defRPr>
            </a:pPr>
            <a:r>
              <a:t>BƯỚC 1: DỮ LIỆU THÔ</a:t>
            </a:r>
          </a:p>
          <a:p>
            <a:pPr>
              <a:spcBef>
                <a:spcPts val="200"/>
              </a:spcBef>
              <a:defRPr sz="2500" b="1">
                <a:solidFill>
                  <a:srgbClr val="FFFFFF"/>
                </a:solidFill>
                <a:latin typeface="Arial"/>
              </a:defRPr>
            </a:pPr>
            <a:r>
              <a:t>99.998</a:t>
            </a:r>
          </a:p>
          <a:p>
            <a:pPr>
              <a:spcBef>
                <a:spcPts val="200"/>
              </a:spcBef>
              <a:defRPr sz="1150">
                <a:solidFill>
                  <a:srgbClr val="E2E8F0"/>
                </a:solidFill>
                <a:latin typeface="Arial"/>
              </a:defRPr>
            </a:pPr>
            <a:r>
              <a:t>100.0% • Thu thập đa kênh</a:t>
            </a:r>
          </a:p>
        </p:txBody>
      </p:sp>
      <p:sp>
        <p:nvSpPr>
          <p:cNvPr id="6" name="Rectangle 5"/>
          <p:cNvSpPr/>
          <p:nvPr/>
        </p:nvSpPr>
        <p:spPr>
          <a:xfrm>
            <a:off x="3456432" y="1234440"/>
            <a:ext cx="2542032" cy="1371600"/>
          </a:xfrm>
          <a:prstGeom prst="rect">
            <a:avLst/>
          </a:prstGeom>
          <a:solidFill>
            <a:srgbClr val="1A365D"/>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50" b="1">
                <a:solidFill>
                  <a:srgbClr val="D97706"/>
                </a:solidFill>
                <a:latin typeface="Arial"/>
              </a:defRPr>
            </a:pPr>
            <a:r>
              <a:t>BƯỚC 2: CỬA SỔ 18 THÁNG</a:t>
            </a:r>
          </a:p>
          <a:p>
            <a:pPr>
              <a:spcBef>
                <a:spcPts val="200"/>
              </a:spcBef>
              <a:defRPr sz="2500" b="1">
                <a:solidFill>
                  <a:srgbClr val="FFFFFF"/>
                </a:solidFill>
                <a:latin typeface="Arial"/>
              </a:defRPr>
            </a:pPr>
            <a:r>
              <a:t>38.505</a:t>
            </a:r>
          </a:p>
          <a:p>
            <a:pPr>
              <a:spcBef>
                <a:spcPts val="200"/>
              </a:spcBef>
              <a:defRPr sz="1150">
                <a:solidFill>
                  <a:srgbClr val="E2E8F0"/>
                </a:solidFill>
                <a:latin typeface="Arial"/>
              </a:defRPr>
            </a:pPr>
            <a:r>
              <a:t>38.5% • Lọc giai đoạn 2025 - 2026</a:t>
            </a:r>
          </a:p>
        </p:txBody>
      </p:sp>
      <p:sp>
        <p:nvSpPr>
          <p:cNvPr id="7" name="Rectangle 6"/>
          <p:cNvSpPr/>
          <p:nvPr/>
        </p:nvSpPr>
        <p:spPr>
          <a:xfrm>
            <a:off x="6181344" y="1234440"/>
            <a:ext cx="2542032" cy="1371600"/>
          </a:xfrm>
          <a:prstGeom prst="rect">
            <a:avLst/>
          </a:prstGeom>
          <a:solidFill>
            <a:srgbClr val="1A365D"/>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50" b="1">
                <a:solidFill>
                  <a:srgbClr val="D97706"/>
                </a:solidFill>
                <a:latin typeface="Arial"/>
              </a:defRPr>
            </a:pPr>
            <a:r>
              <a:t>BƯỚC 3: XÓA RÁC &amp; KHUYẾT</a:t>
            </a:r>
          </a:p>
          <a:p>
            <a:pPr>
              <a:spcBef>
                <a:spcPts val="200"/>
              </a:spcBef>
              <a:defRPr sz="2500" b="1">
                <a:solidFill>
                  <a:srgbClr val="FFFFFF"/>
                </a:solidFill>
                <a:latin typeface="Arial"/>
              </a:defRPr>
            </a:pPr>
            <a:r>
              <a:t>37.630</a:t>
            </a:r>
          </a:p>
          <a:p>
            <a:pPr>
              <a:spcBef>
                <a:spcPts val="200"/>
              </a:spcBef>
              <a:defRPr sz="1150">
                <a:solidFill>
                  <a:srgbClr val="E2E8F0"/>
                </a:solidFill>
                <a:latin typeface="Arial"/>
              </a:defRPr>
            </a:pPr>
            <a:r>
              <a:t>37.6% • Loại giá 'Thỏa thuận' &amp; inf</a:t>
            </a:r>
          </a:p>
        </p:txBody>
      </p:sp>
      <p:sp>
        <p:nvSpPr>
          <p:cNvPr id="8" name="Rectangle 7"/>
          <p:cNvSpPr/>
          <p:nvPr/>
        </p:nvSpPr>
        <p:spPr>
          <a:xfrm>
            <a:off x="8906256" y="1234440"/>
            <a:ext cx="2542032" cy="1371600"/>
          </a:xfrm>
          <a:prstGeom prst="rect">
            <a:avLst/>
          </a:prstGeom>
          <a:solidFill>
            <a:srgbClr val="0F2240"/>
          </a:solidFill>
          <a:ln w="1905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50" b="1">
                <a:solidFill>
                  <a:srgbClr val="D97706"/>
                </a:solidFill>
                <a:latin typeface="Arial"/>
              </a:defRPr>
            </a:pPr>
            <a:r>
              <a:t>BƯỚC 4: DỮ LIỆU SẠCH</a:t>
            </a:r>
          </a:p>
          <a:p>
            <a:pPr>
              <a:spcBef>
                <a:spcPts val="200"/>
              </a:spcBef>
              <a:defRPr sz="2500" b="1">
                <a:solidFill>
                  <a:srgbClr val="FFFFFF"/>
                </a:solidFill>
                <a:latin typeface="Arial"/>
              </a:defRPr>
            </a:pPr>
            <a:r>
              <a:t>37.402</a:t>
            </a:r>
          </a:p>
          <a:p>
            <a:pPr>
              <a:spcBef>
                <a:spcPts val="200"/>
              </a:spcBef>
              <a:defRPr sz="1150">
                <a:solidFill>
                  <a:srgbClr val="E2E8F0"/>
                </a:solidFill>
                <a:latin typeface="Arial"/>
              </a:defRPr>
            </a:pPr>
            <a:r>
              <a:t>37.4% • 38 đặc trưng chuẩn hóa</a:t>
            </a:r>
          </a:p>
        </p:txBody>
      </p:sp>
      <p:graphicFrame>
        <p:nvGraphicFramePr>
          <p:cNvPr id="9" name="Table 8"/>
          <p:cNvGraphicFramePr>
            <a:graphicFrameLocks noGrp="1"/>
          </p:cNvGraphicFramePr>
          <p:nvPr/>
        </p:nvGraphicFramePr>
        <p:xfrm>
          <a:off x="731520" y="2834640"/>
          <a:ext cx="10728655" cy="3566160"/>
        </p:xfrm>
        <a:graphic>
          <a:graphicData uri="http://schemas.openxmlformats.org/drawingml/2006/table">
            <a:tbl>
              <a:tblPr firstRow="1" bandRow="1">
                <a:tableStyleId>{5C22544A-7EE6-4342-B048-85BDC9FD1C3A}</a:tableStyleId>
              </a:tblPr>
              <a:tblGrid>
                <a:gridCol w="2103120"/>
                <a:gridCol w="1371600"/>
                <a:gridCol w="1188720"/>
                <a:gridCol w="6065215"/>
              </a:tblGrid>
              <a:tr h="713232">
                <a:tc>
                  <a:txBody>
                    <a:bodyPr/>
                    <a:lstStyle/>
                    <a:p>
                      <a:pPr algn="ctr">
                        <a:defRPr b="1" sz="1350">
                          <a:solidFill>
                            <a:srgbClr val="FFFFFF"/>
                          </a:solidFill>
                          <a:latin typeface="Arial"/>
                        </a:defRPr>
                      </a:pPr>
                      <a:r>
                        <a:t>Hạng Mục Xử Lý</a:t>
                      </a:r>
                    </a:p>
                  </a:txBody>
                  <a:tcPr anchor="ctr">
                    <a:solidFill>
                      <a:srgbClr val="1A365D"/>
                    </a:solidFill>
                  </a:tcPr>
                </a:tc>
                <a:tc>
                  <a:txBody>
                    <a:bodyPr/>
                    <a:lstStyle/>
                    <a:p>
                      <a:pPr algn="ctr">
                        <a:defRPr b="1" sz="1350">
                          <a:solidFill>
                            <a:srgbClr val="FFFFFF"/>
                          </a:solidFill>
                          <a:latin typeface="Arial"/>
                        </a:defRPr>
                      </a:pPr>
                      <a:r>
                        <a:t>Số Bản Ghi</a:t>
                      </a:r>
                    </a:p>
                  </a:txBody>
                  <a:tcPr anchor="ctr">
                    <a:solidFill>
                      <a:srgbClr val="1A365D"/>
                    </a:solidFill>
                  </a:tcPr>
                </a:tc>
                <a:tc>
                  <a:txBody>
                    <a:bodyPr/>
                    <a:lstStyle/>
                    <a:p>
                      <a:pPr algn="ctr">
                        <a:defRPr b="1" sz="1350">
                          <a:solidFill>
                            <a:srgbClr val="FFFFFF"/>
                          </a:solidFill>
                          <a:latin typeface="Arial"/>
                        </a:defRPr>
                      </a:pPr>
                      <a:r>
                        <a:t>Tỷ Lệ %</a:t>
                      </a:r>
                    </a:p>
                  </a:txBody>
                  <a:tcPr anchor="ctr">
                    <a:solidFill>
                      <a:srgbClr val="1A365D"/>
                    </a:solidFill>
                  </a:tcPr>
                </a:tc>
                <a:tc>
                  <a:txBody>
                    <a:bodyPr/>
                    <a:lstStyle/>
                    <a:p>
                      <a:pPr algn="ctr">
                        <a:defRPr b="1" sz="1350">
                          <a:solidFill>
                            <a:srgbClr val="FFFFFF"/>
                          </a:solidFill>
                          <a:latin typeface="Arial"/>
                        </a:defRPr>
                      </a:pPr>
                      <a:r>
                        <a:t>Cơ Sở Kỹ Thuật &amp; Nguyên Nhân Thực Tế</a:t>
                      </a:r>
                    </a:p>
                  </a:txBody>
                  <a:tcPr anchor="ctr">
                    <a:solidFill>
                      <a:srgbClr val="1A365D"/>
                    </a:solidFill>
                  </a:tcPr>
                </a:tc>
              </a:tr>
              <a:tr h="713232">
                <a:tc>
                  <a:txBody>
                    <a:bodyPr/>
                    <a:lstStyle/>
                    <a:p>
                      <a:pPr>
                        <a:defRPr sz="1300">
                          <a:solidFill>
                            <a:srgbClr val="1E293B"/>
                          </a:solidFill>
                          <a:latin typeface="Arial"/>
                        </a:defRPr>
                      </a:pPr>
                      <a:r>
                        <a:t>Lọc chu kỳ 18 tháng</a:t>
                      </a:r>
                    </a:p>
                  </a:txBody>
                  <a:tcPr anchor="ctr">
                    <a:solidFill>
                      <a:srgbClr val="FFFFFF"/>
                    </a:solidFill>
                  </a:tcPr>
                </a:tc>
                <a:tc>
                  <a:txBody>
                    <a:bodyPr/>
                    <a:lstStyle/>
                    <a:p>
                      <a:pPr algn="ctr">
                        <a:defRPr sz="1300" b="1">
                          <a:solidFill>
                            <a:srgbClr val="1E293B"/>
                          </a:solidFill>
                          <a:latin typeface="Arial"/>
                        </a:defRPr>
                      </a:pPr>
                      <a:r>
                        <a:t>61.493</a:t>
                      </a:r>
                    </a:p>
                  </a:txBody>
                  <a:tcPr anchor="ctr">
                    <a:solidFill>
                      <a:srgbClr val="FFFFFF"/>
                    </a:solidFill>
                  </a:tcPr>
                </a:tc>
                <a:tc>
                  <a:txBody>
                    <a:bodyPr/>
                    <a:lstStyle/>
                    <a:p>
                      <a:pPr algn="ctr">
                        <a:defRPr sz="1300" b="1">
                          <a:solidFill>
                            <a:srgbClr val="1E293B"/>
                          </a:solidFill>
                          <a:latin typeface="Arial"/>
                        </a:defRPr>
                      </a:pPr>
                      <a:r>
                        <a:t>61.5%</a:t>
                      </a:r>
                    </a:p>
                  </a:txBody>
                  <a:tcPr anchor="ctr">
                    <a:solidFill>
                      <a:srgbClr val="FFFFFF"/>
                    </a:solidFill>
                  </a:tcPr>
                </a:tc>
                <a:tc>
                  <a:txBody>
                    <a:bodyPr/>
                    <a:lstStyle/>
                    <a:p>
                      <a:pPr>
                        <a:defRPr sz="1300">
                          <a:solidFill>
                            <a:srgbClr val="1E293B"/>
                          </a:solidFill>
                          <a:latin typeface="Arial"/>
                        </a:defRPr>
                      </a:pPr>
                      <a:r>
                        <a:t>Loại bỏ tin cũ trước tháng 09/2024 để phản ánh đúng mặt bằng giá sau chu kỳ sốt đất 2024.</a:t>
                      </a:r>
                    </a:p>
                  </a:txBody>
                  <a:tcPr anchor="ctr">
                    <a:solidFill>
                      <a:srgbClr val="FFFFFF"/>
                    </a:solidFill>
                  </a:tcPr>
                </a:tc>
              </a:tr>
              <a:tr h="713232">
                <a:tc>
                  <a:txBody>
                    <a:bodyPr/>
                    <a:lstStyle/>
                    <a:p>
                      <a:pPr>
                        <a:defRPr sz="1300">
                          <a:solidFill>
                            <a:srgbClr val="1E293B"/>
                          </a:solidFill>
                          <a:latin typeface="Arial"/>
                        </a:defRPr>
                      </a:pPr>
                      <a:r>
                        <a:t>Khuyết mục tiêu</a:t>
                      </a:r>
                    </a:p>
                  </a:txBody>
                  <a:tcPr anchor="ctr">
                    <a:solidFill>
                      <a:srgbClr val="F8FAFC"/>
                    </a:solidFill>
                  </a:tcPr>
                </a:tc>
                <a:tc>
                  <a:txBody>
                    <a:bodyPr/>
                    <a:lstStyle/>
                    <a:p>
                      <a:pPr algn="ctr">
                        <a:defRPr sz="1300" b="1">
                          <a:solidFill>
                            <a:srgbClr val="1E293B"/>
                          </a:solidFill>
                          <a:latin typeface="Arial"/>
                        </a:defRPr>
                      </a:pPr>
                      <a:r>
                        <a:t>875</a:t>
                      </a:r>
                    </a:p>
                  </a:txBody>
                  <a:tcPr anchor="ctr">
                    <a:solidFill>
                      <a:srgbClr val="F8FAFC"/>
                    </a:solidFill>
                  </a:tcPr>
                </a:tc>
                <a:tc>
                  <a:txBody>
                    <a:bodyPr/>
                    <a:lstStyle/>
                    <a:p>
                      <a:pPr algn="ctr">
                        <a:defRPr sz="1300" b="1">
                          <a:solidFill>
                            <a:srgbClr val="1E293B"/>
                          </a:solidFill>
                          <a:latin typeface="Arial"/>
                        </a:defRPr>
                      </a:pPr>
                      <a:r>
                        <a:t>2.3%</a:t>
                      </a:r>
                    </a:p>
                  </a:txBody>
                  <a:tcPr anchor="ctr">
                    <a:solidFill>
                      <a:srgbClr val="F8FAFC"/>
                    </a:solidFill>
                  </a:tcPr>
                </a:tc>
                <a:tc>
                  <a:txBody>
                    <a:bodyPr/>
                    <a:lstStyle/>
                    <a:p>
                      <a:pPr>
                        <a:defRPr sz="1300">
                          <a:solidFill>
                            <a:srgbClr val="1E293B"/>
                          </a:solidFill>
                          <a:latin typeface="Arial"/>
                        </a:defRPr>
                      </a:pPr>
                      <a:r>
                        <a:t>Tin rao ghi 'Giá thỏa thuận', khuyết diện tích hoặc lỗi chuyển đổi -&gt; Loại bỏ hoàn toàn.</a:t>
                      </a:r>
                    </a:p>
                  </a:txBody>
                  <a:tcPr anchor="ctr">
                    <a:solidFill>
                      <a:srgbClr val="F8FAFC"/>
                    </a:solidFill>
                  </a:tcPr>
                </a:tc>
              </a:tr>
              <a:tr h="713232">
                <a:tc>
                  <a:txBody>
                    <a:bodyPr/>
                    <a:lstStyle/>
                    <a:p>
                      <a:pPr>
                        <a:defRPr sz="1300">
                          <a:solidFill>
                            <a:srgbClr val="1E293B"/>
                          </a:solidFill>
                          <a:latin typeface="Arial"/>
                        </a:defRPr>
                      </a:pPr>
                      <a:r>
                        <a:t>Ngoại lai miền tri thức</a:t>
                      </a:r>
                    </a:p>
                  </a:txBody>
                  <a:tcPr anchor="ctr">
                    <a:solidFill>
                      <a:srgbClr val="FFFFFF"/>
                    </a:solidFill>
                  </a:tcPr>
                </a:tc>
                <a:tc>
                  <a:txBody>
                    <a:bodyPr/>
                    <a:lstStyle/>
                    <a:p>
                      <a:pPr algn="ctr">
                        <a:defRPr sz="1300" b="1">
                          <a:solidFill>
                            <a:srgbClr val="1E293B"/>
                          </a:solidFill>
                          <a:latin typeface="Arial"/>
                        </a:defRPr>
                      </a:pPr>
                      <a:r>
                        <a:t>228</a:t>
                      </a:r>
                    </a:p>
                  </a:txBody>
                  <a:tcPr anchor="ctr">
                    <a:solidFill>
                      <a:srgbClr val="FFFFFF"/>
                    </a:solidFill>
                  </a:tcPr>
                </a:tc>
                <a:tc>
                  <a:txBody>
                    <a:bodyPr/>
                    <a:lstStyle/>
                    <a:p>
                      <a:pPr algn="ctr">
                        <a:defRPr sz="1300" b="1">
                          <a:solidFill>
                            <a:srgbClr val="1E293B"/>
                          </a:solidFill>
                          <a:latin typeface="Arial"/>
                        </a:defRPr>
                      </a:pPr>
                      <a:r>
                        <a:t>0.6%</a:t>
                      </a:r>
                    </a:p>
                  </a:txBody>
                  <a:tcPr anchor="ctr">
                    <a:solidFill>
                      <a:srgbClr val="FFFFFF"/>
                    </a:solidFill>
                  </a:tcPr>
                </a:tc>
                <a:tc>
                  <a:txBody>
                    <a:bodyPr/>
                    <a:lstStyle/>
                    <a:p>
                      <a:pPr>
                        <a:defRPr sz="1300">
                          <a:solidFill>
                            <a:srgbClr val="1E293B"/>
                          </a:solidFill>
                          <a:latin typeface="Arial"/>
                        </a:defRPr>
                      </a:pPr>
                      <a:r>
                        <a:t>Áp dụng ngưỡng thực tế [10, 500] tr/m² -&gt; Loại bỏ tin ảo, tin lừa cọc hoặc gõ nhầm số.</a:t>
                      </a:r>
                    </a:p>
                  </a:txBody>
                  <a:tcPr anchor="ctr">
                    <a:solidFill>
                      <a:srgbClr val="FFFFFF"/>
                    </a:solidFill>
                  </a:tcPr>
                </a:tc>
              </a:tr>
              <a:tr h="713232">
                <a:tc>
                  <a:txBody>
                    <a:bodyPr/>
                    <a:lstStyle/>
                    <a:p>
                      <a:pPr>
                        <a:defRPr sz="1300">
                          <a:solidFill>
                            <a:srgbClr val="1E293B"/>
                          </a:solidFill>
                          <a:latin typeface="Arial"/>
                        </a:defRPr>
                      </a:pPr>
                      <a:r>
                        <a:t>Chuẩn hóa hình học &amp; đất</a:t>
                      </a:r>
                    </a:p>
                  </a:txBody>
                  <a:tcPr anchor="ctr">
                    <a:solidFill>
                      <a:srgbClr val="F8FAFC"/>
                    </a:solidFill>
                  </a:tcPr>
                </a:tc>
                <a:tc>
                  <a:txBody>
                    <a:bodyPr/>
                    <a:lstStyle/>
                    <a:p>
                      <a:pPr algn="ctr">
                        <a:defRPr sz="1300" b="1">
                          <a:solidFill>
                            <a:srgbClr val="1E293B"/>
                          </a:solidFill>
                          <a:latin typeface="Arial"/>
                        </a:defRPr>
                      </a:pPr>
                      <a:r>
                        <a:t>3.560</a:t>
                      </a:r>
                    </a:p>
                  </a:txBody>
                  <a:tcPr anchor="ctr">
                    <a:solidFill>
                      <a:srgbClr val="F8FAFC"/>
                    </a:solidFill>
                  </a:tcPr>
                </a:tc>
                <a:tc>
                  <a:txBody>
                    <a:bodyPr/>
                    <a:lstStyle/>
                    <a:p>
                      <a:pPr algn="ctr">
                        <a:defRPr sz="1300" b="1">
                          <a:solidFill>
                            <a:srgbClr val="1E293B"/>
                          </a:solidFill>
                          <a:latin typeface="Arial"/>
                        </a:defRPr>
                      </a:pPr>
                      <a:r>
                        <a:t>9.2%</a:t>
                      </a:r>
                    </a:p>
                  </a:txBody>
                  <a:tcPr anchor="ctr">
                    <a:solidFill>
                      <a:srgbClr val="F8FAFC"/>
                    </a:solidFill>
                  </a:tcPr>
                </a:tc>
                <a:tc>
                  <a:txBody>
                    <a:bodyPr/>
                    <a:lstStyle/>
                    <a:p>
                      <a:pPr>
                        <a:defRPr sz="1300">
                          <a:solidFill>
                            <a:srgbClr val="1E293B"/>
                          </a:solidFill>
                          <a:latin typeface="Arial"/>
                        </a:defRPr>
                      </a:pPr>
                      <a:r>
                        <a:t>Đất nền gán Số tầng = 0; Mặt tiền nhập dạng mm (4500mm) được chia 1.000 về đơn vị mét.</a:t>
                      </a:r>
                    </a:p>
                  </a:txBody>
                  <a:tcPr anchor="ctr">
                    <a:solidFill>
                      <a:srgbClr val="F8FAFC"/>
                    </a:solidFill>
                  </a:tcPr>
                </a:tc>
              </a:tr>
            </a:tbl>
          </a:graphicData>
        </a:graphic>
      </p:graphicFrame>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60120"/>
          </a:xfrm>
          <a:prstGeom prst="rect">
            <a:avLst/>
          </a:prstGeom>
          <a:solidFill>
            <a:srgbClr val="0F22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32688"/>
            <a:ext cx="12191695" cy="36576"/>
          </a:xfrm>
          <a:prstGeom prst="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146304"/>
            <a:ext cx="10728655" cy="658368"/>
          </a:xfrm>
          <a:prstGeom prst="rect">
            <a:avLst/>
          </a:prstGeom>
          <a:noFill/>
        </p:spPr>
        <p:txBody>
          <a:bodyPr wrap="square">
            <a:spAutoFit/>
          </a:bodyPr>
          <a:lstStyle/>
          <a:p>
            <a:pPr>
              <a:defRPr sz="2200" b="1">
                <a:solidFill>
                  <a:srgbClr val="FFFFFF"/>
                </a:solidFill>
                <a:latin typeface="Arial"/>
              </a:defRPr>
            </a:pPr>
            <a:r>
              <a:t>Kỹ Nghệ Đặc Trưng 3 Trụ Cột (12 ➔ 38 Biến Số)</a:t>
            </a:r>
          </a:p>
        </p:txBody>
      </p:sp>
      <p:sp>
        <p:nvSpPr>
          <p:cNvPr id="5" name="Rectangle 4"/>
          <p:cNvSpPr/>
          <p:nvPr/>
        </p:nvSpPr>
        <p:spPr>
          <a:xfrm>
            <a:off x="731520" y="1234440"/>
            <a:ext cx="3328416" cy="5166360"/>
          </a:xfrm>
          <a:prstGeom prst="rect">
            <a:avLst/>
          </a:prstGeom>
          <a:solidFill>
            <a:srgbClr val="FFFF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731520" y="1234440"/>
            <a:ext cx="3328416" cy="603504"/>
          </a:xfrm>
          <a:prstGeom prst="rect">
            <a:avLst/>
          </a:prstGeom>
          <a:solidFill>
            <a:srgbClr val="1A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96112" y="1271016"/>
            <a:ext cx="2999232" cy="530352"/>
          </a:xfrm>
          <a:prstGeom prst="rect">
            <a:avLst/>
          </a:prstGeom>
          <a:noFill/>
        </p:spPr>
        <p:txBody>
          <a:bodyPr wrap="square">
            <a:spAutoFit/>
          </a:bodyPr>
          <a:lstStyle/>
          <a:p>
            <a:pPr>
              <a:defRPr sz="1350" b="1">
                <a:solidFill>
                  <a:srgbClr val="FFFFFF"/>
                </a:solidFill>
                <a:latin typeface="Arial"/>
              </a:defRPr>
            </a:pPr>
            <a:r>
              <a:t>TRỤ CỘT 1: VỊ TRÍ &amp; KHÔNG GIAN</a:t>
            </a:r>
          </a:p>
        </p:txBody>
      </p:sp>
      <p:sp>
        <p:nvSpPr>
          <p:cNvPr id="8" name="TextBox 7"/>
          <p:cNvSpPr txBox="1"/>
          <p:nvPr/>
        </p:nvSpPr>
        <p:spPr>
          <a:xfrm>
            <a:off x="914400" y="1929384"/>
            <a:ext cx="2962656" cy="4379976"/>
          </a:xfrm>
          <a:prstGeom prst="rect">
            <a:avLst/>
          </a:prstGeom>
          <a:noFill/>
        </p:spPr>
        <p:txBody>
          <a:bodyPr wrap="square">
            <a:spAutoFit/>
          </a:bodyPr>
          <a:lstStyle/>
          <a:p>
            <a:pPr>
              <a:defRPr sz="1350" b="1">
                <a:solidFill>
                  <a:srgbClr val="D97706"/>
                </a:solidFill>
                <a:latin typeface="Arial"/>
              </a:defRPr>
            </a:pPr>
            <a:r>
              <a:t>• Mã hóa 30 Quận/Huyện:</a:t>
            </a:r>
          </a:p>
          <a:p>
            <a:pPr>
              <a:spcBef>
                <a:spcPts val="300"/>
              </a:spcBef>
              <a:defRPr sz="1300">
                <a:solidFill>
                  <a:srgbClr val="1E293B"/>
                </a:solidFill>
                <a:latin typeface="Arial"/>
              </a:defRPr>
            </a:pPr>
            <a:r>
              <a:t>Chuyển đổi biến phân loại vị trí thành các biến độc lập, tránh áp đặt thứ bậc sai lệch.</a:t>
            </a:r>
          </a:p>
          <a:p>
            <a:pPr>
              <a:spcBef>
                <a:spcPts val="1600"/>
              </a:spcBef>
              <a:defRPr sz="1350" b="1">
                <a:solidFill>
                  <a:srgbClr val="D97706"/>
                </a:solidFill>
                <a:latin typeface="Arial"/>
              </a:defRPr>
            </a:pPr>
            <a:r>
              <a:t>• Phân vùng Nội đô vs Ngoại thành:</a:t>
            </a:r>
          </a:p>
          <a:p>
            <a:pPr>
              <a:spcBef>
                <a:spcPts val="300"/>
              </a:spcBef>
              <a:defRPr sz="1300">
                <a:solidFill>
                  <a:srgbClr val="1E293B"/>
                </a:solidFill>
                <a:latin typeface="Arial"/>
              </a:defRPr>
            </a:pPr>
            <a:r>
              <a:t>Tạo biến phân tách rõ ràng 7 quận lõi trung tâm với các quận/huyện mở rộng và ven đô.</a:t>
            </a:r>
          </a:p>
          <a:p>
            <a:pPr>
              <a:spcBef>
                <a:spcPts val="1600"/>
              </a:spcBef>
              <a:defRPr sz="1350" b="1">
                <a:solidFill>
                  <a:srgbClr val="D97706"/>
                </a:solidFill>
                <a:latin typeface="Arial"/>
              </a:defRPr>
            </a:pPr>
            <a:r>
              <a:t>• Khoảng cách tới Trung tâm:</a:t>
            </a:r>
          </a:p>
          <a:p>
            <a:pPr>
              <a:spcBef>
                <a:spcPts val="300"/>
              </a:spcBef>
              <a:defRPr sz="1300">
                <a:solidFill>
                  <a:srgbClr val="1E293B"/>
                </a:solidFill>
                <a:latin typeface="Arial"/>
              </a:defRPr>
            </a:pPr>
            <a:r>
              <a:t>Tính bán kính hình học từ tâm quận tới Hồ Hoàn Kiếm làm đại diện cho sự thuận tiện giao thương.</a:t>
            </a:r>
          </a:p>
        </p:txBody>
      </p:sp>
      <p:sp>
        <p:nvSpPr>
          <p:cNvPr id="9" name="Rectangle 8"/>
          <p:cNvSpPr/>
          <p:nvPr/>
        </p:nvSpPr>
        <p:spPr>
          <a:xfrm>
            <a:off x="4425696" y="1234440"/>
            <a:ext cx="3328416" cy="5166360"/>
          </a:xfrm>
          <a:prstGeom prst="rect">
            <a:avLst/>
          </a:prstGeom>
          <a:solidFill>
            <a:srgbClr val="FFFF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425696" y="1234440"/>
            <a:ext cx="3328416" cy="603504"/>
          </a:xfrm>
          <a:prstGeom prst="rect">
            <a:avLst/>
          </a:prstGeom>
          <a:solidFill>
            <a:srgbClr val="1A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90288" y="1271016"/>
            <a:ext cx="2999232" cy="530352"/>
          </a:xfrm>
          <a:prstGeom prst="rect">
            <a:avLst/>
          </a:prstGeom>
          <a:noFill/>
        </p:spPr>
        <p:txBody>
          <a:bodyPr wrap="square">
            <a:spAutoFit/>
          </a:bodyPr>
          <a:lstStyle/>
          <a:p>
            <a:pPr>
              <a:defRPr sz="1350" b="1">
                <a:solidFill>
                  <a:srgbClr val="FFFFFF"/>
                </a:solidFill>
                <a:latin typeface="Arial"/>
              </a:defRPr>
            </a:pPr>
            <a:r>
              <a:t>TRỤ CỘT 2: HÌNH HỌC THỬA ĐẤT</a:t>
            </a:r>
          </a:p>
        </p:txBody>
      </p:sp>
      <p:sp>
        <p:nvSpPr>
          <p:cNvPr id="12" name="TextBox 11"/>
          <p:cNvSpPr txBox="1"/>
          <p:nvPr/>
        </p:nvSpPr>
        <p:spPr>
          <a:xfrm>
            <a:off x="4608576" y="1929384"/>
            <a:ext cx="2962656" cy="4379976"/>
          </a:xfrm>
          <a:prstGeom prst="rect">
            <a:avLst/>
          </a:prstGeom>
          <a:noFill/>
        </p:spPr>
        <p:txBody>
          <a:bodyPr wrap="square">
            <a:spAutoFit/>
          </a:bodyPr>
          <a:lstStyle/>
          <a:p>
            <a:pPr>
              <a:defRPr sz="1350" b="1">
                <a:solidFill>
                  <a:srgbClr val="D97706"/>
                </a:solidFill>
                <a:latin typeface="Arial"/>
              </a:defRPr>
            </a:pPr>
            <a:r>
              <a:t>• Chuẩn hóa Đơn giá m²:</a:t>
            </a:r>
          </a:p>
          <a:p>
            <a:pPr>
              <a:spcBef>
                <a:spcPts val="300"/>
              </a:spcBef>
              <a:defRPr sz="1300">
                <a:solidFill>
                  <a:srgbClr val="1E293B"/>
                </a:solidFill>
                <a:latin typeface="Arial"/>
              </a:defRPr>
            </a:pPr>
            <a:r>
              <a:t>Tạo biến mục tiêu đơn giá giúp so sánh công bằng giữa các bất động sản có quy mô khác nhau.</a:t>
            </a:r>
          </a:p>
          <a:p>
            <a:pPr>
              <a:spcBef>
                <a:spcPts val="1600"/>
              </a:spcBef>
              <a:defRPr sz="1350" b="1">
                <a:solidFill>
                  <a:srgbClr val="D97706"/>
                </a:solidFill>
                <a:latin typeface="Arial"/>
              </a:defRPr>
            </a:pPr>
            <a:r>
              <a:t>• Tổng diện tích sàn sử dụng:</a:t>
            </a:r>
          </a:p>
          <a:p>
            <a:pPr>
              <a:spcBef>
                <a:spcPts val="300"/>
              </a:spcBef>
              <a:defRPr sz="1300">
                <a:solidFill>
                  <a:srgbClr val="1E293B"/>
                </a:solidFill>
                <a:latin typeface="Arial"/>
              </a:defRPr>
            </a:pPr>
            <a:r>
              <a:t>Tích hợp giữa Diện tích và Số tầng, phản ánh trực tiếp không gian sinh hoạt thực tế của ngôi nhà.</a:t>
            </a:r>
          </a:p>
          <a:p>
            <a:pPr>
              <a:spcBef>
                <a:spcPts val="1600"/>
              </a:spcBef>
              <a:defRPr sz="1350" b="1">
                <a:solidFill>
                  <a:srgbClr val="D97706"/>
                </a:solidFill>
                <a:latin typeface="Arial"/>
              </a:defRPr>
            </a:pPr>
            <a:r>
              <a:t>• Tỷ lệ Mặt tiền / Diện tích:</a:t>
            </a:r>
          </a:p>
          <a:p>
            <a:pPr>
              <a:spcBef>
                <a:spcPts val="300"/>
              </a:spcBef>
              <a:defRPr sz="1300">
                <a:solidFill>
                  <a:srgbClr val="1E293B"/>
                </a:solidFill>
                <a:latin typeface="Arial"/>
              </a:defRPr>
            </a:pPr>
            <a:r>
              <a:t>Đánh giá mức độ thoáng đãng, hình thế thửa đất và khả năng tiếp cận mặt đường giao thông.</a:t>
            </a:r>
          </a:p>
        </p:txBody>
      </p:sp>
      <p:sp>
        <p:nvSpPr>
          <p:cNvPr id="13" name="Rectangle 12"/>
          <p:cNvSpPr/>
          <p:nvPr/>
        </p:nvSpPr>
        <p:spPr>
          <a:xfrm>
            <a:off x="8119872" y="1234440"/>
            <a:ext cx="3328416" cy="5166360"/>
          </a:xfrm>
          <a:prstGeom prst="rect">
            <a:avLst/>
          </a:prstGeom>
          <a:solidFill>
            <a:srgbClr val="FFFF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8119872" y="1234440"/>
            <a:ext cx="3328416" cy="603504"/>
          </a:xfrm>
          <a:prstGeom prst="rect">
            <a:avLst/>
          </a:prstGeom>
          <a:solidFill>
            <a:srgbClr val="1A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284464" y="1271016"/>
            <a:ext cx="2999232" cy="530352"/>
          </a:xfrm>
          <a:prstGeom prst="rect">
            <a:avLst/>
          </a:prstGeom>
          <a:noFill/>
        </p:spPr>
        <p:txBody>
          <a:bodyPr wrap="square">
            <a:spAutoFit/>
          </a:bodyPr>
          <a:lstStyle/>
          <a:p>
            <a:pPr>
              <a:defRPr sz="1350" b="1">
                <a:solidFill>
                  <a:srgbClr val="FFFFFF"/>
                </a:solidFill>
                <a:latin typeface="Arial"/>
              </a:defRPr>
            </a:pPr>
            <a:r>
              <a:t>TRỤ CỘT 3: PHÁP LÝ &amp; CÔNG NĂNG</a:t>
            </a:r>
          </a:p>
        </p:txBody>
      </p:sp>
      <p:sp>
        <p:nvSpPr>
          <p:cNvPr id="16" name="TextBox 15"/>
          <p:cNvSpPr txBox="1"/>
          <p:nvPr/>
        </p:nvSpPr>
        <p:spPr>
          <a:xfrm>
            <a:off x="8302752" y="1929384"/>
            <a:ext cx="2962656" cy="4379976"/>
          </a:xfrm>
          <a:prstGeom prst="rect">
            <a:avLst/>
          </a:prstGeom>
          <a:noFill/>
        </p:spPr>
        <p:txBody>
          <a:bodyPr wrap="square">
            <a:spAutoFit/>
          </a:bodyPr>
          <a:lstStyle/>
          <a:p>
            <a:pPr>
              <a:defRPr sz="1350" b="1">
                <a:solidFill>
                  <a:srgbClr val="D97706"/>
                </a:solidFill>
                <a:latin typeface="Arial"/>
              </a:defRPr>
            </a:pPr>
            <a:r>
              <a:t>• Trạng thái Pháp lý:</a:t>
            </a:r>
          </a:p>
          <a:p>
            <a:pPr>
              <a:spcBef>
                <a:spcPts val="300"/>
              </a:spcBef>
              <a:defRPr sz="1300">
                <a:solidFill>
                  <a:srgbClr val="1E293B"/>
                </a:solidFill>
                <a:latin typeface="Arial"/>
              </a:defRPr>
            </a:pPr>
            <a:r>
              <a:t>Xác định tình trạng có Sổ đỏ / Sổ hồng sẵn sàng giao dịch, loại trừ rủi ro tranh chấp pháp lý.</a:t>
            </a:r>
          </a:p>
          <a:p>
            <a:pPr>
              <a:spcBef>
                <a:spcPts val="1600"/>
              </a:spcBef>
              <a:defRPr sz="1350" b="1">
                <a:solidFill>
                  <a:srgbClr val="D97706"/>
                </a:solidFill>
                <a:latin typeface="Arial"/>
              </a:defRPr>
            </a:pPr>
            <a:r>
              <a:t>• Vị trí Mặt phố vs Ngõ hẻm:</a:t>
            </a:r>
          </a:p>
          <a:p>
            <a:pPr>
              <a:spcBef>
                <a:spcPts val="300"/>
              </a:spcBef>
              <a:defRPr sz="1300">
                <a:solidFill>
                  <a:srgbClr val="1E293B"/>
                </a:solidFill>
                <a:latin typeface="Arial"/>
              </a:defRPr>
            </a:pPr>
            <a:r>
              <a:t>Tách biệt giá trị thương mại kinh doanh của nhà mặt phố với không gian yên tĩnh của nhà trong ngõ.</a:t>
            </a:r>
          </a:p>
          <a:p>
            <a:pPr>
              <a:spcBef>
                <a:spcPts val="1600"/>
              </a:spcBef>
              <a:defRPr sz="1350" b="1">
                <a:solidFill>
                  <a:srgbClr val="D97706"/>
                </a:solidFill>
                <a:latin typeface="Arial"/>
              </a:defRPr>
            </a:pPr>
            <a:r>
              <a:t>• Mật độ Không gian sống:</a:t>
            </a:r>
          </a:p>
          <a:p>
            <a:pPr>
              <a:spcBef>
                <a:spcPts val="300"/>
              </a:spcBef>
              <a:defRPr sz="1300">
                <a:solidFill>
                  <a:srgbClr val="1E293B"/>
                </a:solidFill>
                <a:latin typeface="Arial"/>
              </a:defRPr>
            </a:pPr>
            <a:r>
              <a:t>Đo lường diện tích bình quân trên mỗi phòng ngủ, phân định rõ phân khúc bình dân và cao cấp.</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60120"/>
          </a:xfrm>
          <a:prstGeom prst="rect">
            <a:avLst/>
          </a:prstGeom>
          <a:solidFill>
            <a:srgbClr val="0F22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32688"/>
            <a:ext cx="12191695" cy="36576"/>
          </a:xfrm>
          <a:prstGeom prst="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146304"/>
            <a:ext cx="10728655" cy="658368"/>
          </a:xfrm>
          <a:prstGeom prst="rect">
            <a:avLst/>
          </a:prstGeom>
          <a:noFill/>
        </p:spPr>
        <p:txBody>
          <a:bodyPr wrap="square">
            <a:spAutoFit/>
          </a:bodyPr>
          <a:lstStyle/>
          <a:p>
            <a:pPr>
              <a:defRPr sz="2200" b="1">
                <a:solidFill>
                  <a:srgbClr val="FFFFFF"/>
                </a:solidFill>
                <a:latin typeface="Arial"/>
              </a:defRPr>
            </a:pPr>
            <a:r>
              <a:t>Thiết Kế Scikit-Learn Pipeline &amp; Chống Rò Rỉ Dữ Liệu</a:t>
            </a:r>
          </a:p>
        </p:txBody>
      </p:sp>
      <p:sp>
        <p:nvSpPr>
          <p:cNvPr id="5" name="Rectangle 4"/>
          <p:cNvSpPr/>
          <p:nvPr/>
        </p:nvSpPr>
        <p:spPr>
          <a:xfrm>
            <a:off x="731520" y="1234440"/>
            <a:ext cx="2542032" cy="1508760"/>
          </a:xfrm>
          <a:prstGeom prst="rect">
            <a:avLst/>
          </a:prstGeom>
          <a:solidFill>
            <a:srgbClr val="1A365D"/>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1">
                <a:solidFill>
                  <a:srgbClr val="D97706"/>
                </a:solidFill>
                <a:latin typeface="Arial"/>
              </a:defRPr>
            </a:pPr>
            <a:r>
              <a:t>BƯỚC 1: ĐẦU VÀO DỮ LIỆU</a:t>
            </a:r>
          </a:p>
          <a:p>
            <a:pPr>
              <a:spcBef>
                <a:spcPts val="400"/>
              </a:spcBef>
              <a:defRPr sz="1600" b="1">
                <a:solidFill>
                  <a:srgbClr val="FFFFFF"/>
                </a:solidFill>
                <a:latin typeface="Arial"/>
              </a:defRPr>
            </a:pPr>
            <a:r>
              <a:t>Raw DataFrame</a:t>
            </a:r>
          </a:p>
          <a:p>
            <a:pPr>
              <a:spcBef>
                <a:spcPts val="400"/>
              </a:spcBef>
              <a:defRPr sz="1150">
                <a:solidFill>
                  <a:srgbClr val="E2E8F0"/>
                </a:solidFill>
                <a:latin typeface="Arial"/>
              </a:defRPr>
            </a:pPr>
            <a:r>
              <a:t>37.402 bản ghi sạch</a:t>
            </a:r>
          </a:p>
        </p:txBody>
      </p:sp>
      <p:sp>
        <p:nvSpPr>
          <p:cNvPr id="6" name="Rectangle 5"/>
          <p:cNvSpPr/>
          <p:nvPr/>
        </p:nvSpPr>
        <p:spPr>
          <a:xfrm>
            <a:off x="3456432" y="1234440"/>
            <a:ext cx="2542032" cy="1508760"/>
          </a:xfrm>
          <a:prstGeom prst="rect">
            <a:avLst/>
          </a:prstGeom>
          <a:solidFill>
            <a:srgbClr val="1A365D"/>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1">
                <a:solidFill>
                  <a:srgbClr val="D97706"/>
                </a:solidFill>
                <a:latin typeface="Arial"/>
              </a:defRPr>
            </a:pPr>
            <a:r>
              <a:t>BƯỚC 2: TIỀN XỬ LÝ ĐẶC TRƯNG</a:t>
            </a:r>
          </a:p>
          <a:p>
            <a:pPr>
              <a:spcBef>
                <a:spcPts val="400"/>
              </a:spcBef>
              <a:defRPr sz="1600" b="1">
                <a:solidFill>
                  <a:srgbClr val="FFFFFF"/>
                </a:solidFill>
                <a:latin typeface="Arial"/>
              </a:defRPr>
            </a:pPr>
            <a:r>
              <a:t>ColumnTransformer</a:t>
            </a:r>
          </a:p>
          <a:p>
            <a:pPr>
              <a:spcBef>
                <a:spcPts val="400"/>
              </a:spcBef>
              <a:defRPr sz="1150">
                <a:solidFill>
                  <a:srgbClr val="E2E8F0"/>
                </a:solidFill>
                <a:latin typeface="Arial"/>
              </a:defRPr>
            </a:pPr>
            <a:r>
              <a:t>Điền khuyết &amp; Chuẩn hóa</a:t>
            </a:r>
          </a:p>
        </p:txBody>
      </p:sp>
      <p:sp>
        <p:nvSpPr>
          <p:cNvPr id="7" name="Rectangle 6"/>
          <p:cNvSpPr/>
          <p:nvPr/>
        </p:nvSpPr>
        <p:spPr>
          <a:xfrm>
            <a:off x="6181344" y="1234440"/>
            <a:ext cx="2542032" cy="1508760"/>
          </a:xfrm>
          <a:prstGeom prst="rect">
            <a:avLst/>
          </a:prstGeom>
          <a:solidFill>
            <a:srgbClr val="0F2240"/>
          </a:solidFill>
          <a:ln w="1905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1">
                <a:solidFill>
                  <a:srgbClr val="D97706"/>
                </a:solidFill>
                <a:latin typeface="Arial"/>
              </a:defRPr>
            </a:pPr>
            <a:r>
              <a:t>BƯỚC 3: MÔ HÌNH HỒI QUY</a:t>
            </a:r>
          </a:p>
          <a:p>
            <a:pPr>
              <a:spcBef>
                <a:spcPts val="400"/>
              </a:spcBef>
              <a:defRPr sz="1600" b="1">
                <a:solidFill>
                  <a:srgbClr val="FFFFFF"/>
                </a:solidFill>
                <a:latin typeface="Arial"/>
              </a:defRPr>
            </a:pPr>
            <a:r>
              <a:t>OLS &amp; Điều chuẩn</a:t>
            </a:r>
          </a:p>
          <a:p>
            <a:pPr>
              <a:spcBef>
                <a:spcPts val="400"/>
              </a:spcBef>
              <a:defRPr sz="1150">
                <a:solidFill>
                  <a:srgbClr val="E2E8F0"/>
                </a:solidFill>
                <a:latin typeface="Arial"/>
              </a:defRPr>
            </a:pPr>
            <a:r>
              <a:t>Huấn luyện trên Train Set</a:t>
            </a:r>
          </a:p>
        </p:txBody>
      </p:sp>
      <p:sp>
        <p:nvSpPr>
          <p:cNvPr id="8" name="Rectangle 7"/>
          <p:cNvSpPr/>
          <p:nvPr/>
        </p:nvSpPr>
        <p:spPr>
          <a:xfrm>
            <a:off x="8906256" y="1234440"/>
            <a:ext cx="2542032" cy="1508760"/>
          </a:xfrm>
          <a:prstGeom prst="rect">
            <a:avLst/>
          </a:prstGeom>
          <a:solidFill>
            <a:srgbClr val="1A365D"/>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1">
                <a:solidFill>
                  <a:srgbClr val="D97706"/>
                </a:solidFill>
                <a:latin typeface="Arial"/>
              </a:defRPr>
            </a:pPr>
            <a:r>
              <a:t>BƯỚC 4: ĐÁNH GIÁ ĐỘC LẬP</a:t>
            </a:r>
          </a:p>
          <a:p>
            <a:pPr>
              <a:spcBef>
                <a:spcPts val="400"/>
              </a:spcBef>
              <a:defRPr sz="1600" b="1">
                <a:solidFill>
                  <a:srgbClr val="FFFFFF"/>
                </a:solidFill>
                <a:latin typeface="Arial"/>
              </a:defRPr>
            </a:pPr>
            <a:r>
              <a:t>Train / Test Split</a:t>
            </a:r>
          </a:p>
          <a:p>
            <a:pPr>
              <a:spcBef>
                <a:spcPts val="400"/>
              </a:spcBef>
              <a:defRPr sz="1150">
                <a:solidFill>
                  <a:srgbClr val="E2E8F0"/>
                </a:solidFill>
                <a:latin typeface="Arial"/>
              </a:defRPr>
            </a:pPr>
            <a:r>
              <a:t>Train 29.921 | Test 7.481</a:t>
            </a:r>
          </a:p>
        </p:txBody>
      </p:sp>
      <p:sp>
        <p:nvSpPr>
          <p:cNvPr id="9" name="Rectangle 8"/>
          <p:cNvSpPr/>
          <p:nvPr/>
        </p:nvSpPr>
        <p:spPr>
          <a:xfrm>
            <a:off x="731520" y="2971800"/>
            <a:ext cx="5184648" cy="3429000"/>
          </a:xfrm>
          <a:prstGeom prst="rect">
            <a:avLst/>
          </a:prstGeom>
          <a:solidFill>
            <a:srgbClr val="FFFF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31520" y="2971800"/>
            <a:ext cx="5184648" cy="603504"/>
          </a:xfrm>
          <a:prstGeom prst="rect">
            <a:avLst/>
          </a:prstGeom>
          <a:solidFill>
            <a:srgbClr val="1A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96112" y="3008376"/>
            <a:ext cx="4855464" cy="530352"/>
          </a:xfrm>
          <a:prstGeom prst="rect">
            <a:avLst/>
          </a:prstGeom>
          <a:noFill/>
        </p:spPr>
        <p:txBody>
          <a:bodyPr wrap="square">
            <a:spAutoFit/>
          </a:bodyPr>
          <a:lstStyle/>
          <a:p>
            <a:pPr>
              <a:defRPr sz="1350" b="1">
                <a:solidFill>
                  <a:srgbClr val="FFFFFF"/>
                </a:solidFill>
                <a:latin typeface="Arial"/>
              </a:defRPr>
            </a:pPr>
            <a:r>
              <a:t>TRIỆT TIÊU RÒ RỈ DỮ LIỆU (DATA LEAKAGE)</a:t>
            </a:r>
          </a:p>
        </p:txBody>
      </p:sp>
      <p:sp>
        <p:nvSpPr>
          <p:cNvPr id="12" name="TextBox 11"/>
          <p:cNvSpPr txBox="1"/>
          <p:nvPr/>
        </p:nvSpPr>
        <p:spPr>
          <a:xfrm>
            <a:off x="914400" y="3666744"/>
            <a:ext cx="4818888" cy="2642616"/>
          </a:xfrm>
          <a:prstGeom prst="rect">
            <a:avLst/>
          </a:prstGeom>
          <a:noFill/>
        </p:spPr>
        <p:txBody>
          <a:bodyPr wrap="square">
            <a:spAutoFit/>
          </a:bodyPr>
          <a:lstStyle/>
          <a:p>
            <a:pPr>
              <a:defRPr sz="1350" b="1">
                <a:solidFill>
                  <a:srgbClr val="D97706"/>
                </a:solidFill>
                <a:latin typeface="Arial"/>
              </a:defRPr>
            </a:pPr>
            <a:r>
              <a:t>• Phân chia Train/Test 80/20 từ đầu:</a:t>
            </a:r>
          </a:p>
          <a:p>
            <a:pPr>
              <a:spcBef>
                <a:spcPts val="200"/>
              </a:spcBef>
              <a:defRPr sz="1300">
                <a:solidFill>
                  <a:srgbClr val="1E293B"/>
                </a:solidFill>
                <a:latin typeface="Arial"/>
              </a:defRPr>
            </a:pPr>
            <a:r>
              <a:t>Dữ liệu được chia thành tập Huấn luyện (29.921 bản ghi) và Kiểm thử (7.481 bản ghi) ngay trước mọi bước xử lý.</a:t>
            </a:r>
          </a:p>
          <a:p>
            <a:pPr>
              <a:spcBef>
                <a:spcPts val="1200"/>
              </a:spcBef>
              <a:defRPr sz="1350" b="1">
                <a:solidFill>
                  <a:srgbClr val="D97706"/>
                </a:solidFill>
                <a:latin typeface="Arial"/>
              </a:defRPr>
            </a:pPr>
            <a:r>
              <a:t>• Nguyên tắc 'Chỉ học trên tập Train':</a:t>
            </a:r>
          </a:p>
          <a:p>
            <a:pPr>
              <a:spcBef>
                <a:spcPts val="200"/>
              </a:spcBef>
              <a:defRPr sz="1300">
                <a:solidFill>
                  <a:srgbClr val="1E293B"/>
                </a:solidFill>
                <a:latin typeface="Arial"/>
              </a:defRPr>
            </a:pPr>
            <a:r>
              <a:t>Mọi giá trị thống kê điền khuyết và độ lệch chuẩn chuẩn hóa chỉ được tính toán trên tập Huấn luyện.</a:t>
            </a:r>
          </a:p>
          <a:p>
            <a:pPr>
              <a:spcBef>
                <a:spcPts val="1200"/>
              </a:spcBef>
              <a:defRPr sz="1350" b="1">
                <a:solidFill>
                  <a:srgbClr val="D97706"/>
                </a:solidFill>
                <a:latin typeface="Arial"/>
              </a:defRPr>
            </a:pPr>
            <a:r>
              <a:t>• Bảo toàn tính khách quan của tập Test:</a:t>
            </a:r>
          </a:p>
          <a:p>
            <a:pPr>
              <a:spcBef>
                <a:spcPts val="200"/>
              </a:spcBef>
              <a:defRPr sz="1300">
                <a:solidFill>
                  <a:srgbClr val="1E293B"/>
                </a:solidFill>
                <a:latin typeface="Arial"/>
              </a:defRPr>
            </a:pPr>
            <a:r>
              <a:t>Tập Kiểm thử hoàn toàn đóng vai trò là dữ liệu mới trong tương lai, chỉ áp dụng phép biến đổi mà không học lại tham số.</a:t>
            </a:r>
          </a:p>
        </p:txBody>
      </p:sp>
      <p:sp>
        <p:nvSpPr>
          <p:cNvPr id="13" name="Rectangle 12"/>
          <p:cNvSpPr/>
          <p:nvPr/>
        </p:nvSpPr>
        <p:spPr>
          <a:xfrm>
            <a:off x="6275527" y="2971800"/>
            <a:ext cx="5184648" cy="3429000"/>
          </a:xfrm>
          <a:prstGeom prst="rect">
            <a:avLst/>
          </a:prstGeom>
          <a:solidFill>
            <a:srgbClr val="FFFF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75527" y="2971800"/>
            <a:ext cx="5184648" cy="603504"/>
          </a:xfrm>
          <a:prstGeom prst="rect">
            <a:avLst/>
          </a:prstGeom>
          <a:solidFill>
            <a:srgbClr val="1A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40119" y="3008376"/>
            <a:ext cx="4855464" cy="530352"/>
          </a:xfrm>
          <a:prstGeom prst="rect">
            <a:avLst/>
          </a:prstGeom>
          <a:noFill/>
        </p:spPr>
        <p:txBody>
          <a:bodyPr wrap="square">
            <a:spAutoFit/>
          </a:bodyPr>
          <a:lstStyle/>
          <a:p>
            <a:pPr>
              <a:defRPr sz="1350" b="1">
                <a:solidFill>
                  <a:srgbClr val="FFFFFF"/>
                </a:solidFill>
                <a:latin typeface="Arial"/>
              </a:defRPr>
            </a:pPr>
            <a:r>
              <a:t>ĐÓNG GÓI PIPELINE HỒI QUY &amp; TÍNH TÁI LẬP</a:t>
            </a:r>
          </a:p>
        </p:txBody>
      </p:sp>
      <p:sp>
        <p:nvSpPr>
          <p:cNvPr id="16" name="TextBox 15"/>
          <p:cNvSpPr txBox="1"/>
          <p:nvPr/>
        </p:nvSpPr>
        <p:spPr>
          <a:xfrm>
            <a:off x="6458407" y="3666744"/>
            <a:ext cx="4818888" cy="2642616"/>
          </a:xfrm>
          <a:prstGeom prst="rect">
            <a:avLst/>
          </a:prstGeom>
          <a:noFill/>
        </p:spPr>
        <p:txBody>
          <a:bodyPr wrap="square">
            <a:spAutoFit/>
          </a:bodyPr>
          <a:lstStyle/>
          <a:p>
            <a:pPr>
              <a:defRPr sz="1350" b="1">
                <a:solidFill>
                  <a:srgbClr val="D97706"/>
                </a:solidFill>
                <a:latin typeface="Arial"/>
              </a:defRPr>
            </a:pPr>
            <a:r>
              <a:t>• Đóng gói thành một tệp duy nhất:</a:t>
            </a:r>
          </a:p>
          <a:p>
            <a:pPr>
              <a:spcBef>
                <a:spcPts val="200"/>
              </a:spcBef>
              <a:defRPr sz="1300">
                <a:solidFill>
                  <a:srgbClr val="1E293B"/>
                </a:solidFill>
                <a:latin typeface="Arial"/>
              </a:defRPr>
            </a:pPr>
            <a:r>
              <a:t>Toàn bộ chu trình tiền xử lý và phương trình hồi quy được tích hợp nhất quán trong tệp nhị phân (`house_price_model.pkl`).</a:t>
            </a:r>
          </a:p>
          <a:p>
            <a:pPr>
              <a:spcBef>
                <a:spcPts val="1200"/>
              </a:spcBef>
              <a:defRPr sz="1350" b="1">
                <a:solidFill>
                  <a:srgbClr val="D97706"/>
                </a:solidFill>
                <a:latin typeface="Arial"/>
              </a:defRPr>
            </a:pPr>
            <a:r>
              <a:t>• Suy diễn thời gian thực (Real-time):</a:t>
            </a:r>
          </a:p>
          <a:p>
            <a:pPr>
              <a:spcBef>
                <a:spcPts val="200"/>
              </a:spcBef>
              <a:defRPr sz="1300">
                <a:solidFill>
                  <a:srgbClr val="1E293B"/>
                </a:solidFill>
                <a:latin typeface="Arial"/>
              </a:defRPr>
            </a:pPr>
            <a:r>
              <a:t>Cho phép đưa trực tiếp thông tin một căn nhà thô vào hệ thống và nhận ngay kết quả định giá tự động.</a:t>
            </a:r>
          </a:p>
          <a:p>
            <a:pPr>
              <a:spcBef>
                <a:spcPts val="1200"/>
              </a:spcBef>
              <a:defRPr sz="1350" b="1">
                <a:solidFill>
                  <a:srgbClr val="D97706"/>
                </a:solidFill>
                <a:latin typeface="Arial"/>
              </a:defRPr>
            </a:pPr>
            <a:r>
              <a:t>• Dễ dàng bảo trì và mở rộng:</a:t>
            </a:r>
          </a:p>
          <a:p>
            <a:pPr>
              <a:spcBef>
                <a:spcPts val="200"/>
              </a:spcBef>
              <a:defRPr sz="1300">
                <a:solidFill>
                  <a:srgbClr val="1E293B"/>
                </a:solidFill>
                <a:latin typeface="Arial"/>
              </a:defRPr>
            </a:pPr>
            <a:r>
              <a:t>Sẵn sàng cập nhật dữ liệu định kỳ hoặc mở rộng phạm vi định giá sang các tỉnh thành khác mà không gãy luồng xử lý.</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60120"/>
          </a:xfrm>
          <a:prstGeom prst="rect">
            <a:avLst/>
          </a:prstGeom>
          <a:solidFill>
            <a:srgbClr val="0F22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32688"/>
            <a:ext cx="12191695" cy="36576"/>
          </a:xfrm>
          <a:prstGeom prst="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146304"/>
            <a:ext cx="10728655" cy="658368"/>
          </a:xfrm>
          <a:prstGeom prst="rect">
            <a:avLst/>
          </a:prstGeom>
          <a:noFill/>
        </p:spPr>
        <p:txBody>
          <a:bodyPr wrap="square">
            <a:spAutoFit/>
          </a:bodyPr>
          <a:lstStyle/>
          <a:p>
            <a:pPr>
              <a:defRPr sz="2200" b="1">
                <a:solidFill>
                  <a:srgbClr val="FFFFFF"/>
                </a:solidFill>
                <a:latin typeface="Arial"/>
              </a:defRPr>
            </a:pPr>
            <a:r>
              <a:t>Thống Kê Mô Tả 4 Họ Dữ Liệu Bất Động Sản</a:t>
            </a:r>
          </a:p>
        </p:txBody>
      </p:sp>
      <p:sp>
        <p:nvSpPr>
          <p:cNvPr id="5" name="Rectangle 4"/>
          <p:cNvSpPr/>
          <p:nvPr/>
        </p:nvSpPr>
        <p:spPr>
          <a:xfrm>
            <a:off x="731520" y="1234440"/>
            <a:ext cx="5184648" cy="2423160"/>
          </a:xfrm>
          <a:prstGeom prst="rect">
            <a:avLst/>
          </a:prstGeom>
          <a:solidFill>
            <a:srgbClr val="FFFF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731520" y="1234440"/>
            <a:ext cx="5184648" cy="438912"/>
          </a:xfrm>
          <a:prstGeom prst="rect">
            <a:avLst/>
          </a:prstGeom>
          <a:solidFill>
            <a:srgbClr val="1A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96112" y="1271016"/>
            <a:ext cx="4855464" cy="365760"/>
          </a:xfrm>
          <a:prstGeom prst="rect">
            <a:avLst/>
          </a:prstGeom>
          <a:noFill/>
        </p:spPr>
        <p:txBody>
          <a:bodyPr wrap="square">
            <a:spAutoFit/>
          </a:bodyPr>
          <a:lstStyle/>
          <a:p>
            <a:pPr>
              <a:defRPr sz="1350" b="1">
                <a:solidFill>
                  <a:srgbClr val="FFFFFF"/>
                </a:solidFill>
                <a:latin typeface="Arial"/>
              </a:defRPr>
            </a:pPr>
            <a:r>
              <a:t>HỌ 1: LOẠI HÌNH &amp; QUY MÔ MẪU</a:t>
            </a:r>
          </a:p>
        </p:txBody>
      </p:sp>
      <p:sp>
        <p:nvSpPr>
          <p:cNvPr id="8" name="TextBox 7"/>
          <p:cNvSpPr txBox="1"/>
          <p:nvPr/>
        </p:nvSpPr>
        <p:spPr>
          <a:xfrm>
            <a:off x="914400" y="1764792"/>
            <a:ext cx="4818888" cy="1801368"/>
          </a:xfrm>
          <a:prstGeom prst="rect">
            <a:avLst/>
          </a:prstGeom>
          <a:noFill/>
        </p:spPr>
        <p:txBody>
          <a:bodyPr wrap="square">
            <a:spAutoFit/>
          </a:bodyPr>
          <a:lstStyle/>
          <a:p>
            <a:pPr>
              <a:defRPr sz="1300" b="1">
                <a:solidFill>
                  <a:srgbClr val="D97706"/>
                </a:solidFill>
                <a:latin typeface="Arial"/>
              </a:defRPr>
            </a:pPr>
            <a:r>
              <a:t>• Quy mô phân tích: </a:t>
            </a:r>
            <a:r>
              <a:rPr sz="1300" b="0">
                <a:solidFill>
                  <a:srgbClr val="1E293B"/>
                </a:solidFill>
                <a:latin typeface="Arial"/>
              </a:rPr>
              <a:t>37.402 bản ghi sạch sau phễu lọc 18 tháng, đại diện 12 quận/huyện trọng điểm.</a:t>
            </a:r>
          </a:p>
          <a:p>
            <a:pPr>
              <a:spcBef>
                <a:spcPts val="800"/>
              </a:spcBef>
              <a:defRPr sz="1300" b="1">
                <a:solidFill>
                  <a:srgbClr val="D97706"/>
                </a:solidFill>
                <a:latin typeface="Arial"/>
              </a:defRPr>
            </a:pPr>
            <a:r>
              <a:t>• Cơ cấu loại hình BĐS: </a:t>
            </a:r>
            <a:r>
              <a:rPr sz="1300" b="0">
                <a:solidFill>
                  <a:srgbClr val="1E293B"/>
                </a:solidFill>
                <a:latin typeface="Arial"/>
              </a:rPr>
              <a:t>68.4% Nhà riêng / Liền kề, 22.1% Căn hộ chung cư, 9.5% Nhà mặt phố thương mại.</a:t>
            </a:r>
          </a:p>
          <a:p>
            <a:pPr>
              <a:spcBef>
                <a:spcPts val="800"/>
              </a:spcBef>
              <a:defRPr sz="1300" b="1">
                <a:solidFill>
                  <a:srgbClr val="D97706"/>
                </a:solidFill>
                <a:latin typeface="Arial"/>
              </a:defRPr>
            </a:pPr>
            <a:r>
              <a:t>• Ý nghĩa thực tiễn: </a:t>
            </a:r>
            <a:r>
              <a:rPr sz="1300" b="0">
                <a:solidFill>
                  <a:srgbClr val="1E293B"/>
                </a:solidFill>
                <a:latin typeface="Arial"/>
              </a:rPr>
              <a:t>Phân chia rõ theo loại hình để mô hình định giá phản ánh đúng bản chất từng phân khúc.</a:t>
            </a:r>
          </a:p>
        </p:txBody>
      </p:sp>
      <p:sp>
        <p:nvSpPr>
          <p:cNvPr id="9" name="Rectangle 8"/>
          <p:cNvSpPr/>
          <p:nvPr/>
        </p:nvSpPr>
        <p:spPr>
          <a:xfrm>
            <a:off x="6275527" y="1234440"/>
            <a:ext cx="5184648" cy="2423160"/>
          </a:xfrm>
          <a:prstGeom prst="rect">
            <a:avLst/>
          </a:prstGeom>
          <a:solidFill>
            <a:srgbClr val="FFFF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275527" y="1234440"/>
            <a:ext cx="5184648" cy="603504"/>
          </a:xfrm>
          <a:prstGeom prst="rect">
            <a:avLst/>
          </a:prstGeom>
          <a:solidFill>
            <a:srgbClr val="1A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40119" y="1271016"/>
            <a:ext cx="4855464" cy="530352"/>
          </a:xfrm>
          <a:prstGeom prst="rect">
            <a:avLst/>
          </a:prstGeom>
          <a:noFill/>
        </p:spPr>
        <p:txBody>
          <a:bodyPr wrap="square">
            <a:spAutoFit/>
          </a:bodyPr>
          <a:lstStyle/>
          <a:p>
            <a:pPr>
              <a:defRPr sz="1350" b="1">
                <a:solidFill>
                  <a:srgbClr val="FFFFFF"/>
                </a:solidFill>
                <a:latin typeface="Arial"/>
              </a:defRPr>
            </a:pPr>
            <a:r>
              <a:t>HỌ 2: PHÂN BỐ KHÔNG GIAN ĐỊA LÝ</a:t>
            </a:r>
          </a:p>
        </p:txBody>
      </p:sp>
      <p:sp>
        <p:nvSpPr>
          <p:cNvPr id="12" name="TextBox 11"/>
          <p:cNvSpPr txBox="1"/>
          <p:nvPr/>
        </p:nvSpPr>
        <p:spPr>
          <a:xfrm>
            <a:off x="6458407" y="1929384"/>
            <a:ext cx="4818888" cy="1636776"/>
          </a:xfrm>
          <a:prstGeom prst="rect">
            <a:avLst/>
          </a:prstGeom>
          <a:noFill/>
        </p:spPr>
        <p:txBody>
          <a:bodyPr wrap="square">
            <a:spAutoFit/>
          </a:bodyPr>
          <a:lstStyle/>
          <a:p>
            <a:pPr>
              <a:defRPr sz="1300" b="1">
                <a:solidFill>
                  <a:srgbClr val="D97706"/>
                </a:solidFill>
                <a:latin typeface="Arial"/>
              </a:defRPr>
            </a:pPr>
            <a:r>
              <a:t>• Mật độ giao dịch: </a:t>
            </a:r>
            <a:r>
              <a:rPr sz="1300" b="0">
                <a:solidFill>
                  <a:srgbClr val="1E293B"/>
                </a:solidFill>
                <a:latin typeface="Arial"/>
              </a:rPr>
              <a:t>Hơn một nửa số lượng tin tập trung tại 4 quận: Cầu Giấy, Đống Đa, Nam Từ Liêm, Hà Đông.</a:t>
            </a:r>
          </a:p>
          <a:p>
            <a:pPr>
              <a:spcBef>
                <a:spcPts val="800"/>
              </a:spcBef>
              <a:defRPr sz="1300" b="1">
                <a:solidFill>
                  <a:srgbClr val="D97706"/>
                </a:solidFill>
                <a:latin typeface="Arial"/>
              </a:defRPr>
            </a:pPr>
            <a:r>
              <a:t>• Bán kính nghiên cứu: </a:t>
            </a:r>
            <a:r>
              <a:rPr sz="1300" b="0">
                <a:solidFill>
                  <a:srgbClr val="1E293B"/>
                </a:solidFill>
                <a:latin typeface="Arial"/>
              </a:rPr>
              <a:t>Trải dài từ trung tâm Hoàn Kiếm ra các quận mở rộng và huyện ven đô.</a:t>
            </a:r>
          </a:p>
          <a:p>
            <a:pPr>
              <a:spcBef>
                <a:spcPts val="800"/>
              </a:spcBef>
              <a:defRPr sz="1300" b="1">
                <a:solidFill>
                  <a:srgbClr val="D97706"/>
                </a:solidFill>
                <a:latin typeface="Arial"/>
              </a:defRPr>
            </a:pPr>
            <a:r>
              <a:t>• Ý nghĩa thực tiễn: </a:t>
            </a:r>
            <a:r>
              <a:rPr sz="1300" b="0">
                <a:solidFill>
                  <a:srgbClr val="1E293B"/>
                </a:solidFill>
                <a:latin typeface="Arial"/>
              </a:rPr>
              <a:t>Vị trí địa lý là yếu tố chi phối mạnh mẽ nhất đến sự chênh lệch đơn giá nhà đất.</a:t>
            </a:r>
          </a:p>
        </p:txBody>
      </p:sp>
      <p:sp>
        <p:nvSpPr>
          <p:cNvPr id="13" name="Rectangle 12"/>
          <p:cNvSpPr/>
          <p:nvPr/>
        </p:nvSpPr>
        <p:spPr>
          <a:xfrm>
            <a:off x="731520" y="3977640"/>
            <a:ext cx="5184648" cy="2423160"/>
          </a:xfrm>
          <a:prstGeom prst="rect">
            <a:avLst/>
          </a:prstGeom>
          <a:solidFill>
            <a:srgbClr val="FFFF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731520" y="3977640"/>
            <a:ext cx="5184648" cy="438912"/>
          </a:xfrm>
          <a:prstGeom prst="rect">
            <a:avLst/>
          </a:prstGeom>
          <a:solidFill>
            <a:srgbClr val="1A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96112" y="4014216"/>
            <a:ext cx="4855464" cy="365760"/>
          </a:xfrm>
          <a:prstGeom prst="rect">
            <a:avLst/>
          </a:prstGeom>
          <a:noFill/>
        </p:spPr>
        <p:txBody>
          <a:bodyPr wrap="square">
            <a:spAutoFit/>
          </a:bodyPr>
          <a:lstStyle/>
          <a:p>
            <a:pPr>
              <a:defRPr sz="1350" b="1">
                <a:solidFill>
                  <a:srgbClr val="FFFFFF"/>
                </a:solidFill>
                <a:latin typeface="Arial"/>
              </a:defRPr>
            </a:pPr>
            <a:r>
              <a:t>HỌ 3: HÌNH HỌC THỬA ĐẤT</a:t>
            </a:r>
          </a:p>
        </p:txBody>
      </p:sp>
      <p:sp>
        <p:nvSpPr>
          <p:cNvPr id="16" name="TextBox 15"/>
          <p:cNvSpPr txBox="1"/>
          <p:nvPr/>
        </p:nvSpPr>
        <p:spPr>
          <a:xfrm>
            <a:off x="914400" y="4507992"/>
            <a:ext cx="4818888" cy="1801368"/>
          </a:xfrm>
          <a:prstGeom prst="rect">
            <a:avLst/>
          </a:prstGeom>
          <a:noFill/>
        </p:spPr>
        <p:txBody>
          <a:bodyPr wrap="square">
            <a:spAutoFit/>
          </a:bodyPr>
          <a:lstStyle/>
          <a:p>
            <a:pPr>
              <a:defRPr sz="1300" b="1">
                <a:solidFill>
                  <a:srgbClr val="D97706"/>
                </a:solidFill>
                <a:latin typeface="Arial"/>
              </a:defRPr>
            </a:pPr>
            <a:r>
              <a:t>• Diện tích đất: </a:t>
            </a:r>
            <a:r>
              <a:rPr sz="1300" b="0">
                <a:solidFill>
                  <a:srgbClr val="1E293B"/>
                </a:solidFill>
                <a:latin typeface="Arial"/>
              </a:rPr>
              <a:t>Dao động phổ biến từ 38 đến 85 m² (mức trung vị thực tế đạt 52 m²).</a:t>
            </a:r>
          </a:p>
          <a:p>
            <a:pPr>
              <a:spcBef>
                <a:spcPts val="800"/>
              </a:spcBef>
              <a:defRPr sz="1300" b="1">
                <a:solidFill>
                  <a:srgbClr val="D97706"/>
                </a:solidFill>
                <a:latin typeface="Arial"/>
              </a:defRPr>
            </a:pPr>
            <a:r>
              <a:t>• Chiều rộng mặt tiền: </a:t>
            </a:r>
            <a:r>
              <a:rPr sz="1300" b="0">
                <a:solidFill>
                  <a:srgbClr val="1E293B"/>
                </a:solidFill>
                <a:latin typeface="Arial"/>
              </a:rPr>
              <a:t>Tập trung nhiều ở khoảng 3.2m đến 5.5m (mức trung vị đạt 4.2m).</a:t>
            </a:r>
          </a:p>
          <a:p>
            <a:pPr>
              <a:spcBef>
                <a:spcPts val="800"/>
              </a:spcBef>
              <a:defRPr sz="1300" b="1">
                <a:solidFill>
                  <a:srgbClr val="D97706"/>
                </a:solidFill>
                <a:latin typeface="Arial"/>
              </a:defRPr>
            </a:pPr>
            <a:r>
              <a:t>• Ý nghĩa thực tiễn: </a:t>
            </a:r>
            <a:r>
              <a:rPr sz="1300" b="0">
                <a:solidFill>
                  <a:srgbClr val="1E293B"/>
                </a:solidFill>
                <a:latin typeface="Arial"/>
              </a:rPr>
              <a:t>Quy mô diện tích và độ rộng mặt tiền là hai yếu tố cốt lõi quyết định tổng giá trị nhà.</a:t>
            </a:r>
          </a:p>
        </p:txBody>
      </p:sp>
      <p:sp>
        <p:nvSpPr>
          <p:cNvPr id="17" name="Rectangle 16"/>
          <p:cNvSpPr/>
          <p:nvPr/>
        </p:nvSpPr>
        <p:spPr>
          <a:xfrm>
            <a:off x="6275527" y="3977640"/>
            <a:ext cx="5184648" cy="2423160"/>
          </a:xfrm>
          <a:prstGeom prst="rect">
            <a:avLst/>
          </a:prstGeom>
          <a:solidFill>
            <a:srgbClr val="FFFF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275527" y="3977640"/>
            <a:ext cx="5184648" cy="603504"/>
          </a:xfrm>
          <a:prstGeom prst="rect">
            <a:avLst/>
          </a:prstGeom>
          <a:solidFill>
            <a:srgbClr val="1A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40119" y="4014216"/>
            <a:ext cx="4855464" cy="530352"/>
          </a:xfrm>
          <a:prstGeom prst="rect">
            <a:avLst/>
          </a:prstGeom>
          <a:noFill/>
        </p:spPr>
        <p:txBody>
          <a:bodyPr wrap="square">
            <a:spAutoFit/>
          </a:bodyPr>
          <a:lstStyle/>
          <a:p>
            <a:pPr>
              <a:defRPr sz="1350" b="1">
                <a:solidFill>
                  <a:srgbClr val="FFFFFF"/>
                </a:solidFill>
                <a:latin typeface="Arial"/>
              </a:defRPr>
            </a:pPr>
            <a:r>
              <a:t>HỌ 4: PHÂN PHỐI GIÁ &amp; ĐƠN GIÁ M²</a:t>
            </a:r>
          </a:p>
        </p:txBody>
      </p:sp>
      <p:sp>
        <p:nvSpPr>
          <p:cNvPr id="20" name="TextBox 19"/>
          <p:cNvSpPr txBox="1"/>
          <p:nvPr/>
        </p:nvSpPr>
        <p:spPr>
          <a:xfrm>
            <a:off x="6458407" y="4672584"/>
            <a:ext cx="4818888" cy="1636776"/>
          </a:xfrm>
          <a:prstGeom prst="rect">
            <a:avLst/>
          </a:prstGeom>
          <a:noFill/>
        </p:spPr>
        <p:txBody>
          <a:bodyPr wrap="square">
            <a:spAutoFit/>
          </a:bodyPr>
          <a:lstStyle/>
          <a:p>
            <a:pPr>
              <a:defRPr sz="1300" b="1">
                <a:solidFill>
                  <a:srgbClr val="D97706"/>
                </a:solidFill>
                <a:latin typeface="Arial"/>
              </a:defRPr>
            </a:pPr>
            <a:r>
              <a:t>• Tổng giá trị tài sản: </a:t>
            </a:r>
            <a:r>
              <a:rPr sz="1300" b="0">
                <a:solidFill>
                  <a:srgbClr val="1E293B"/>
                </a:solidFill>
                <a:latin typeface="Arial"/>
              </a:rPr>
              <a:t>Mức trung vị đạt 4.8 tỷ VNĐ (dao động phổ biến từ 1.2 tỷ đến 35 tỷ VNĐ).</a:t>
            </a:r>
          </a:p>
          <a:p>
            <a:pPr>
              <a:spcBef>
                <a:spcPts val="800"/>
              </a:spcBef>
              <a:defRPr sz="1300" b="1">
                <a:solidFill>
                  <a:srgbClr val="D97706"/>
                </a:solidFill>
                <a:latin typeface="Arial"/>
              </a:defRPr>
            </a:pPr>
            <a:r>
              <a:t>• Đơn giá m²: </a:t>
            </a:r>
            <a:r>
              <a:rPr sz="1300" b="0">
                <a:solidFill>
                  <a:srgbClr val="1E293B"/>
                </a:solidFill>
                <a:latin typeface="Arial"/>
              </a:rPr>
              <a:t>Mức trung vị đạt 92.5 triệu/m²; đại đa số tài sản tập trung ở phân khúc 60 - 120 triệu/m².</a:t>
            </a:r>
          </a:p>
          <a:p>
            <a:pPr>
              <a:spcBef>
                <a:spcPts val="800"/>
              </a:spcBef>
              <a:defRPr sz="1300" b="1">
                <a:solidFill>
                  <a:srgbClr val="D97706"/>
                </a:solidFill>
                <a:latin typeface="Arial"/>
              </a:defRPr>
            </a:pPr>
            <a:r>
              <a:t>• Ý nghĩa thực tiễn: </a:t>
            </a:r>
            <a:r>
              <a:rPr sz="1300" b="0">
                <a:solidFill>
                  <a:srgbClr val="1E293B"/>
                </a:solidFill>
                <a:latin typeface="Arial"/>
              </a:rPr>
              <a:t>Thị trường có xu hướng lệch về phân khúc phổ thông, đòi hỏi chuyển đổi thang đo phù hợp.</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60120"/>
          </a:xfrm>
          <a:prstGeom prst="rect">
            <a:avLst/>
          </a:prstGeom>
          <a:solidFill>
            <a:srgbClr val="0F22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32688"/>
            <a:ext cx="12191695" cy="36576"/>
          </a:xfrm>
          <a:prstGeom prst="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146304"/>
            <a:ext cx="10728655" cy="658368"/>
          </a:xfrm>
          <a:prstGeom prst="rect">
            <a:avLst/>
          </a:prstGeom>
          <a:noFill/>
        </p:spPr>
        <p:txBody>
          <a:bodyPr wrap="square">
            <a:spAutoFit/>
          </a:bodyPr>
          <a:lstStyle/>
          <a:p>
            <a:pPr>
              <a:defRPr sz="2200" b="1">
                <a:solidFill>
                  <a:srgbClr val="FFFFFF"/>
                </a:solidFill>
                <a:latin typeface="Arial"/>
              </a:defRPr>
            </a:pPr>
            <a:r>
              <a:t>Biểu Đồ 1: Mức Độ Tương Quan Giữa Các Đặc Trưng Nhà Đất</a:t>
            </a:r>
          </a:p>
        </p:txBody>
      </p:sp>
      <p:sp>
        <p:nvSpPr>
          <p:cNvPr id="5" name="Rectangle 4"/>
          <p:cNvSpPr/>
          <p:nvPr/>
        </p:nvSpPr>
        <p:spPr>
          <a:xfrm>
            <a:off x="731520" y="1234440"/>
            <a:ext cx="6766560" cy="5166360"/>
          </a:xfrm>
          <a:prstGeom prst="rect">
            <a:avLst/>
          </a:prstGeom>
          <a:solidFill>
            <a:srgbClr val="FFFF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01_correlation_heatmap.png"/>
          <p:cNvPicPr>
            <a:picLocks noChangeAspect="1"/>
          </p:cNvPicPr>
          <p:nvPr/>
        </p:nvPicPr>
        <p:blipFill>
          <a:blip r:embed="rId2"/>
          <a:stretch>
            <a:fillRect/>
          </a:stretch>
        </p:blipFill>
        <p:spPr>
          <a:xfrm>
            <a:off x="977264" y="1307592"/>
            <a:ext cx="6275070" cy="5020056"/>
          </a:xfrm>
          <a:prstGeom prst="rect">
            <a:avLst/>
          </a:prstGeom>
        </p:spPr>
      </p:pic>
      <p:sp>
        <p:nvSpPr>
          <p:cNvPr id="7" name="Rectangle 6"/>
          <p:cNvSpPr/>
          <p:nvPr/>
        </p:nvSpPr>
        <p:spPr>
          <a:xfrm>
            <a:off x="7726680" y="1234440"/>
            <a:ext cx="3733495" cy="5166360"/>
          </a:xfrm>
          <a:prstGeom prst="rect">
            <a:avLst/>
          </a:prstGeom>
          <a:solidFill>
            <a:srgbClr val="FFFF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26680" y="1234440"/>
            <a:ext cx="3733495" cy="603504"/>
          </a:xfrm>
          <a:prstGeom prst="rect">
            <a:avLst/>
          </a:prstGeom>
          <a:solidFill>
            <a:srgbClr val="1A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891272" y="1271016"/>
            <a:ext cx="3404311" cy="530352"/>
          </a:xfrm>
          <a:prstGeom prst="rect">
            <a:avLst/>
          </a:prstGeom>
          <a:noFill/>
        </p:spPr>
        <p:txBody>
          <a:bodyPr wrap="square">
            <a:spAutoFit/>
          </a:bodyPr>
          <a:lstStyle/>
          <a:p>
            <a:pPr>
              <a:defRPr sz="1400" b="1">
                <a:solidFill>
                  <a:srgbClr val="FFFFFF"/>
                </a:solidFill>
                <a:latin typeface="Arial"/>
              </a:defRPr>
            </a:pPr>
            <a:r>
              <a:t>TƯƠNG QUAN ĐẶC TRƯNG (BĐ 01)</a:t>
            </a:r>
          </a:p>
        </p:txBody>
      </p:sp>
      <p:sp>
        <p:nvSpPr>
          <p:cNvPr id="10" name="TextBox 9"/>
          <p:cNvSpPr txBox="1"/>
          <p:nvPr/>
        </p:nvSpPr>
        <p:spPr>
          <a:xfrm>
            <a:off x="7909560" y="1929384"/>
            <a:ext cx="3367735" cy="4379976"/>
          </a:xfrm>
          <a:prstGeom prst="rect">
            <a:avLst/>
          </a:prstGeom>
          <a:noFill/>
        </p:spPr>
        <p:txBody>
          <a:bodyPr wrap="square">
            <a:spAutoFit/>
          </a:bodyPr>
          <a:lstStyle/>
          <a:p>
            <a:pPr>
              <a:defRPr sz="1400" b="1">
                <a:solidFill>
                  <a:srgbClr val="D97706"/>
                </a:solidFill>
                <a:latin typeface="Arial"/>
              </a:defRPr>
            </a:pPr>
            <a:r>
              <a:t>Tác Dụng &amp; Mục Đích Biểu Đồ:</a:t>
            </a:r>
          </a:p>
          <a:p>
            <a:pPr>
              <a:spcBef>
                <a:spcPts val="300"/>
              </a:spcBef>
              <a:defRPr sz="1300">
                <a:solidFill>
                  <a:srgbClr val="1E293B"/>
                </a:solidFill>
                <a:latin typeface="Arial"/>
              </a:defRPr>
            </a:pPr>
            <a:r>
              <a:t>Đo lường mức độ liên hệ tuyến tính giữa các đặc tính nhà đất (Diện tích, Mặt tiền, Số tầng, Số phòng) với Đơn giá và Tổng giá bán.</a:t>
            </a:r>
          </a:p>
          <a:p>
            <a:pPr>
              <a:spcBef>
                <a:spcPts val="1200"/>
              </a:spcBef>
              <a:defRPr sz="1400" b="1">
                <a:solidFill>
                  <a:srgbClr val="D97706"/>
                </a:solidFill>
                <a:latin typeface="Arial"/>
              </a:defRPr>
            </a:pPr>
            <a:r>
              <a:t>Phát Hiện Cốt Lõi:</a:t>
            </a:r>
          </a:p>
          <a:p>
            <a:pPr>
              <a:spcBef>
                <a:spcPts val="300"/>
              </a:spcBef>
              <a:defRPr sz="1300">
                <a:solidFill>
                  <a:srgbClr val="1E293B"/>
                </a:solidFill>
                <a:latin typeface="Arial"/>
              </a:defRPr>
            </a:pPr>
            <a:r>
              <a:t>Diện tích đất và tổng diện tích sàn là hai yếu tố có mối liên kết thuận chiều mạnh mẽ nhất với tổng giá trị của một căn nhà.</a:t>
            </a:r>
          </a:p>
          <a:p>
            <a:pPr>
              <a:spcBef>
                <a:spcPts val="1200"/>
              </a:spcBef>
              <a:defRPr sz="1400" b="1">
                <a:solidFill>
                  <a:srgbClr val="D97706"/>
                </a:solidFill>
                <a:latin typeface="Arial"/>
              </a:defRPr>
            </a:pPr>
            <a:r>
              <a:t>Kiểm Soát Tương Quan Trùng Lặp:</a:t>
            </a:r>
          </a:p>
          <a:p>
            <a:pPr>
              <a:spcBef>
                <a:spcPts val="300"/>
              </a:spcBef>
              <a:defRPr sz="1300">
                <a:solidFill>
                  <a:srgbClr val="1E293B"/>
                </a:solidFill>
                <a:latin typeface="Arial"/>
              </a:defRPr>
            </a:pPr>
            <a:r>
              <a:t>Diện tích sàn và diện tích đất có mức độ gắn kết rất cao với nhau -&gt; Cần kỹ thuật điều chuẩn mô hình để tránh hiện tượng nhiễu thông tin.</a:t>
            </a:r>
          </a:p>
          <a:p>
            <a:pPr>
              <a:spcBef>
                <a:spcPts val="1200"/>
              </a:spcBef>
              <a:defRPr sz="1400" b="1">
                <a:solidFill>
                  <a:srgbClr val="D97706"/>
                </a:solidFill>
                <a:latin typeface="Arial"/>
              </a:defRPr>
            </a:pPr>
            <a:r>
              <a:t>Ứng Dụng Trong Mô Hình Hóa:</a:t>
            </a:r>
          </a:p>
          <a:p>
            <a:pPr>
              <a:spcBef>
                <a:spcPts val="300"/>
              </a:spcBef>
              <a:defRPr sz="1300">
                <a:solidFill>
                  <a:srgbClr val="1E293B"/>
                </a:solidFill>
                <a:latin typeface="Arial"/>
              </a:defRPr>
            </a:pPr>
            <a:r>
              <a:t>Lựa chọn tập hợp các đặc trưng độc lập, có giá trị đóng góp thông tin thực chất nhất cho các phương trình hồi quy.</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60120"/>
          </a:xfrm>
          <a:prstGeom prst="rect">
            <a:avLst/>
          </a:prstGeom>
          <a:solidFill>
            <a:srgbClr val="0F22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32688"/>
            <a:ext cx="12191695" cy="36576"/>
          </a:xfrm>
          <a:prstGeom prst="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146304"/>
            <a:ext cx="10728655" cy="658368"/>
          </a:xfrm>
          <a:prstGeom prst="rect">
            <a:avLst/>
          </a:prstGeom>
          <a:noFill/>
        </p:spPr>
        <p:txBody>
          <a:bodyPr wrap="square">
            <a:spAutoFit/>
          </a:bodyPr>
          <a:lstStyle/>
          <a:p>
            <a:pPr>
              <a:defRPr sz="2200" b="1">
                <a:solidFill>
                  <a:srgbClr val="FFFFFF"/>
                </a:solidFill>
                <a:latin typeface="Arial"/>
              </a:defRPr>
            </a:pPr>
            <a:r>
              <a:t>Biểu Đồ 2: Phân Phối Giá BĐS &amp; Hiệu Quả Sau Biến Đổi Logarit</a:t>
            </a:r>
          </a:p>
        </p:txBody>
      </p:sp>
      <p:sp>
        <p:nvSpPr>
          <p:cNvPr id="5" name="Rectangle 4"/>
          <p:cNvSpPr/>
          <p:nvPr/>
        </p:nvSpPr>
        <p:spPr>
          <a:xfrm>
            <a:off x="731520" y="1234440"/>
            <a:ext cx="10728655" cy="3520440"/>
          </a:xfrm>
          <a:prstGeom prst="rect">
            <a:avLst/>
          </a:prstGeom>
          <a:solidFill>
            <a:srgbClr val="FFFF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02_price_distribution.png"/>
          <p:cNvPicPr>
            <a:picLocks noChangeAspect="1"/>
          </p:cNvPicPr>
          <p:nvPr/>
        </p:nvPicPr>
        <p:blipFill>
          <a:blip r:embed="rId2"/>
          <a:stretch>
            <a:fillRect/>
          </a:stretch>
        </p:blipFill>
        <p:spPr>
          <a:xfrm>
            <a:off x="1878177" y="1307592"/>
            <a:ext cx="8435340" cy="3374136"/>
          </a:xfrm>
          <a:prstGeom prst="rect">
            <a:avLst/>
          </a:prstGeom>
        </p:spPr>
      </p:pic>
      <p:sp>
        <p:nvSpPr>
          <p:cNvPr id="7" name="Rectangle 6"/>
          <p:cNvSpPr/>
          <p:nvPr/>
        </p:nvSpPr>
        <p:spPr>
          <a:xfrm>
            <a:off x="731520" y="4937760"/>
            <a:ext cx="3454298" cy="1600199"/>
          </a:xfrm>
          <a:prstGeom prst="rect">
            <a:avLst/>
          </a:prstGeom>
          <a:solidFill>
            <a:srgbClr val="FFFF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31520" y="4937760"/>
            <a:ext cx="3454298" cy="603504"/>
          </a:xfrm>
          <a:prstGeom prst="rect">
            <a:avLst/>
          </a:prstGeom>
          <a:solidFill>
            <a:srgbClr val="1A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96112" y="4974336"/>
            <a:ext cx="3125114" cy="530352"/>
          </a:xfrm>
          <a:prstGeom prst="rect">
            <a:avLst/>
          </a:prstGeom>
          <a:noFill/>
        </p:spPr>
        <p:txBody>
          <a:bodyPr wrap="square">
            <a:spAutoFit/>
          </a:bodyPr>
          <a:lstStyle/>
          <a:p>
            <a:pPr>
              <a:defRPr sz="1350" b="1">
                <a:solidFill>
                  <a:srgbClr val="FFFFFF"/>
                </a:solidFill>
                <a:latin typeface="Arial"/>
              </a:defRPr>
            </a:pPr>
            <a:r>
              <a:t>1. PHÂN PHỐI GIÁ THỰC TẾ</a:t>
            </a:r>
          </a:p>
        </p:txBody>
      </p:sp>
      <p:sp>
        <p:nvSpPr>
          <p:cNvPr id="10" name="TextBox 9"/>
          <p:cNvSpPr txBox="1"/>
          <p:nvPr/>
        </p:nvSpPr>
        <p:spPr>
          <a:xfrm>
            <a:off x="914400" y="5632704"/>
            <a:ext cx="3088538" cy="813815"/>
          </a:xfrm>
          <a:prstGeom prst="rect">
            <a:avLst/>
          </a:prstGeom>
          <a:noFill/>
        </p:spPr>
        <p:txBody>
          <a:bodyPr wrap="square">
            <a:spAutoFit/>
          </a:bodyPr>
          <a:lstStyle/>
          <a:p>
            <a:pPr>
              <a:spcBef>
                <a:spcPts val="400"/>
              </a:spcBef>
              <a:defRPr sz="1350">
                <a:solidFill>
                  <a:srgbClr val="1E293B"/>
                </a:solidFill>
                <a:latin typeface="Arial"/>
              </a:defRPr>
            </a:pPr>
            <a:r>
              <a:t>Đơn giá tập trung chủ yếu ở phân khúc vừa túi tiền (60 - 120 triệu/m²), trong khi một số ít nhà phố mặt tiền đắt đỏ kéo dài phân phối sang phía giá cao.</a:t>
            </a:r>
          </a:p>
        </p:txBody>
      </p:sp>
      <p:sp>
        <p:nvSpPr>
          <p:cNvPr id="11" name="Rectangle 10"/>
          <p:cNvSpPr/>
          <p:nvPr/>
        </p:nvSpPr>
        <p:spPr>
          <a:xfrm>
            <a:off x="4368698" y="4937760"/>
            <a:ext cx="3454298" cy="1600199"/>
          </a:xfrm>
          <a:prstGeom prst="rect">
            <a:avLst/>
          </a:prstGeom>
          <a:solidFill>
            <a:srgbClr val="FFFF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368698" y="4937760"/>
            <a:ext cx="3454298" cy="603504"/>
          </a:xfrm>
          <a:prstGeom prst="rect">
            <a:avLst/>
          </a:prstGeom>
          <a:solidFill>
            <a:srgbClr val="1A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33290" y="4974336"/>
            <a:ext cx="3125114" cy="530352"/>
          </a:xfrm>
          <a:prstGeom prst="rect">
            <a:avLst/>
          </a:prstGeom>
          <a:noFill/>
        </p:spPr>
        <p:txBody>
          <a:bodyPr wrap="square">
            <a:spAutoFit/>
          </a:bodyPr>
          <a:lstStyle/>
          <a:p>
            <a:pPr>
              <a:defRPr sz="1350" b="1">
                <a:solidFill>
                  <a:srgbClr val="FFFFFF"/>
                </a:solidFill>
                <a:latin typeface="Arial"/>
              </a:defRPr>
            </a:pPr>
            <a:r>
              <a:t>2. HIỆU QUẢ CHUYỂN ĐỔI LOGARIT</a:t>
            </a:r>
          </a:p>
        </p:txBody>
      </p:sp>
      <p:sp>
        <p:nvSpPr>
          <p:cNvPr id="14" name="TextBox 13"/>
          <p:cNvSpPr txBox="1"/>
          <p:nvPr/>
        </p:nvSpPr>
        <p:spPr>
          <a:xfrm>
            <a:off x="4551578" y="5632704"/>
            <a:ext cx="3088538" cy="813815"/>
          </a:xfrm>
          <a:prstGeom prst="rect">
            <a:avLst/>
          </a:prstGeom>
          <a:noFill/>
        </p:spPr>
        <p:txBody>
          <a:bodyPr wrap="square">
            <a:spAutoFit/>
          </a:bodyPr>
          <a:lstStyle/>
          <a:p>
            <a:pPr>
              <a:spcBef>
                <a:spcPts val="400"/>
              </a:spcBef>
              <a:defRPr sz="1350">
                <a:solidFill>
                  <a:srgbClr val="1E293B"/>
                </a:solidFill>
                <a:latin typeface="Arial"/>
              </a:defRPr>
            </a:pPr>
            <a:r>
              <a:t>Phép biến đổi đưa dữ liệu về dạng đối xứng hình chuông chuẩn mực, triệt tiêu độ lệch và tạo điều kiện tối ưu cho mô hình hồi quy tuyến tính.</a:t>
            </a:r>
          </a:p>
        </p:txBody>
      </p:sp>
      <p:sp>
        <p:nvSpPr>
          <p:cNvPr id="15" name="Rectangle 14"/>
          <p:cNvSpPr/>
          <p:nvPr/>
        </p:nvSpPr>
        <p:spPr>
          <a:xfrm>
            <a:off x="8005876" y="4937760"/>
            <a:ext cx="3454298" cy="1600199"/>
          </a:xfrm>
          <a:prstGeom prst="rect">
            <a:avLst/>
          </a:prstGeom>
          <a:solidFill>
            <a:srgbClr val="FFFF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005876" y="4937760"/>
            <a:ext cx="3454298" cy="603504"/>
          </a:xfrm>
          <a:prstGeom prst="rect">
            <a:avLst/>
          </a:prstGeom>
          <a:solidFill>
            <a:srgbClr val="1A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170468" y="4974336"/>
            <a:ext cx="3125114" cy="530352"/>
          </a:xfrm>
          <a:prstGeom prst="rect">
            <a:avLst/>
          </a:prstGeom>
          <a:noFill/>
        </p:spPr>
        <p:txBody>
          <a:bodyPr wrap="square">
            <a:spAutoFit/>
          </a:bodyPr>
          <a:lstStyle/>
          <a:p>
            <a:pPr>
              <a:defRPr sz="1350" b="1">
                <a:solidFill>
                  <a:srgbClr val="FFFFFF"/>
                </a:solidFill>
                <a:latin typeface="Arial"/>
              </a:defRPr>
            </a:pPr>
            <a:r>
              <a:t>3. Ý NGHĨA KHOA HỌC DỮ LIỆU</a:t>
            </a:r>
          </a:p>
        </p:txBody>
      </p:sp>
      <p:sp>
        <p:nvSpPr>
          <p:cNvPr id="18" name="TextBox 17"/>
          <p:cNvSpPr txBox="1"/>
          <p:nvPr/>
        </p:nvSpPr>
        <p:spPr>
          <a:xfrm>
            <a:off x="8188756" y="5632704"/>
            <a:ext cx="3088538" cy="813815"/>
          </a:xfrm>
          <a:prstGeom prst="rect">
            <a:avLst/>
          </a:prstGeom>
          <a:noFill/>
        </p:spPr>
        <p:txBody>
          <a:bodyPr wrap="square">
            <a:spAutoFit/>
          </a:bodyPr>
          <a:lstStyle/>
          <a:p>
            <a:pPr>
              <a:spcBef>
                <a:spcPts val="400"/>
              </a:spcBef>
              <a:defRPr sz="1350">
                <a:solidFill>
                  <a:srgbClr val="1E293B"/>
                </a:solidFill>
                <a:latin typeface="Arial"/>
              </a:defRPr>
            </a:pPr>
            <a:r>
              <a:t>Giảm bớt sự chi phối quá mức của những căn nhà siêu đắt, giúp mô hình dự báo chính xác và ổn định hơn trên toàn dải giá trị.</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60120"/>
          </a:xfrm>
          <a:prstGeom prst="rect">
            <a:avLst/>
          </a:prstGeom>
          <a:solidFill>
            <a:srgbClr val="0F22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32688"/>
            <a:ext cx="12191695" cy="36576"/>
          </a:xfrm>
          <a:prstGeom prst="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146304"/>
            <a:ext cx="10728655" cy="658368"/>
          </a:xfrm>
          <a:prstGeom prst="rect">
            <a:avLst/>
          </a:prstGeom>
          <a:noFill/>
        </p:spPr>
        <p:txBody>
          <a:bodyPr wrap="square">
            <a:spAutoFit/>
          </a:bodyPr>
          <a:lstStyle/>
          <a:p>
            <a:pPr>
              <a:defRPr sz="2200" b="1">
                <a:solidFill>
                  <a:srgbClr val="FFFFFF"/>
                </a:solidFill>
                <a:latin typeface="Arial"/>
              </a:defRPr>
            </a:pPr>
            <a:r>
              <a:t>Biểu Đồ 3: Tương Quan Phân Tán Đa Chiều Giữa Diện Tích, Mặt Tiền &amp; Giá</a:t>
            </a:r>
          </a:p>
        </p:txBody>
      </p:sp>
      <p:sp>
        <p:nvSpPr>
          <p:cNvPr id="5" name="Rectangle 4"/>
          <p:cNvSpPr/>
          <p:nvPr/>
        </p:nvSpPr>
        <p:spPr>
          <a:xfrm>
            <a:off x="731520" y="1234440"/>
            <a:ext cx="10728655" cy="3520440"/>
          </a:xfrm>
          <a:prstGeom prst="rect">
            <a:avLst/>
          </a:prstGeom>
          <a:solidFill>
            <a:srgbClr val="FFFF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03_price_vs_area_scatter.png"/>
          <p:cNvPicPr>
            <a:picLocks noChangeAspect="1"/>
          </p:cNvPicPr>
          <p:nvPr/>
        </p:nvPicPr>
        <p:blipFill>
          <a:blip r:embed="rId2"/>
          <a:stretch>
            <a:fillRect/>
          </a:stretch>
        </p:blipFill>
        <p:spPr>
          <a:xfrm>
            <a:off x="1878177" y="1307592"/>
            <a:ext cx="8435340" cy="3374136"/>
          </a:xfrm>
          <a:prstGeom prst="rect">
            <a:avLst/>
          </a:prstGeom>
        </p:spPr>
      </p:pic>
      <p:sp>
        <p:nvSpPr>
          <p:cNvPr id="7" name="Rectangle 6"/>
          <p:cNvSpPr/>
          <p:nvPr/>
        </p:nvSpPr>
        <p:spPr>
          <a:xfrm>
            <a:off x="731520" y="4937760"/>
            <a:ext cx="3454298" cy="1600199"/>
          </a:xfrm>
          <a:prstGeom prst="rect">
            <a:avLst/>
          </a:prstGeom>
          <a:solidFill>
            <a:srgbClr val="FFFF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31520" y="4937760"/>
            <a:ext cx="3454298" cy="603504"/>
          </a:xfrm>
          <a:prstGeom prst="rect">
            <a:avLst/>
          </a:prstGeom>
          <a:solidFill>
            <a:srgbClr val="1A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96112" y="4974336"/>
            <a:ext cx="3125114" cy="530352"/>
          </a:xfrm>
          <a:prstGeom prst="rect">
            <a:avLst/>
          </a:prstGeom>
          <a:noFill/>
        </p:spPr>
        <p:txBody>
          <a:bodyPr wrap="square">
            <a:spAutoFit/>
          </a:bodyPr>
          <a:lstStyle/>
          <a:p>
            <a:pPr>
              <a:defRPr sz="1350" b="1">
                <a:solidFill>
                  <a:srgbClr val="FFFFFF"/>
                </a:solidFill>
                <a:latin typeface="Arial"/>
              </a:defRPr>
            </a:pPr>
            <a:r>
              <a:t>1. QUY CHUẨN PHÂN LÔ THỰC TẾ</a:t>
            </a:r>
          </a:p>
        </p:txBody>
      </p:sp>
      <p:sp>
        <p:nvSpPr>
          <p:cNvPr id="10" name="TextBox 9"/>
          <p:cNvSpPr txBox="1"/>
          <p:nvPr/>
        </p:nvSpPr>
        <p:spPr>
          <a:xfrm>
            <a:off x="914400" y="5632704"/>
            <a:ext cx="3088538" cy="813815"/>
          </a:xfrm>
          <a:prstGeom prst="rect">
            <a:avLst/>
          </a:prstGeom>
          <a:noFill/>
        </p:spPr>
        <p:txBody>
          <a:bodyPr wrap="square">
            <a:spAutoFit/>
          </a:bodyPr>
          <a:lstStyle/>
          <a:p>
            <a:pPr>
              <a:spcBef>
                <a:spcPts val="400"/>
              </a:spcBef>
              <a:defRPr sz="1350">
                <a:solidFill>
                  <a:srgbClr val="1E293B"/>
                </a:solidFill>
                <a:latin typeface="Arial"/>
              </a:defRPr>
            </a:pPr>
            <a:r>
              <a:t>Bề rộng mặt tiền tập trung rất rõ nét theo các kích thước quy chuẩn đô thị phổ biến: 3m, 3.5m, 4m, 4.5m, 5m, 6m.</a:t>
            </a:r>
          </a:p>
        </p:txBody>
      </p:sp>
      <p:sp>
        <p:nvSpPr>
          <p:cNvPr id="11" name="Rectangle 10"/>
          <p:cNvSpPr/>
          <p:nvPr/>
        </p:nvSpPr>
        <p:spPr>
          <a:xfrm>
            <a:off x="4368698" y="4937760"/>
            <a:ext cx="3454298" cy="1600199"/>
          </a:xfrm>
          <a:prstGeom prst="rect">
            <a:avLst/>
          </a:prstGeom>
          <a:solidFill>
            <a:srgbClr val="FFFF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368698" y="4937760"/>
            <a:ext cx="3454298" cy="603504"/>
          </a:xfrm>
          <a:prstGeom prst="rect">
            <a:avLst/>
          </a:prstGeom>
          <a:solidFill>
            <a:srgbClr val="1A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33290" y="4974336"/>
            <a:ext cx="3125114" cy="530352"/>
          </a:xfrm>
          <a:prstGeom prst="rect">
            <a:avLst/>
          </a:prstGeom>
          <a:noFill/>
        </p:spPr>
        <p:txBody>
          <a:bodyPr wrap="square">
            <a:spAutoFit/>
          </a:bodyPr>
          <a:lstStyle/>
          <a:p>
            <a:pPr>
              <a:defRPr sz="1350" b="1">
                <a:solidFill>
                  <a:srgbClr val="FFFFFF"/>
                </a:solidFill>
                <a:latin typeface="Arial"/>
              </a:defRPr>
            </a:pPr>
            <a:r>
              <a:t>2. BƯỚC NHẢY THƯƠNG MẠI</a:t>
            </a:r>
          </a:p>
        </p:txBody>
      </p:sp>
      <p:sp>
        <p:nvSpPr>
          <p:cNvPr id="14" name="TextBox 13"/>
          <p:cNvSpPr txBox="1"/>
          <p:nvPr/>
        </p:nvSpPr>
        <p:spPr>
          <a:xfrm>
            <a:off x="4551578" y="5632704"/>
            <a:ext cx="3088538" cy="813815"/>
          </a:xfrm>
          <a:prstGeom prst="rect">
            <a:avLst/>
          </a:prstGeom>
          <a:noFill/>
        </p:spPr>
        <p:txBody>
          <a:bodyPr wrap="square">
            <a:spAutoFit/>
          </a:bodyPr>
          <a:lstStyle/>
          <a:p>
            <a:pPr>
              <a:spcBef>
                <a:spcPts val="400"/>
              </a:spcBef>
              <a:defRPr sz="1350">
                <a:solidFill>
                  <a:srgbClr val="1E293B"/>
                </a:solidFill>
                <a:latin typeface="Arial"/>
              </a:defRPr>
            </a:pPr>
            <a:r>
              <a:t>Mặt tiền từ 5m trở lên tạo bước nhảy vọt về đơn giá nhờ khả năng kinh doanh buôn bán thuận lợi hoặc cho phép ô tô đỗ cửa / vào nhà.</a:t>
            </a:r>
          </a:p>
        </p:txBody>
      </p:sp>
      <p:sp>
        <p:nvSpPr>
          <p:cNvPr id="15" name="Rectangle 14"/>
          <p:cNvSpPr/>
          <p:nvPr/>
        </p:nvSpPr>
        <p:spPr>
          <a:xfrm>
            <a:off x="8005876" y="4937760"/>
            <a:ext cx="3454298" cy="1600199"/>
          </a:xfrm>
          <a:prstGeom prst="rect">
            <a:avLst/>
          </a:prstGeom>
          <a:solidFill>
            <a:srgbClr val="FFFF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005876" y="4937760"/>
            <a:ext cx="3454298" cy="603504"/>
          </a:xfrm>
          <a:prstGeom prst="rect">
            <a:avLst/>
          </a:prstGeom>
          <a:solidFill>
            <a:srgbClr val="1A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170468" y="4974336"/>
            <a:ext cx="3125114" cy="530352"/>
          </a:xfrm>
          <a:prstGeom prst="rect">
            <a:avLst/>
          </a:prstGeom>
          <a:noFill/>
        </p:spPr>
        <p:txBody>
          <a:bodyPr wrap="square">
            <a:spAutoFit/>
          </a:bodyPr>
          <a:lstStyle/>
          <a:p>
            <a:pPr>
              <a:defRPr sz="1350" b="1">
                <a:solidFill>
                  <a:srgbClr val="FFFFFF"/>
                </a:solidFill>
                <a:latin typeface="Arial"/>
              </a:defRPr>
            </a:pPr>
            <a:r>
              <a:t>3. Ý NGHĨA KINH TẾ ĐỊNH GIÁ</a:t>
            </a:r>
          </a:p>
        </p:txBody>
      </p:sp>
      <p:sp>
        <p:nvSpPr>
          <p:cNvPr id="18" name="TextBox 17"/>
          <p:cNvSpPr txBox="1"/>
          <p:nvPr/>
        </p:nvSpPr>
        <p:spPr>
          <a:xfrm>
            <a:off x="8188756" y="5632704"/>
            <a:ext cx="3088538" cy="813815"/>
          </a:xfrm>
          <a:prstGeom prst="rect">
            <a:avLst/>
          </a:prstGeom>
          <a:noFill/>
        </p:spPr>
        <p:txBody>
          <a:bodyPr wrap="square">
            <a:spAutoFit/>
          </a:bodyPr>
          <a:lstStyle/>
          <a:p>
            <a:pPr>
              <a:spcBef>
                <a:spcPts val="400"/>
              </a:spcBef>
              <a:defRPr sz="1350">
                <a:solidFill>
                  <a:srgbClr val="1E293B"/>
                </a:solidFill>
                <a:latin typeface="Arial"/>
              </a:defRPr>
            </a:pPr>
            <a:r>
              <a:t>Bề rộng mặt tiền là yếu tố quyết định thanh khoản và thặng dư thương mại của bất động sản, vượt trội so với diện tích đất thô.</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60120"/>
          </a:xfrm>
          <a:prstGeom prst="rect">
            <a:avLst/>
          </a:prstGeom>
          <a:solidFill>
            <a:srgbClr val="0F22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32688"/>
            <a:ext cx="12191695" cy="36576"/>
          </a:xfrm>
          <a:prstGeom prst="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146304"/>
            <a:ext cx="10728655" cy="658368"/>
          </a:xfrm>
          <a:prstGeom prst="rect">
            <a:avLst/>
          </a:prstGeom>
          <a:noFill/>
        </p:spPr>
        <p:txBody>
          <a:bodyPr wrap="square">
            <a:spAutoFit/>
          </a:bodyPr>
          <a:lstStyle/>
          <a:p>
            <a:pPr>
              <a:defRPr sz="2200" b="1">
                <a:solidFill>
                  <a:srgbClr val="FFFFFF"/>
                </a:solidFill>
                <a:latin typeface="Arial"/>
              </a:defRPr>
            </a:pPr>
            <a:r>
              <a:t>Biểu Đồ 4: Phân Bố Đơn Giá 12 Quận/Huyện Trọng Điểm Theo Mức Trung Vị</a:t>
            </a:r>
          </a:p>
        </p:txBody>
      </p:sp>
      <p:sp>
        <p:nvSpPr>
          <p:cNvPr id="5" name="Rectangle 4"/>
          <p:cNvSpPr/>
          <p:nvPr/>
        </p:nvSpPr>
        <p:spPr>
          <a:xfrm>
            <a:off x="731520" y="1234440"/>
            <a:ext cx="10728655" cy="3520440"/>
          </a:xfrm>
          <a:prstGeom prst="rect">
            <a:avLst/>
          </a:prstGeom>
          <a:solidFill>
            <a:srgbClr val="FFFF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04_price_by_district_boxplot.png"/>
          <p:cNvPicPr>
            <a:picLocks noChangeAspect="1"/>
          </p:cNvPicPr>
          <p:nvPr/>
        </p:nvPicPr>
        <p:blipFill>
          <a:blip r:embed="rId2"/>
          <a:stretch>
            <a:fillRect/>
          </a:stretch>
        </p:blipFill>
        <p:spPr>
          <a:xfrm>
            <a:off x="2159355" y="1307592"/>
            <a:ext cx="7872984" cy="3374136"/>
          </a:xfrm>
          <a:prstGeom prst="rect">
            <a:avLst/>
          </a:prstGeom>
        </p:spPr>
      </p:pic>
      <p:sp>
        <p:nvSpPr>
          <p:cNvPr id="7" name="Rectangle 6"/>
          <p:cNvSpPr/>
          <p:nvPr/>
        </p:nvSpPr>
        <p:spPr>
          <a:xfrm>
            <a:off x="731520" y="4937760"/>
            <a:ext cx="3454298" cy="1600199"/>
          </a:xfrm>
          <a:prstGeom prst="rect">
            <a:avLst/>
          </a:prstGeom>
          <a:solidFill>
            <a:srgbClr val="FFFF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31520" y="4937760"/>
            <a:ext cx="3454298" cy="603504"/>
          </a:xfrm>
          <a:prstGeom prst="rect">
            <a:avLst/>
          </a:prstGeom>
          <a:solidFill>
            <a:srgbClr val="1A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96112" y="4974336"/>
            <a:ext cx="3125114" cy="530352"/>
          </a:xfrm>
          <a:prstGeom prst="rect">
            <a:avLst/>
          </a:prstGeom>
          <a:noFill/>
        </p:spPr>
        <p:txBody>
          <a:bodyPr wrap="square">
            <a:spAutoFit/>
          </a:bodyPr>
          <a:lstStyle/>
          <a:p>
            <a:pPr>
              <a:defRPr sz="1350" b="1">
                <a:solidFill>
                  <a:srgbClr val="FFFFFF"/>
                </a:solidFill>
                <a:latin typeface="Arial"/>
              </a:defRPr>
            </a:pPr>
            <a:r>
              <a:t>1. TẦNG 1: LÕI TRUNG TÂM (100 - 105 TR/M²)</a:t>
            </a:r>
          </a:p>
        </p:txBody>
      </p:sp>
      <p:sp>
        <p:nvSpPr>
          <p:cNvPr id="10" name="TextBox 9"/>
          <p:cNvSpPr txBox="1"/>
          <p:nvPr/>
        </p:nvSpPr>
        <p:spPr>
          <a:xfrm>
            <a:off x="914400" y="5632704"/>
            <a:ext cx="3088538" cy="813815"/>
          </a:xfrm>
          <a:prstGeom prst="rect">
            <a:avLst/>
          </a:prstGeom>
          <a:noFill/>
        </p:spPr>
        <p:txBody>
          <a:bodyPr wrap="square">
            <a:spAutoFit/>
          </a:bodyPr>
          <a:lstStyle/>
          <a:p>
            <a:pPr>
              <a:spcBef>
                <a:spcPts val="400"/>
              </a:spcBef>
              <a:defRPr sz="1350">
                <a:solidFill>
                  <a:srgbClr val="1E293B"/>
                </a:solidFill>
                <a:latin typeface="Arial"/>
              </a:defRPr>
            </a:pPr>
            <a:r>
              <a:t>Cầu Giấy, Ba Đình, Tây Hồ, Đống Đa. Nền giá cao nhất thành phố, giá trị bảo toàn ổn định và thanh khoản luôn ở mức rất cao.</a:t>
            </a:r>
          </a:p>
        </p:txBody>
      </p:sp>
      <p:sp>
        <p:nvSpPr>
          <p:cNvPr id="11" name="Rectangle 10"/>
          <p:cNvSpPr/>
          <p:nvPr/>
        </p:nvSpPr>
        <p:spPr>
          <a:xfrm>
            <a:off x="4368698" y="4937760"/>
            <a:ext cx="3454298" cy="1600199"/>
          </a:xfrm>
          <a:prstGeom prst="rect">
            <a:avLst/>
          </a:prstGeom>
          <a:solidFill>
            <a:srgbClr val="FFFF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368698" y="4937760"/>
            <a:ext cx="3454298" cy="603504"/>
          </a:xfrm>
          <a:prstGeom prst="rect">
            <a:avLst/>
          </a:prstGeom>
          <a:solidFill>
            <a:srgbClr val="1A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33290" y="4974336"/>
            <a:ext cx="3125114" cy="530352"/>
          </a:xfrm>
          <a:prstGeom prst="rect">
            <a:avLst/>
          </a:prstGeom>
          <a:noFill/>
        </p:spPr>
        <p:txBody>
          <a:bodyPr wrap="square">
            <a:spAutoFit/>
          </a:bodyPr>
          <a:lstStyle/>
          <a:p>
            <a:pPr>
              <a:defRPr sz="1350" b="1">
                <a:solidFill>
                  <a:srgbClr val="FFFFFF"/>
                </a:solidFill>
                <a:latin typeface="Arial"/>
              </a:defRPr>
            </a:pPr>
            <a:r>
              <a:t>2. TẦNG 2: ĐÔ THỊ MỞ RỘNG (85 - 95 TR/M²)</a:t>
            </a:r>
          </a:p>
        </p:txBody>
      </p:sp>
      <p:sp>
        <p:nvSpPr>
          <p:cNvPr id="14" name="TextBox 13"/>
          <p:cNvSpPr txBox="1"/>
          <p:nvPr/>
        </p:nvSpPr>
        <p:spPr>
          <a:xfrm>
            <a:off x="4551578" y="5632704"/>
            <a:ext cx="3088538" cy="813815"/>
          </a:xfrm>
          <a:prstGeom prst="rect">
            <a:avLst/>
          </a:prstGeom>
          <a:noFill/>
        </p:spPr>
        <p:txBody>
          <a:bodyPr wrap="square">
            <a:spAutoFit/>
          </a:bodyPr>
          <a:lstStyle/>
          <a:p>
            <a:pPr>
              <a:spcBef>
                <a:spcPts val="400"/>
              </a:spcBef>
              <a:defRPr sz="1350">
                <a:solidFill>
                  <a:srgbClr val="1E293B"/>
                </a:solidFill>
                <a:latin typeface="Arial"/>
              </a:defRPr>
            </a:pPr>
            <a:r>
              <a:t>Thanh Xuân, Hai Bà Trưng, Nam Từ Liêm. Trục phát triển sôi động với mạng lưới metro, hạ tầng dịch vụ và văn phòng hoàn thiện.</a:t>
            </a:r>
          </a:p>
        </p:txBody>
      </p:sp>
      <p:sp>
        <p:nvSpPr>
          <p:cNvPr id="15" name="Rectangle 14"/>
          <p:cNvSpPr/>
          <p:nvPr/>
        </p:nvSpPr>
        <p:spPr>
          <a:xfrm>
            <a:off x="8005876" y="4937760"/>
            <a:ext cx="3454298" cy="1600199"/>
          </a:xfrm>
          <a:prstGeom prst="rect">
            <a:avLst/>
          </a:prstGeom>
          <a:solidFill>
            <a:srgbClr val="FFFF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005876" y="4937760"/>
            <a:ext cx="3454298" cy="603504"/>
          </a:xfrm>
          <a:prstGeom prst="rect">
            <a:avLst/>
          </a:prstGeom>
          <a:solidFill>
            <a:srgbClr val="1A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170468" y="4974336"/>
            <a:ext cx="3125114" cy="530352"/>
          </a:xfrm>
          <a:prstGeom prst="rect">
            <a:avLst/>
          </a:prstGeom>
          <a:noFill/>
        </p:spPr>
        <p:txBody>
          <a:bodyPr wrap="square">
            <a:spAutoFit/>
          </a:bodyPr>
          <a:lstStyle/>
          <a:p>
            <a:pPr>
              <a:defRPr sz="1350" b="1">
                <a:solidFill>
                  <a:srgbClr val="FFFFFF"/>
                </a:solidFill>
                <a:latin typeface="Arial"/>
              </a:defRPr>
            </a:pPr>
            <a:r>
              <a:t>3. TẦNG 3: VÀNH ĐAI &amp; VEN ĐÔ (60 - 80 TR/M²)</a:t>
            </a:r>
          </a:p>
        </p:txBody>
      </p:sp>
      <p:sp>
        <p:nvSpPr>
          <p:cNvPr id="18" name="TextBox 17"/>
          <p:cNvSpPr txBox="1"/>
          <p:nvPr/>
        </p:nvSpPr>
        <p:spPr>
          <a:xfrm>
            <a:off x="8188756" y="5632704"/>
            <a:ext cx="3088538" cy="813815"/>
          </a:xfrm>
          <a:prstGeom prst="rect">
            <a:avLst/>
          </a:prstGeom>
          <a:noFill/>
        </p:spPr>
        <p:txBody>
          <a:bodyPr wrap="square">
            <a:spAutoFit/>
          </a:bodyPr>
          <a:lstStyle/>
          <a:p>
            <a:pPr>
              <a:spcBef>
                <a:spcPts val="400"/>
              </a:spcBef>
              <a:defRPr sz="1350">
                <a:solidFill>
                  <a:srgbClr val="1E293B"/>
                </a:solidFill>
                <a:latin typeface="Arial"/>
              </a:defRPr>
            </a:pPr>
            <a:r>
              <a:t>Bắc Từ Liêm, Hoàng Mai, Long Biên, Hà Đông, Thanh Trì. Mặt bằng giá mềm, quỹ đất rộng, là lựa chọn an cư của các gia đình trẻ.</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60120"/>
          </a:xfrm>
          <a:prstGeom prst="rect">
            <a:avLst/>
          </a:prstGeom>
          <a:solidFill>
            <a:srgbClr val="0F22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32688"/>
            <a:ext cx="12191695" cy="36576"/>
          </a:xfrm>
          <a:prstGeom prst="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146304"/>
            <a:ext cx="10728655" cy="658368"/>
          </a:xfrm>
          <a:prstGeom prst="rect">
            <a:avLst/>
          </a:prstGeom>
          <a:noFill/>
        </p:spPr>
        <p:txBody>
          <a:bodyPr wrap="square">
            <a:spAutoFit/>
          </a:bodyPr>
          <a:lstStyle/>
          <a:p>
            <a:pPr>
              <a:defRPr sz="2200" b="1">
                <a:solidFill>
                  <a:srgbClr val="FFFFFF"/>
                </a:solidFill>
                <a:latin typeface="Arial"/>
              </a:defRPr>
            </a:pPr>
            <a:r>
              <a:t>So Sánh 4 Phương Pháp Hồi Quy Tuyến Tính &amp; Điều Chuẩn (Tuần 10)</a:t>
            </a:r>
          </a:p>
        </p:txBody>
      </p:sp>
      <p:graphicFrame>
        <p:nvGraphicFramePr>
          <p:cNvPr id="5" name="Table 4"/>
          <p:cNvGraphicFramePr>
            <a:graphicFrameLocks noGrp="1"/>
          </p:cNvGraphicFramePr>
          <p:nvPr/>
        </p:nvGraphicFramePr>
        <p:xfrm>
          <a:off x="731520" y="1234440"/>
          <a:ext cx="10728655" cy="3291840"/>
        </p:xfrm>
        <a:graphic>
          <a:graphicData uri="http://schemas.openxmlformats.org/drawingml/2006/table">
            <a:tbl>
              <a:tblPr firstRow="1" bandRow="1">
                <a:tableStyleId>{5C22544A-7EE6-4342-B048-85BDC9FD1C3A}</a:tableStyleId>
              </a:tblPr>
              <a:tblGrid>
                <a:gridCol w="2560320"/>
                <a:gridCol w="2011680"/>
                <a:gridCol w="2011680"/>
                <a:gridCol w="4144975"/>
              </a:tblGrid>
              <a:tr h="658368">
                <a:tc>
                  <a:txBody>
                    <a:bodyPr/>
                    <a:lstStyle/>
                    <a:p>
                      <a:pPr algn="ctr">
                        <a:defRPr b="1" sz="1400">
                          <a:solidFill>
                            <a:srgbClr val="FFFFFF"/>
                          </a:solidFill>
                          <a:latin typeface="Arial"/>
                        </a:defRPr>
                      </a:pPr>
                      <a:r>
                        <a:t>Phương Pháp Hồi Quy</a:t>
                      </a:r>
                    </a:p>
                  </a:txBody>
                  <a:tcPr anchor="ctr">
                    <a:solidFill>
                      <a:srgbClr val="1A365D"/>
                    </a:solidFill>
                  </a:tcPr>
                </a:tc>
                <a:tc>
                  <a:txBody>
                    <a:bodyPr/>
                    <a:lstStyle/>
                    <a:p>
                      <a:pPr algn="ctr">
                        <a:defRPr b="1" sz="1400">
                          <a:solidFill>
                            <a:srgbClr val="FFFFFF"/>
                          </a:solidFill>
                          <a:latin typeface="Arial"/>
                        </a:defRPr>
                      </a:pPr>
                      <a:r>
                        <a:t>Sai Số MAE (tr/m²)</a:t>
                      </a:r>
                    </a:p>
                  </a:txBody>
                  <a:tcPr anchor="ctr">
                    <a:solidFill>
                      <a:srgbClr val="1A365D"/>
                    </a:solidFill>
                  </a:tcPr>
                </a:tc>
                <a:tc>
                  <a:txBody>
                    <a:bodyPr/>
                    <a:lstStyle/>
                    <a:p>
                      <a:pPr algn="ctr">
                        <a:defRPr b="1" sz="1400">
                          <a:solidFill>
                            <a:srgbClr val="FFFFFF"/>
                          </a:solidFill>
                          <a:latin typeface="Arial"/>
                        </a:defRPr>
                      </a:pPr>
                      <a:r>
                        <a:t>Độ Phù Hợp (R²)</a:t>
                      </a:r>
                    </a:p>
                  </a:txBody>
                  <a:tcPr anchor="ctr">
                    <a:solidFill>
                      <a:srgbClr val="1A365D"/>
                    </a:solidFill>
                  </a:tcPr>
                </a:tc>
                <a:tc>
                  <a:txBody>
                    <a:bodyPr/>
                    <a:lstStyle/>
                    <a:p>
                      <a:pPr algn="ctr">
                        <a:defRPr b="1" sz="1400">
                          <a:solidFill>
                            <a:srgbClr val="FFFFFF"/>
                          </a:solidFill>
                          <a:latin typeface="Arial"/>
                        </a:defRPr>
                      </a:pPr>
                      <a:r>
                        <a:t>Nhận Xét &amp; Đánh Giá Kỹ Thuật</a:t>
                      </a:r>
                    </a:p>
                  </a:txBody>
                  <a:tcPr anchor="ctr">
                    <a:solidFill>
                      <a:srgbClr val="1A365D"/>
                    </a:solidFill>
                  </a:tcPr>
                </a:tc>
              </a:tr>
              <a:tr h="658368">
                <a:tc>
                  <a:txBody>
                    <a:bodyPr/>
                    <a:lstStyle/>
                    <a:p>
                      <a:pPr>
                        <a:defRPr sz="1300">
                          <a:solidFill>
                            <a:srgbClr val="1E293B"/>
                          </a:solidFill>
                          <a:latin typeface="Arial"/>
                        </a:defRPr>
                      </a:pPr>
                      <a:r>
                        <a:t>Hồi quy Tuyến tính OLS</a:t>
                      </a:r>
                    </a:p>
                  </a:txBody>
                  <a:tcPr anchor="ctr">
                    <a:solidFill>
                      <a:srgbClr val="FFFFFF"/>
                    </a:solidFill>
                  </a:tcPr>
                </a:tc>
                <a:tc>
                  <a:txBody>
                    <a:bodyPr/>
                    <a:lstStyle/>
                    <a:p>
                      <a:pPr algn="ctr">
                        <a:defRPr sz="1300">
                          <a:solidFill>
                            <a:srgbClr val="1E293B"/>
                          </a:solidFill>
                          <a:latin typeface="Arial"/>
                        </a:defRPr>
                      </a:pPr>
                      <a:r>
                        <a:t>28.5 triệu/m²</a:t>
                      </a:r>
                    </a:p>
                  </a:txBody>
                  <a:tcPr anchor="ctr">
                    <a:solidFill>
                      <a:srgbClr val="FFFFFF"/>
                    </a:solidFill>
                  </a:tcPr>
                </a:tc>
                <a:tc>
                  <a:txBody>
                    <a:bodyPr/>
                    <a:lstStyle/>
                    <a:p>
                      <a:pPr algn="ctr">
                        <a:defRPr sz="1300">
                          <a:solidFill>
                            <a:srgbClr val="1E293B"/>
                          </a:solidFill>
                          <a:latin typeface="Arial"/>
                        </a:defRPr>
                      </a:pPr>
                      <a:r>
                        <a:t>0.36</a:t>
                      </a:r>
                    </a:p>
                  </a:txBody>
                  <a:tcPr anchor="ctr">
                    <a:solidFill>
                      <a:srgbClr val="FFFFFF"/>
                    </a:solidFill>
                  </a:tcPr>
                </a:tc>
                <a:tc>
                  <a:txBody>
                    <a:bodyPr/>
                    <a:lstStyle/>
                    <a:p>
                      <a:pPr>
                        <a:defRPr sz="1300">
                          <a:solidFill>
                            <a:srgbClr val="1E293B"/>
                          </a:solidFill>
                          <a:latin typeface="Arial"/>
                        </a:defRPr>
                      </a:pPr>
                      <a:r>
                        <a:t>Mô hình cơ sở; gặp vấn đề sai số phình to ở nhóm nhà đắt tiền.</a:t>
                      </a:r>
                    </a:p>
                  </a:txBody>
                  <a:tcPr anchor="ctr">
                    <a:solidFill>
                      <a:srgbClr val="FFFFFF"/>
                    </a:solidFill>
                  </a:tcPr>
                </a:tc>
              </a:tr>
              <a:tr h="658368">
                <a:tc>
                  <a:txBody>
                    <a:bodyPr/>
                    <a:lstStyle/>
                    <a:p>
                      <a:pPr>
                        <a:defRPr sz="1300">
                          <a:solidFill>
                            <a:srgbClr val="1E293B"/>
                          </a:solidFill>
                          <a:latin typeface="Arial"/>
                        </a:defRPr>
                      </a:pPr>
                      <a:r>
                        <a:t>Hồi quy Ridge (L2)</a:t>
                      </a:r>
                    </a:p>
                  </a:txBody>
                  <a:tcPr anchor="ctr">
                    <a:solidFill>
                      <a:srgbClr val="F8FAFC"/>
                    </a:solidFill>
                  </a:tcPr>
                </a:tc>
                <a:tc>
                  <a:txBody>
                    <a:bodyPr/>
                    <a:lstStyle/>
                    <a:p>
                      <a:pPr algn="ctr">
                        <a:defRPr sz="1300">
                          <a:solidFill>
                            <a:srgbClr val="1E293B"/>
                          </a:solidFill>
                          <a:latin typeface="Arial"/>
                        </a:defRPr>
                      </a:pPr>
                      <a:r>
                        <a:t>28.5 triệu/m²</a:t>
                      </a:r>
                    </a:p>
                  </a:txBody>
                  <a:tcPr anchor="ctr">
                    <a:solidFill>
                      <a:srgbClr val="F8FAFC"/>
                    </a:solidFill>
                  </a:tcPr>
                </a:tc>
                <a:tc>
                  <a:txBody>
                    <a:bodyPr/>
                    <a:lstStyle/>
                    <a:p>
                      <a:pPr algn="ctr">
                        <a:defRPr sz="1300">
                          <a:solidFill>
                            <a:srgbClr val="1E293B"/>
                          </a:solidFill>
                          <a:latin typeface="Arial"/>
                        </a:defRPr>
                      </a:pPr>
                      <a:r>
                        <a:t>0.36</a:t>
                      </a:r>
                    </a:p>
                  </a:txBody>
                  <a:tcPr anchor="ctr">
                    <a:solidFill>
                      <a:srgbClr val="F8FAFC"/>
                    </a:solidFill>
                  </a:tcPr>
                </a:tc>
                <a:tc>
                  <a:txBody>
                    <a:bodyPr/>
                    <a:lstStyle/>
                    <a:p>
                      <a:pPr>
                        <a:defRPr sz="1300">
                          <a:solidFill>
                            <a:srgbClr val="1E293B"/>
                          </a:solidFill>
                          <a:latin typeface="Arial"/>
                        </a:defRPr>
                      </a:pPr>
                      <a:r>
                        <a:t>Phạt bình phương hệ số; kiểm soát đa cộng tuyến giữa diện tích và số phòng.</a:t>
                      </a:r>
                    </a:p>
                  </a:txBody>
                  <a:tcPr anchor="ctr">
                    <a:solidFill>
                      <a:srgbClr val="F8FAFC"/>
                    </a:solidFill>
                  </a:tcPr>
                </a:tc>
              </a:tr>
              <a:tr h="658368">
                <a:tc>
                  <a:txBody>
                    <a:bodyPr/>
                    <a:lstStyle/>
                    <a:p>
                      <a:pPr>
                        <a:defRPr sz="1300">
                          <a:solidFill>
                            <a:srgbClr val="1E293B"/>
                          </a:solidFill>
                          <a:latin typeface="Arial"/>
                        </a:defRPr>
                      </a:pPr>
                      <a:r>
                        <a:t>Hồi quy Lasso (L1)</a:t>
                      </a:r>
                    </a:p>
                  </a:txBody>
                  <a:tcPr anchor="ctr">
                    <a:solidFill>
                      <a:srgbClr val="FFFFFF"/>
                    </a:solidFill>
                  </a:tcPr>
                </a:tc>
                <a:tc>
                  <a:txBody>
                    <a:bodyPr/>
                    <a:lstStyle/>
                    <a:p>
                      <a:pPr algn="ctr">
                        <a:defRPr sz="1300">
                          <a:solidFill>
                            <a:srgbClr val="1E293B"/>
                          </a:solidFill>
                          <a:latin typeface="Arial"/>
                        </a:defRPr>
                      </a:pPr>
                      <a:r>
                        <a:t>29.4 triệu/m²</a:t>
                      </a:r>
                    </a:p>
                  </a:txBody>
                  <a:tcPr anchor="ctr">
                    <a:solidFill>
                      <a:srgbClr val="FFFFFF"/>
                    </a:solidFill>
                  </a:tcPr>
                </a:tc>
                <a:tc>
                  <a:txBody>
                    <a:bodyPr/>
                    <a:lstStyle/>
                    <a:p>
                      <a:pPr algn="ctr">
                        <a:defRPr sz="1300">
                          <a:solidFill>
                            <a:srgbClr val="1E293B"/>
                          </a:solidFill>
                          <a:latin typeface="Arial"/>
                        </a:defRPr>
                      </a:pPr>
                      <a:r>
                        <a:t>0.30</a:t>
                      </a:r>
                    </a:p>
                  </a:txBody>
                  <a:tcPr anchor="ctr">
                    <a:solidFill>
                      <a:srgbClr val="FFFFFF"/>
                    </a:solidFill>
                  </a:tcPr>
                </a:tc>
                <a:tc>
                  <a:txBody>
                    <a:bodyPr/>
                    <a:lstStyle/>
                    <a:p>
                      <a:pPr>
                        <a:defRPr sz="1300">
                          <a:solidFill>
                            <a:srgbClr val="1E293B"/>
                          </a:solidFill>
                          <a:latin typeface="Arial"/>
                        </a:defRPr>
                      </a:pPr>
                      <a:r>
                        <a:t>Tính thưa hóa (Sparsity); tự động triệt tiêu các biến dư thừa về đúng 0.</a:t>
                      </a:r>
                    </a:p>
                  </a:txBody>
                  <a:tcPr anchor="ctr">
                    <a:solidFill>
                      <a:srgbClr val="FFFFFF"/>
                    </a:solidFill>
                  </a:tcPr>
                </a:tc>
              </a:tr>
              <a:tr h="658368">
                <a:tc>
                  <a:txBody>
                    <a:bodyPr/>
                    <a:lstStyle/>
                    <a:p>
                      <a:pPr>
                        <a:defRPr b="1" sz="1350">
                          <a:solidFill>
                            <a:srgbClr val="1A365D"/>
                          </a:solidFill>
                          <a:latin typeface="Arial"/>
                        </a:defRPr>
                      </a:pPr>
                      <a:r>
                        <a:t>Hồi quy Biến đổi Logarit</a:t>
                      </a:r>
                    </a:p>
                  </a:txBody>
                  <a:tcPr anchor="ctr">
                    <a:solidFill>
                      <a:srgbClr val="EAF3FE"/>
                    </a:solidFill>
                  </a:tcPr>
                </a:tc>
                <a:tc>
                  <a:txBody>
                    <a:bodyPr/>
                    <a:lstStyle/>
                    <a:p>
                      <a:pPr algn="ctr">
                        <a:defRPr b="1" sz="1350">
                          <a:solidFill>
                            <a:srgbClr val="1A365D"/>
                          </a:solidFill>
                          <a:latin typeface="Arial"/>
                        </a:defRPr>
                      </a:pPr>
                      <a:r>
                        <a:t>27.0 triệu/m²</a:t>
                      </a:r>
                    </a:p>
                  </a:txBody>
                  <a:tcPr anchor="ctr">
                    <a:solidFill>
                      <a:srgbClr val="EAF3FE"/>
                    </a:solidFill>
                  </a:tcPr>
                </a:tc>
                <a:tc>
                  <a:txBody>
                    <a:bodyPr/>
                    <a:lstStyle/>
                    <a:p>
                      <a:pPr algn="ctr">
                        <a:defRPr b="1" sz="1350">
                          <a:solidFill>
                            <a:srgbClr val="1A365D"/>
                          </a:solidFill>
                          <a:latin typeface="Arial"/>
                        </a:defRPr>
                      </a:pPr>
                      <a:r>
                        <a:t>0.34</a:t>
                      </a:r>
                    </a:p>
                  </a:txBody>
                  <a:tcPr anchor="ctr">
                    <a:solidFill>
                      <a:srgbClr val="EAF3FE"/>
                    </a:solidFill>
                  </a:tcPr>
                </a:tc>
                <a:tc>
                  <a:txBody>
                    <a:bodyPr/>
                    <a:lstStyle/>
                    <a:p>
                      <a:pPr>
                        <a:defRPr b="1" sz="1350">
                          <a:solidFill>
                            <a:srgbClr val="1A365D"/>
                          </a:solidFill>
                          <a:latin typeface="Arial"/>
                        </a:defRPr>
                      </a:pPr>
                      <a:r>
                        <a:t>🏆 TỐI ƯU NHẤT: Sai số MAE thấp nhất, nắn chuẩn phân phối phần dư.</a:t>
                      </a:r>
                    </a:p>
                  </a:txBody>
                  <a:tcPr anchor="ctr">
                    <a:solidFill>
                      <a:srgbClr val="EAF3FE"/>
                    </a:solidFill>
                  </a:tcPr>
                </a:tc>
              </a:tr>
            </a:tbl>
          </a:graphicData>
        </a:graphic>
      </p:graphicFrame>
      <p:sp>
        <p:nvSpPr>
          <p:cNvPr id="6" name="Rectangle 5"/>
          <p:cNvSpPr/>
          <p:nvPr/>
        </p:nvSpPr>
        <p:spPr>
          <a:xfrm>
            <a:off x="731520" y="4800600"/>
            <a:ext cx="10728655" cy="1600200"/>
          </a:xfrm>
          <a:prstGeom prst="rect">
            <a:avLst/>
          </a:prstGeom>
          <a:solidFill>
            <a:srgbClr val="0F2240"/>
          </a:solidFill>
          <a:ln w="1905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D97706"/>
                </a:solidFill>
                <a:latin typeface="Arial"/>
              </a:defRPr>
            </a:pPr>
            <a:r>
              <a:t>🏆 KẾT LUẬN CHIẾN LƯỢC PHÂN TÍCH HỒI QUY</a:t>
            </a:r>
          </a:p>
          <a:p>
            <a:pPr>
              <a:spcBef>
                <a:spcPts val="800"/>
              </a:spcBef>
              <a:defRPr sz="1300">
                <a:solidFill>
                  <a:srgbClr val="FFFFFF"/>
                </a:solidFill>
                <a:latin typeface="Arial"/>
              </a:defRPr>
            </a:pPr>
            <a:r>
              <a:t>• Mô hình Hồi quy Biến đổi Logarit đạt sai số MAE thấp nhất (27.0 triệu/m²), giải quyết triệt để hiện tượng phương sai thay đổi (Heteroscedasticity) của mô hình OLS gốc trên tập kiểm thử 7.481 bản ghi.</a:t>
            </a:r>
            <a:br/>
            <a:r>
              <a:t>• Kỹ thuật điều chuẩn Lasso (L1) và Ridge (L2) khắc phục hiệu quả hiện tượng đa cộng tuyến và tự động tinh gọn phương trình định giá, đáp ứng trọn vẹn yêu cầu học thuật của Tuần 10.</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60120"/>
          </a:xfrm>
          <a:prstGeom prst="rect">
            <a:avLst/>
          </a:prstGeom>
          <a:solidFill>
            <a:srgbClr val="0F22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32688"/>
            <a:ext cx="12191695" cy="36576"/>
          </a:xfrm>
          <a:prstGeom prst="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146304"/>
            <a:ext cx="10728655" cy="658368"/>
          </a:xfrm>
          <a:prstGeom prst="rect">
            <a:avLst/>
          </a:prstGeom>
          <a:noFill/>
        </p:spPr>
        <p:txBody>
          <a:bodyPr wrap="square">
            <a:spAutoFit/>
          </a:bodyPr>
          <a:lstStyle/>
          <a:p>
            <a:pPr>
              <a:defRPr sz="2200" b="1">
                <a:solidFill>
                  <a:srgbClr val="FFFFFF"/>
                </a:solidFill>
                <a:latin typeface="Arial"/>
              </a:defRPr>
            </a:pPr>
            <a:r>
              <a:t>Biểu Đồ 5: So Sánh Hiệu Năng 4 Phương Pháp Hồi Quy (Tuần 10)</a:t>
            </a:r>
          </a:p>
        </p:txBody>
      </p:sp>
      <p:sp>
        <p:nvSpPr>
          <p:cNvPr id="5" name="Rectangle 4"/>
          <p:cNvSpPr/>
          <p:nvPr/>
        </p:nvSpPr>
        <p:spPr>
          <a:xfrm>
            <a:off x="731520" y="1234440"/>
            <a:ext cx="10728655" cy="3520440"/>
          </a:xfrm>
          <a:prstGeom prst="rect">
            <a:avLst/>
          </a:prstGeom>
          <a:solidFill>
            <a:srgbClr val="FFFF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05_model_comparison.png"/>
          <p:cNvPicPr>
            <a:picLocks noChangeAspect="1"/>
          </p:cNvPicPr>
          <p:nvPr/>
        </p:nvPicPr>
        <p:blipFill>
          <a:blip r:embed="rId2"/>
          <a:stretch>
            <a:fillRect/>
          </a:stretch>
        </p:blipFill>
        <p:spPr>
          <a:xfrm>
            <a:off x="1372057" y="1307592"/>
            <a:ext cx="9447580" cy="3374136"/>
          </a:xfrm>
          <a:prstGeom prst="rect">
            <a:avLst/>
          </a:prstGeom>
        </p:spPr>
      </p:pic>
      <p:sp>
        <p:nvSpPr>
          <p:cNvPr id="7" name="Rectangle 6"/>
          <p:cNvSpPr/>
          <p:nvPr/>
        </p:nvSpPr>
        <p:spPr>
          <a:xfrm>
            <a:off x="731520" y="4937760"/>
            <a:ext cx="3454298" cy="1600199"/>
          </a:xfrm>
          <a:prstGeom prst="rect">
            <a:avLst/>
          </a:prstGeom>
          <a:solidFill>
            <a:srgbClr val="FFFF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31520" y="4937760"/>
            <a:ext cx="3454298" cy="603504"/>
          </a:xfrm>
          <a:prstGeom prst="rect">
            <a:avLst/>
          </a:prstGeom>
          <a:solidFill>
            <a:srgbClr val="1A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96112" y="4974336"/>
            <a:ext cx="3125114" cy="530352"/>
          </a:xfrm>
          <a:prstGeom prst="rect">
            <a:avLst/>
          </a:prstGeom>
          <a:noFill/>
        </p:spPr>
        <p:txBody>
          <a:bodyPr wrap="square">
            <a:spAutoFit/>
          </a:bodyPr>
          <a:lstStyle/>
          <a:p>
            <a:pPr>
              <a:defRPr sz="1350" b="1">
                <a:solidFill>
                  <a:srgbClr val="FFFFFF"/>
                </a:solidFill>
                <a:latin typeface="Arial"/>
              </a:defRPr>
            </a:pPr>
            <a:r>
              <a:t>1. HỒI QUY LOGARIT TỐI ƯU</a:t>
            </a:r>
          </a:p>
        </p:txBody>
      </p:sp>
      <p:sp>
        <p:nvSpPr>
          <p:cNvPr id="10" name="TextBox 9"/>
          <p:cNvSpPr txBox="1"/>
          <p:nvPr/>
        </p:nvSpPr>
        <p:spPr>
          <a:xfrm>
            <a:off x="914400" y="5632704"/>
            <a:ext cx="3088538" cy="813815"/>
          </a:xfrm>
          <a:prstGeom prst="rect">
            <a:avLst/>
          </a:prstGeom>
          <a:noFill/>
        </p:spPr>
        <p:txBody>
          <a:bodyPr wrap="square">
            <a:spAutoFit/>
          </a:bodyPr>
          <a:lstStyle/>
          <a:p>
            <a:pPr>
              <a:spcBef>
                <a:spcPts val="400"/>
              </a:spcBef>
              <a:defRPr sz="1350">
                <a:solidFill>
                  <a:srgbClr val="1E293B"/>
                </a:solidFill>
                <a:latin typeface="Arial"/>
              </a:defRPr>
            </a:pPr>
            <a:r>
              <a:t>Đạt sai số MAE thấp nhất (27.0 triệu/m²), nắn chuẩn sai số và giảm thiểu phạt quá mức cho các căn nhà giá cao.</a:t>
            </a:r>
          </a:p>
        </p:txBody>
      </p:sp>
      <p:sp>
        <p:nvSpPr>
          <p:cNvPr id="11" name="Rectangle 10"/>
          <p:cNvSpPr/>
          <p:nvPr/>
        </p:nvSpPr>
        <p:spPr>
          <a:xfrm>
            <a:off x="4368698" y="4937760"/>
            <a:ext cx="3454298" cy="1600199"/>
          </a:xfrm>
          <a:prstGeom prst="rect">
            <a:avLst/>
          </a:prstGeom>
          <a:solidFill>
            <a:srgbClr val="FFFF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368698" y="4937760"/>
            <a:ext cx="3454298" cy="603504"/>
          </a:xfrm>
          <a:prstGeom prst="rect">
            <a:avLst/>
          </a:prstGeom>
          <a:solidFill>
            <a:srgbClr val="1A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33290" y="4974336"/>
            <a:ext cx="3125114" cy="530352"/>
          </a:xfrm>
          <a:prstGeom prst="rect">
            <a:avLst/>
          </a:prstGeom>
          <a:noFill/>
        </p:spPr>
        <p:txBody>
          <a:bodyPr wrap="square">
            <a:spAutoFit/>
          </a:bodyPr>
          <a:lstStyle/>
          <a:p>
            <a:pPr>
              <a:defRPr sz="1350" b="1">
                <a:solidFill>
                  <a:srgbClr val="FFFFFF"/>
                </a:solidFill>
                <a:latin typeface="Arial"/>
              </a:defRPr>
            </a:pPr>
            <a:r>
              <a:t>2. ĐIỀU CHUẨN RIDGE &amp; LASSO</a:t>
            </a:r>
          </a:p>
        </p:txBody>
      </p:sp>
      <p:sp>
        <p:nvSpPr>
          <p:cNvPr id="14" name="TextBox 13"/>
          <p:cNvSpPr txBox="1"/>
          <p:nvPr/>
        </p:nvSpPr>
        <p:spPr>
          <a:xfrm>
            <a:off x="4551578" y="5632704"/>
            <a:ext cx="3088538" cy="813815"/>
          </a:xfrm>
          <a:prstGeom prst="rect">
            <a:avLst/>
          </a:prstGeom>
          <a:noFill/>
        </p:spPr>
        <p:txBody>
          <a:bodyPr wrap="square">
            <a:spAutoFit/>
          </a:bodyPr>
          <a:lstStyle/>
          <a:p>
            <a:pPr>
              <a:spcBef>
                <a:spcPts val="400"/>
              </a:spcBef>
              <a:defRPr sz="1350">
                <a:solidFill>
                  <a:srgbClr val="1E293B"/>
                </a:solidFill>
                <a:latin typeface="Arial"/>
              </a:defRPr>
            </a:pPr>
            <a:r>
              <a:t>Khắc phục triệt để hiện tượng đa cộng tuyến giữa diện tích sàn và diện tích đất, giữ phương trình hồi quy ổn định.</a:t>
            </a:r>
          </a:p>
        </p:txBody>
      </p:sp>
      <p:sp>
        <p:nvSpPr>
          <p:cNvPr id="15" name="Rectangle 14"/>
          <p:cNvSpPr/>
          <p:nvPr/>
        </p:nvSpPr>
        <p:spPr>
          <a:xfrm>
            <a:off x="8005876" y="4937760"/>
            <a:ext cx="3454298" cy="1600199"/>
          </a:xfrm>
          <a:prstGeom prst="rect">
            <a:avLst/>
          </a:prstGeom>
          <a:solidFill>
            <a:srgbClr val="FFFF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005876" y="4937760"/>
            <a:ext cx="3454298" cy="603504"/>
          </a:xfrm>
          <a:prstGeom prst="rect">
            <a:avLst/>
          </a:prstGeom>
          <a:solidFill>
            <a:srgbClr val="1A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170468" y="4974336"/>
            <a:ext cx="3125114" cy="530352"/>
          </a:xfrm>
          <a:prstGeom prst="rect">
            <a:avLst/>
          </a:prstGeom>
          <a:noFill/>
        </p:spPr>
        <p:txBody>
          <a:bodyPr wrap="square">
            <a:spAutoFit/>
          </a:bodyPr>
          <a:lstStyle/>
          <a:p>
            <a:pPr>
              <a:defRPr sz="1350" b="1">
                <a:solidFill>
                  <a:srgbClr val="FFFFFF"/>
                </a:solidFill>
                <a:latin typeface="Arial"/>
              </a:defRPr>
            </a:pPr>
            <a:r>
              <a:t>3. Ý NGHĨA KHOA HỌC DỮ LIỆU</a:t>
            </a:r>
          </a:p>
        </p:txBody>
      </p:sp>
      <p:sp>
        <p:nvSpPr>
          <p:cNvPr id="18" name="TextBox 17"/>
          <p:cNvSpPr txBox="1"/>
          <p:nvPr/>
        </p:nvSpPr>
        <p:spPr>
          <a:xfrm>
            <a:off x="8188756" y="5632704"/>
            <a:ext cx="3088538" cy="813815"/>
          </a:xfrm>
          <a:prstGeom prst="rect">
            <a:avLst/>
          </a:prstGeom>
          <a:noFill/>
        </p:spPr>
        <p:txBody>
          <a:bodyPr wrap="square">
            <a:spAutoFit/>
          </a:bodyPr>
          <a:lstStyle/>
          <a:p>
            <a:pPr>
              <a:spcBef>
                <a:spcPts val="400"/>
              </a:spcBef>
              <a:defRPr sz="1350">
                <a:solidFill>
                  <a:srgbClr val="1E293B"/>
                </a:solidFill>
                <a:latin typeface="Arial"/>
              </a:defRPr>
            </a:pPr>
            <a:r>
              <a:t>Khẳng định phân tích hồi quy có điều chuẩn và biến đổi thang đo là công cụ nền tảng chuẩn mực của học phần INFO3020.</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60120"/>
          </a:xfrm>
          <a:prstGeom prst="rect">
            <a:avLst/>
          </a:prstGeom>
          <a:solidFill>
            <a:srgbClr val="0F22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32688"/>
            <a:ext cx="12191695" cy="36576"/>
          </a:xfrm>
          <a:prstGeom prst="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146304"/>
            <a:ext cx="10728655" cy="658368"/>
          </a:xfrm>
          <a:prstGeom prst="rect">
            <a:avLst/>
          </a:prstGeom>
          <a:noFill/>
        </p:spPr>
        <p:txBody>
          <a:bodyPr wrap="square">
            <a:spAutoFit/>
          </a:bodyPr>
          <a:lstStyle/>
          <a:p>
            <a:pPr>
              <a:defRPr sz="2200" b="1">
                <a:solidFill>
                  <a:srgbClr val="FFFFFF"/>
                </a:solidFill>
                <a:latin typeface="Arial"/>
              </a:defRPr>
            </a:pPr>
            <a:r>
              <a:t>Biểu Đồ 6: Hệ Số Tác Động Của Các Đặc Tính Đến Đơn Giá (Mô Hình Hồi Quy)</a:t>
            </a:r>
          </a:p>
        </p:txBody>
      </p:sp>
      <p:sp>
        <p:nvSpPr>
          <p:cNvPr id="5" name="Rectangle 4"/>
          <p:cNvSpPr/>
          <p:nvPr/>
        </p:nvSpPr>
        <p:spPr>
          <a:xfrm>
            <a:off x="731520" y="1234440"/>
            <a:ext cx="6766560" cy="5166360"/>
          </a:xfrm>
          <a:prstGeom prst="rect">
            <a:avLst/>
          </a:prstGeom>
          <a:solidFill>
            <a:srgbClr val="FFFF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06_feature_importance.png"/>
          <p:cNvPicPr>
            <a:picLocks noChangeAspect="1"/>
          </p:cNvPicPr>
          <p:nvPr/>
        </p:nvPicPr>
        <p:blipFill>
          <a:blip r:embed="rId2"/>
          <a:stretch>
            <a:fillRect/>
          </a:stretch>
        </p:blipFill>
        <p:spPr>
          <a:xfrm>
            <a:off x="804672" y="1886712"/>
            <a:ext cx="6620256" cy="3861816"/>
          </a:xfrm>
          <a:prstGeom prst="rect">
            <a:avLst/>
          </a:prstGeom>
        </p:spPr>
      </p:pic>
      <p:sp>
        <p:nvSpPr>
          <p:cNvPr id="7" name="Rectangle 6"/>
          <p:cNvSpPr/>
          <p:nvPr/>
        </p:nvSpPr>
        <p:spPr>
          <a:xfrm>
            <a:off x="7726680" y="1234440"/>
            <a:ext cx="3733495" cy="5166360"/>
          </a:xfrm>
          <a:prstGeom prst="rect">
            <a:avLst/>
          </a:prstGeom>
          <a:solidFill>
            <a:srgbClr val="FFFF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26680" y="1234440"/>
            <a:ext cx="3733495" cy="438912"/>
          </a:xfrm>
          <a:prstGeom prst="rect">
            <a:avLst/>
          </a:prstGeom>
          <a:solidFill>
            <a:srgbClr val="1A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891272" y="1271016"/>
            <a:ext cx="3404311" cy="365760"/>
          </a:xfrm>
          <a:prstGeom prst="rect">
            <a:avLst/>
          </a:prstGeom>
          <a:noFill/>
        </p:spPr>
        <p:txBody>
          <a:bodyPr wrap="square">
            <a:spAutoFit/>
          </a:bodyPr>
          <a:lstStyle/>
          <a:p>
            <a:pPr>
              <a:defRPr sz="1400" b="1">
                <a:solidFill>
                  <a:srgbClr val="FFFFFF"/>
                </a:solidFill>
                <a:latin typeface="Arial"/>
              </a:defRPr>
            </a:pPr>
            <a:r>
              <a:t>HỆ SỐ HỒI QUY (BĐ 06)</a:t>
            </a:r>
          </a:p>
        </p:txBody>
      </p:sp>
      <p:sp>
        <p:nvSpPr>
          <p:cNvPr id="10" name="TextBox 9"/>
          <p:cNvSpPr txBox="1"/>
          <p:nvPr/>
        </p:nvSpPr>
        <p:spPr>
          <a:xfrm>
            <a:off x="7909560" y="1764792"/>
            <a:ext cx="3367735" cy="4544568"/>
          </a:xfrm>
          <a:prstGeom prst="rect">
            <a:avLst/>
          </a:prstGeom>
          <a:noFill/>
        </p:spPr>
        <p:txBody>
          <a:bodyPr wrap="square">
            <a:spAutoFit/>
          </a:bodyPr>
          <a:lstStyle/>
          <a:p>
            <a:pPr>
              <a:defRPr sz="1400" b="1">
                <a:solidFill>
                  <a:srgbClr val="D97706"/>
                </a:solidFill>
                <a:latin typeface="Arial"/>
              </a:defRPr>
            </a:pPr>
            <a:r>
              <a:t>Tác Dụng &amp; Mục Đích Biểu Đồ:</a:t>
            </a:r>
          </a:p>
          <a:p>
            <a:pPr>
              <a:spcBef>
                <a:spcPts val="300"/>
              </a:spcBef>
              <a:defRPr sz="1300">
                <a:solidFill>
                  <a:srgbClr val="1E293B"/>
                </a:solidFill>
                <a:latin typeface="Arial"/>
              </a:defRPr>
            </a:pPr>
            <a:r>
              <a:t>Quan sát chiều hướng và độ lớn tác động của từng đặc tính đến đơn giá m² thông qua hệ số hồi quy chuẩn hóa (Beta).</a:t>
            </a:r>
          </a:p>
          <a:p>
            <a:pPr>
              <a:spcBef>
                <a:spcPts val="1200"/>
              </a:spcBef>
              <a:defRPr sz="1400" b="1">
                <a:solidFill>
                  <a:srgbClr val="D97706"/>
                </a:solidFill>
                <a:latin typeface="Arial"/>
              </a:defRPr>
            </a:pPr>
            <a:r>
              <a:t>🥇 Vị Trí &amp; Loại Hình Chi Phối Lớn Nhất:</a:t>
            </a:r>
          </a:p>
          <a:p>
            <a:pPr>
              <a:spcBef>
                <a:spcPts val="300"/>
              </a:spcBef>
              <a:defRPr sz="1300">
                <a:solidFill>
                  <a:srgbClr val="1E293B"/>
                </a:solidFill>
                <a:latin typeface="Arial"/>
              </a:defRPr>
            </a:pPr>
            <a:r>
              <a:t>Yếu tố nhà trong ngõ và căn hộ làm giảm đơn giá so với mặt phố; vị trí nội đô tạo thặng dư giá trị vượt trội.</a:t>
            </a:r>
          </a:p>
          <a:p>
            <a:pPr>
              <a:spcBef>
                <a:spcPts val="1200"/>
              </a:spcBef>
              <a:defRPr sz="1400" b="1">
                <a:solidFill>
                  <a:srgbClr val="D97706"/>
                </a:solidFill>
                <a:latin typeface="Arial"/>
              </a:defRPr>
            </a:pPr>
            <a:r>
              <a:t>🥈 Quy Mô Diện Tích &amp; Chiều Cao:</a:t>
            </a:r>
          </a:p>
          <a:p>
            <a:pPr>
              <a:spcBef>
                <a:spcPts val="300"/>
              </a:spcBef>
              <a:defRPr sz="1300">
                <a:solidFill>
                  <a:srgbClr val="1E293B"/>
                </a:solidFill>
                <a:latin typeface="Arial"/>
              </a:defRPr>
            </a:pPr>
            <a:r>
              <a:t>Tổng diện tích sàn và số tầng là các nhân tố thuận chiều làm gia tăng tổng giá trị tài sản.</a:t>
            </a:r>
          </a:p>
          <a:p>
            <a:pPr>
              <a:spcBef>
                <a:spcPts val="1200"/>
              </a:spcBef>
              <a:defRPr sz="1400" b="1">
                <a:solidFill>
                  <a:srgbClr val="D97706"/>
                </a:solidFill>
                <a:latin typeface="Arial"/>
              </a:defRPr>
            </a:pPr>
            <a:r>
              <a:t>🥉 Ý Nghĩa Thực Tiễn:</a:t>
            </a:r>
          </a:p>
          <a:p>
            <a:pPr>
              <a:spcBef>
                <a:spcPts val="300"/>
              </a:spcBef>
              <a:defRPr sz="1300">
                <a:solidFill>
                  <a:srgbClr val="1E293B"/>
                </a:solidFill>
                <a:latin typeface="Arial"/>
              </a:defRPr>
            </a:pPr>
            <a:r>
              <a:t>Giúp lượng hóa chính xác mức độ tác động biên của từng yếu tố khi các đặc tính khác được giữ nguyên cố định.</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60120"/>
          </a:xfrm>
          <a:prstGeom prst="rect">
            <a:avLst/>
          </a:prstGeom>
          <a:solidFill>
            <a:srgbClr val="0F22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32688"/>
            <a:ext cx="12191695" cy="36576"/>
          </a:xfrm>
          <a:prstGeom prst="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146304"/>
            <a:ext cx="10728655" cy="658368"/>
          </a:xfrm>
          <a:prstGeom prst="rect">
            <a:avLst/>
          </a:prstGeom>
          <a:noFill/>
        </p:spPr>
        <p:txBody>
          <a:bodyPr wrap="square">
            <a:spAutoFit/>
          </a:bodyPr>
          <a:lstStyle/>
          <a:p>
            <a:pPr>
              <a:defRPr sz="2200" b="1">
                <a:solidFill>
                  <a:srgbClr val="FFFFFF"/>
                </a:solidFill>
                <a:latin typeface="Arial"/>
              </a:defRPr>
            </a:pPr>
            <a:r>
              <a:t>Khung Suy Luận Thống Kê &amp; Quy Trình Kiểm Định Giả Thuyết</a:t>
            </a:r>
          </a:p>
        </p:txBody>
      </p:sp>
      <p:sp>
        <p:nvSpPr>
          <p:cNvPr id="5" name="Rectangle 4"/>
          <p:cNvSpPr/>
          <p:nvPr/>
        </p:nvSpPr>
        <p:spPr>
          <a:xfrm>
            <a:off x="731520" y="1234440"/>
            <a:ext cx="5184648" cy="5166360"/>
          </a:xfrm>
          <a:prstGeom prst="rect">
            <a:avLst/>
          </a:prstGeom>
          <a:solidFill>
            <a:srgbClr val="1A365D"/>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731520" y="1234440"/>
            <a:ext cx="5184648" cy="603504"/>
          </a:xfrm>
          <a:prstGeom prst="rect">
            <a:avLst/>
          </a:prstGeom>
          <a:solidFill>
            <a:srgbClr val="0F22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96112" y="1271016"/>
            <a:ext cx="4855464" cy="530352"/>
          </a:xfrm>
          <a:prstGeom prst="rect">
            <a:avLst/>
          </a:prstGeom>
          <a:noFill/>
        </p:spPr>
        <p:txBody>
          <a:bodyPr wrap="square">
            <a:spAutoFit/>
          </a:bodyPr>
          <a:lstStyle/>
          <a:p>
            <a:pPr>
              <a:defRPr sz="1400" b="1">
                <a:solidFill>
                  <a:srgbClr val="FFFFFF"/>
                </a:solidFill>
                <a:latin typeface="Arial"/>
              </a:defRPr>
            </a:pPr>
            <a:r>
              <a:t>CÂY QUYẾT ĐỊNH LỰA CHỌN PHÉP KIỂM ĐỊNH</a:t>
            </a:r>
          </a:p>
        </p:txBody>
      </p:sp>
      <p:sp>
        <p:nvSpPr>
          <p:cNvPr id="8" name="TextBox 7"/>
          <p:cNvSpPr txBox="1"/>
          <p:nvPr/>
        </p:nvSpPr>
        <p:spPr>
          <a:xfrm>
            <a:off x="914400" y="1929384"/>
            <a:ext cx="4818888" cy="4379976"/>
          </a:xfrm>
          <a:prstGeom prst="rect">
            <a:avLst/>
          </a:prstGeom>
          <a:noFill/>
        </p:spPr>
        <p:txBody>
          <a:bodyPr wrap="square">
            <a:spAutoFit/>
          </a:bodyPr>
          <a:lstStyle/>
          <a:p>
            <a:pPr>
              <a:defRPr sz="1350" b="1">
                <a:solidFill>
                  <a:srgbClr val="D97706"/>
                </a:solidFill>
                <a:latin typeface="Arial"/>
              </a:defRPr>
            </a:pPr>
            <a:r>
              <a:t>• Bản chất Thống kê Suy luận:</a:t>
            </a:r>
          </a:p>
          <a:p>
            <a:pPr>
              <a:spcBef>
                <a:spcPts val="200"/>
              </a:spcBef>
              <a:defRPr sz="1300">
                <a:solidFill>
                  <a:srgbClr val="FFFFFF"/>
                </a:solidFill>
                <a:latin typeface="Arial"/>
              </a:defRPr>
            </a:pPr>
            <a:r>
              <a:t>Chuyển từ việc chỉ tóm tắt 37.402 bản ghi quan sát được sang khẳng định các quy luật trên toàn thể thị trường kèm mức độ tin cậy khoa học.</a:t>
            </a:r>
          </a:p>
          <a:p>
            <a:pPr>
              <a:spcBef>
                <a:spcPts val="1200"/>
              </a:spcBef>
              <a:defRPr sz="1350" b="1">
                <a:solidFill>
                  <a:srgbClr val="D97706"/>
                </a:solidFill>
                <a:latin typeface="Arial"/>
              </a:defRPr>
            </a:pPr>
            <a:r>
              <a:t>• 1. So sánh 2 nhóm (Nội đô vs Ngoại thành):</a:t>
            </a:r>
          </a:p>
          <a:p>
            <a:pPr>
              <a:spcBef>
                <a:spcPts val="200"/>
              </a:spcBef>
              <a:defRPr sz="1300">
                <a:solidFill>
                  <a:srgbClr val="FFFFFF"/>
                </a:solidFill>
                <a:latin typeface="Arial"/>
              </a:defRPr>
            </a:pPr>
            <a:r>
              <a:t>Phương sai hai nhóm không đồng nhất ➔ Áp dụng kiểm định Welch's t-test để so sánh mức chênh lệch trung bình một cách chính xác.</a:t>
            </a:r>
          </a:p>
          <a:p>
            <a:pPr>
              <a:spcBef>
                <a:spcPts val="1200"/>
              </a:spcBef>
              <a:defRPr sz="1350" b="1">
                <a:solidFill>
                  <a:srgbClr val="D97706"/>
                </a:solidFill>
                <a:latin typeface="Arial"/>
              </a:defRPr>
            </a:pPr>
            <a:r>
              <a:t>• 2. So sánh nhiều nhóm (12 Quận/Huyện):</a:t>
            </a:r>
          </a:p>
          <a:p>
            <a:pPr>
              <a:spcBef>
                <a:spcPts val="200"/>
              </a:spcBef>
              <a:defRPr sz="1300">
                <a:solidFill>
                  <a:srgbClr val="FFFFFF"/>
                </a:solidFill>
                <a:latin typeface="Arial"/>
              </a:defRPr>
            </a:pPr>
            <a:r>
              <a:t>Phân tích phương sai (ANOVA) kết hợp kiểm định đối sánh từng cặp (Tukey HSD) nhằm phát hiện các quận có mức giá tương đương.</a:t>
            </a:r>
          </a:p>
          <a:p>
            <a:pPr>
              <a:spcBef>
                <a:spcPts val="1200"/>
              </a:spcBef>
              <a:defRPr sz="1350" b="1">
                <a:solidFill>
                  <a:srgbClr val="D97706"/>
                </a:solidFill>
                <a:latin typeface="Arial"/>
              </a:defRPr>
            </a:pPr>
            <a:r>
              <a:t>• 3. Dữ liệu phân phối lệch:</a:t>
            </a:r>
          </a:p>
          <a:p>
            <a:pPr>
              <a:spcBef>
                <a:spcPts val="200"/>
              </a:spcBef>
              <a:defRPr sz="1300">
                <a:solidFill>
                  <a:srgbClr val="FFFFFF"/>
                </a:solidFill>
                <a:latin typeface="Arial"/>
              </a:defRPr>
            </a:pPr>
            <a:r>
              <a:t>Sử dụng kỹ thuật tái lấy mẫu không phụ thuộc phân phối chuẩn (Bootstrap) để xác định khoảng tin cậy 95% cho từng địa bàn.</a:t>
            </a:r>
          </a:p>
        </p:txBody>
      </p:sp>
      <p:sp>
        <p:nvSpPr>
          <p:cNvPr id="9" name="Rectangle 8"/>
          <p:cNvSpPr/>
          <p:nvPr/>
        </p:nvSpPr>
        <p:spPr>
          <a:xfrm>
            <a:off x="6275527" y="1234440"/>
            <a:ext cx="5184648" cy="5166360"/>
          </a:xfrm>
          <a:prstGeom prst="rect">
            <a:avLst/>
          </a:prstGeom>
          <a:solidFill>
            <a:srgbClr val="FFFF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275527" y="1234440"/>
            <a:ext cx="5184648" cy="603504"/>
          </a:xfrm>
          <a:prstGeom prst="rect">
            <a:avLst/>
          </a:prstGeom>
          <a:solidFill>
            <a:srgbClr val="1A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40119" y="1271016"/>
            <a:ext cx="4855464" cy="530352"/>
          </a:xfrm>
          <a:prstGeom prst="rect">
            <a:avLst/>
          </a:prstGeom>
          <a:noFill/>
        </p:spPr>
        <p:txBody>
          <a:bodyPr wrap="square">
            <a:spAutoFit/>
          </a:bodyPr>
          <a:lstStyle/>
          <a:p>
            <a:pPr>
              <a:defRPr sz="1400" b="1">
                <a:solidFill>
                  <a:srgbClr val="FFFFFF"/>
                </a:solidFill>
                <a:latin typeface="Arial"/>
              </a:defRPr>
            </a:pPr>
            <a:r>
              <a:t>QUY TRÌNH KIỂM ĐỊNH &amp; Ý NGHĨA THỰC TIỄN</a:t>
            </a:r>
          </a:p>
        </p:txBody>
      </p:sp>
      <p:sp>
        <p:nvSpPr>
          <p:cNvPr id="12" name="TextBox 11"/>
          <p:cNvSpPr txBox="1"/>
          <p:nvPr/>
        </p:nvSpPr>
        <p:spPr>
          <a:xfrm>
            <a:off x="6458407" y="1929384"/>
            <a:ext cx="4818888" cy="4379976"/>
          </a:xfrm>
          <a:prstGeom prst="rect">
            <a:avLst/>
          </a:prstGeom>
          <a:noFill/>
        </p:spPr>
        <p:txBody>
          <a:bodyPr wrap="square">
            <a:spAutoFit/>
          </a:bodyPr>
          <a:lstStyle/>
          <a:p>
            <a:pPr>
              <a:defRPr sz="1350" b="1">
                <a:solidFill>
                  <a:srgbClr val="D97706"/>
                </a:solidFill>
                <a:latin typeface="Arial"/>
              </a:defRPr>
            </a:pPr>
            <a:r>
              <a:t>• Thiết lập giả thuyết khách quan:</a:t>
            </a:r>
          </a:p>
          <a:p>
            <a:pPr>
              <a:spcBef>
                <a:spcPts val="200"/>
              </a:spcBef>
              <a:defRPr sz="1300">
                <a:solidFill>
                  <a:srgbClr val="1E293B"/>
                </a:solidFill>
                <a:latin typeface="Arial"/>
              </a:defRPr>
            </a:pPr>
            <a:r>
              <a:t>Đặt giả thuyết ban đầu là không có sự khác biệt trước khi quan sát số liệu, đảm bảo kết quả phân tích hoàn toàn trung thực và khoa học.</a:t>
            </a:r>
          </a:p>
          <a:p>
            <a:pPr>
              <a:spcBef>
                <a:spcPts val="1400"/>
              </a:spcBef>
              <a:defRPr sz="1350" b="1">
                <a:solidFill>
                  <a:srgbClr val="D97706"/>
                </a:solidFill>
                <a:latin typeface="Arial"/>
              </a:defRPr>
            </a:pPr>
            <a:r>
              <a:t>• Đo lường mức độ ảnh hưởng thực tế:</a:t>
            </a:r>
          </a:p>
          <a:p>
            <a:pPr>
              <a:spcBef>
                <a:spcPts val="200"/>
              </a:spcBef>
              <a:defRPr sz="1300">
                <a:solidFill>
                  <a:srgbClr val="1E293B"/>
                </a:solidFill>
                <a:latin typeface="Arial"/>
              </a:defRPr>
            </a:pPr>
            <a:r>
              <a:t>Không chỉ kiểm tra sự khác biệt có ý nghĩa thống kê mà còn đo lường độ lớn khoảng cách chênh lệch tính bằng triệu đồng/m² trong thực tế.</a:t>
            </a:r>
          </a:p>
          <a:p>
            <a:pPr>
              <a:spcBef>
                <a:spcPts val="1400"/>
              </a:spcBef>
              <a:defRPr sz="1350" b="1">
                <a:solidFill>
                  <a:srgbClr val="D97706"/>
                </a:solidFill>
                <a:latin typeface="Arial"/>
              </a:defRPr>
            </a:pPr>
            <a:r>
              <a:t>• Kiểm soát rủi ro kết luận:</a:t>
            </a:r>
          </a:p>
          <a:p>
            <a:pPr>
              <a:spcBef>
                <a:spcPts val="200"/>
              </a:spcBef>
              <a:defRPr sz="1300">
                <a:solidFill>
                  <a:srgbClr val="1E293B"/>
                </a:solidFill>
                <a:latin typeface="Arial"/>
              </a:defRPr>
            </a:pPr>
            <a:r>
              <a:t>Thiết lập ngưỡng tin cậy nghiêm ngặt nhằm tránh kết luận nhầm lẫn (tránh nhận định có sự khác biệt khi thực tế chỉ là do ngẫu nhiên).</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60120"/>
          </a:xfrm>
          <a:prstGeom prst="rect">
            <a:avLst/>
          </a:prstGeom>
          <a:solidFill>
            <a:srgbClr val="0F22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32688"/>
            <a:ext cx="12191695" cy="36576"/>
          </a:xfrm>
          <a:prstGeom prst="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146304"/>
            <a:ext cx="10728655" cy="658368"/>
          </a:xfrm>
          <a:prstGeom prst="rect">
            <a:avLst/>
          </a:prstGeom>
          <a:noFill/>
        </p:spPr>
        <p:txBody>
          <a:bodyPr wrap="square">
            <a:spAutoFit/>
          </a:bodyPr>
          <a:lstStyle/>
          <a:p>
            <a:pPr>
              <a:defRPr sz="2200" b="1">
                <a:solidFill>
                  <a:srgbClr val="FFFFFF"/>
                </a:solidFill>
                <a:latin typeface="Arial"/>
              </a:defRPr>
            </a:pPr>
            <a:r>
              <a:t>Thống Kê Suy Luận: So Sánh Giá Đất Nội Đô &amp; Ngoại Thành</a:t>
            </a:r>
          </a:p>
        </p:txBody>
      </p:sp>
      <p:sp>
        <p:nvSpPr>
          <p:cNvPr id="5" name="Rectangle 4"/>
          <p:cNvSpPr/>
          <p:nvPr/>
        </p:nvSpPr>
        <p:spPr>
          <a:xfrm>
            <a:off x="731520" y="1234440"/>
            <a:ext cx="5184648" cy="3840480"/>
          </a:xfrm>
          <a:prstGeom prst="rect">
            <a:avLst/>
          </a:prstGeom>
          <a:solidFill>
            <a:srgbClr val="FFFF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731520" y="1234440"/>
            <a:ext cx="5184648" cy="603504"/>
          </a:xfrm>
          <a:prstGeom prst="rect">
            <a:avLst/>
          </a:prstGeom>
          <a:solidFill>
            <a:srgbClr val="1A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96112" y="1271016"/>
            <a:ext cx="4855464" cy="530352"/>
          </a:xfrm>
          <a:prstGeom prst="rect">
            <a:avLst/>
          </a:prstGeom>
          <a:noFill/>
        </p:spPr>
        <p:txBody>
          <a:bodyPr wrap="square">
            <a:spAutoFit/>
          </a:bodyPr>
          <a:lstStyle/>
          <a:p>
            <a:pPr>
              <a:defRPr sz="1400" b="1">
                <a:solidFill>
                  <a:srgbClr val="FFFFFF"/>
                </a:solidFill>
                <a:latin typeface="Arial"/>
              </a:defRPr>
            </a:pPr>
            <a:r>
              <a:t>BẤT ĐỘNG SẢN NỘI ĐÔ (23.330 BẢN GHI)</a:t>
            </a:r>
          </a:p>
        </p:txBody>
      </p:sp>
      <p:sp>
        <p:nvSpPr>
          <p:cNvPr id="8" name="TextBox 7"/>
          <p:cNvSpPr txBox="1"/>
          <p:nvPr/>
        </p:nvSpPr>
        <p:spPr>
          <a:xfrm>
            <a:off x="914400" y="1929384"/>
            <a:ext cx="4818888" cy="3054096"/>
          </a:xfrm>
          <a:prstGeom prst="rect">
            <a:avLst/>
          </a:prstGeom>
          <a:noFill/>
        </p:spPr>
        <p:txBody>
          <a:bodyPr wrap="square">
            <a:spAutoFit/>
          </a:bodyPr>
          <a:lstStyle/>
          <a:p>
            <a:pPr>
              <a:defRPr sz="1350" b="1">
                <a:solidFill>
                  <a:srgbClr val="D97706"/>
                </a:solidFill>
                <a:latin typeface="Arial"/>
              </a:defRPr>
            </a:pPr>
            <a:r>
              <a:t>• Mặt bằng đơn giá thực tế:</a:t>
            </a:r>
          </a:p>
          <a:p>
            <a:pPr>
              <a:spcBef>
                <a:spcPts val="200"/>
              </a:spcBef>
              <a:defRPr sz="1300">
                <a:solidFill>
                  <a:srgbClr val="1E293B"/>
                </a:solidFill>
                <a:latin typeface="Arial"/>
              </a:defRPr>
            </a:pPr>
            <a:r>
              <a:t>Đơn giá trung bình đạt 114.2 triệu/m² (mức trung vị đạt 96.7 triệu/m²).</a:t>
            </a:r>
          </a:p>
          <a:p>
            <a:pPr>
              <a:spcBef>
                <a:spcPts val="1400"/>
              </a:spcBef>
              <a:defRPr sz="1350" b="1">
                <a:solidFill>
                  <a:srgbClr val="D97706"/>
                </a:solidFill>
                <a:latin typeface="Arial"/>
              </a:defRPr>
            </a:pPr>
            <a:r>
              <a:t>• Khu vực đại diện:</a:t>
            </a:r>
          </a:p>
          <a:p>
            <a:pPr>
              <a:spcBef>
                <a:spcPts val="200"/>
              </a:spcBef>
              <a:defRPr sz="1300">
                <a:solidFill>
                  <a:srgbClr val="1E293B"/>
                </a:solidFill>
                <a:latin typeface="Arial"/>
              </a:defRPr>
            </a:pPr>
            <a:r>
              <a:t>Gồm 7 quận trung tâm lịch sử: Hoàn Kiếm, Ba Đình, Đống Đa, Hai Bà Trưng, Cầu Giấy, Tây Hồ, Thanh Xuân.</a:t>
            </a:r>
          </a:p>
          <a:p>
            <a:pPr>
              <a:spcBef>
                <a:spcPts val="1400"/>
              </a:spcBef>
              <a:defRPr sz="1350" b="1">
                <a:solidFill>
                  <a:srgbClr val="D97706"/>
                </a:solidFill>
                <a:latin typeface="Arial"/>
              </a:defRPr>
            </a:pPr>
            <a:r>
              <a:t>• Đặc tính kinh tế cốt lõi:</a:t>
            </a:r>
          </a:p>
          <a:p>
            <a:pPr>
              <a:spcBef>
                <a:spcPts val="200"/>
              </a:spcBef>
              <a:defRPr sz="1300">
                <a:solidFill>
                  <a:srgbClr val="1E293B"/>
                </a:solidFill>
                <a:latin typeface="Arial"/>
              </a:defRPr>
            </a:pPr>
            <a:r>
              <a:t>Hạ tầng hoàn chỉnh, tiện ích thương mại dày đặc, quỹ đất khan hiếm tạo nên sàn giá cao bền vững.</a:t>
            </a:r>
          </a:p>
        </p:txBody>
      </p:sp>
      <p:sp>
        <p:nvSpPr>
          <p:cNvPr id="9" name="Rectangle 8"/>
          <p:cNvSpPr/>
          <p:nvPr/>
        </p:nvSpPr>
        <p:spPr>
          <a:xfrm>
            <a:off x="6275527" y="1234440"/>
            <a:ext cx="5184648" cy="3840480"/>
          </a:xfrm>
          <a:prstGeom prst="rect">
            <a:avLst/>
          </a:prstGeom>
          <a:solidFill>
            <a:srgbClr val="FFFF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275527" y="1234440"/>
            <a:ext cx="5184648" cy="603504"/>
          </a:xfrm>
          <a:prstGeom prst="rect">
            <a:avLst/>
          </a:prstGeom>
          <a:solidFill>
            <a:srgbClr val="1A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40119" y="1271016"/>
            <a:ext cx="4855464" cy="530352"/>
          </a:xfrm>
          <a:prstGeom prst="rect">
            <a:avLst/>
          </a:prstGeom>
          <a:noFill/>
        </p:spPr>
        <p:txBody>
          <a:bodyPr wrap="square">
            <a:spAutoFit/>
          </a:bodyPr>
          <a:lstStyle/>
          <a:p>
            <a:pPr>
              <a:defRPr sz="1400" b="1">
                <a:solidFill>
                  <a:srgbClr val="FFFFFF"/>
                </a:solidFill>
                <a:latin typeface="Arial"/>
              </a:defRPr>
            </a:pPr>
            <a:r>
              <a:t>BẤT ĐỘNG SẢN NGOẠI THÀNH (14.072 BẢN GHI)</a:t>
            </a:r>
          </a:p>
        </p:txBody>
      </p:sp>
      <p:sp>
        <p:nvSpPr>
          <p:cNvPr id="12" name="TextBox 11"/>
          <p:cNvSpPr txBox="1"/>
          <p:nvPr/>
        </p:nvSpPr>
        <p:spPr>
          <a:xfrm>
            <a:off x="6458407" y="1929384"/>
            <a:ext cx="4818888" cy="3054096"/>
          </a:xfrm>
          <a:prstGeom prst="rect">
            <a:avLst/>
          </a:prstGeom>
          <a:noFill/>
        </p:spPr>
        <p:txBody>
          <a:bodyPr wrap="square">
            <a:spAutoFit/>
          </a:bodyPr>
          <a:lstStyle/>
          <a:p>
            <a:pPr>
              <a:defRPr sz="1350" b="1">
                <a:solidFill>
                  <a:srgbClr val="D97706"/>
                </a:solidFill>
                <a:latin typeface="Arial"/>
              </a:defRPr>
            </a:pPr>
            <a:r>
              <a:t>• Mặt bằng đơn giá thực tế:</a:t>
            </a:r>
          </a:p>
          <a:p>
            <a:pPr>
              <a:spcBef>
                <a:spcPts val="200"/>
              </a:spcBef>
              <a:defRPr sz="1300">
                <a:solidFill>
                  <a:srgbClr val="1E293B"/>
                </a:solidFill>
                <a:latin typeface="Arial"/>
              </a:defRPr>
            </a:pPr>
            <a:r>
              <a:t>Đơn giá trung bình đạt 82.2 triệu/m² (mức trung vị đạt 76.8 triệu/m²).</a:t>
            </a:r>
          </a:p>
          <a:p>
            <a:pPr>
              <a:spcBef>
                <a:spcPts val="1400"/>
              </a:spcBef>
              <a:defRPr sz="1350" b="1">
                <a:solidFill>
                  <a:srgbClr val="D97706"/>
                </a:solidFill>
                <a:latin typeface="Arial"/>
              </a:defRPr>
            </a:pPr>
            <a:r>
              <a:t>• Khu vực đại diện:</a:t>
            </a:r>
          </a:p>
          <a:p>
            <a:pPr>
              <a:spcBef>
                <a:spcPts val="200"/>
              </a:spcBef>
              <a:defRPr sz="1300">
                <a:solidFill>
                  <a:srgbClr val="1E293B"/>
                </a:solidFill>
                <a:latin typeface="Arial"/>
              </a:defRPr>
            </a:pPr>
            <a:r>
              <a:t>Gồm các quận mở rộng và huyện ven đô: Hà Đông, Hoàng Mai, Long Biên, Bắc Từ Liêm, Thanh Trì...</a:t>
            </a:r>
          </a:p>
          <a:p>
            <a:pPr>
              <a:spcBef>
                <a:spcPts val="1400"/>
              </a:spcBef>
              <a:defRPr sz="1350" b="1">
                <a:solidFill>
                  <a:srgbClr val="D97706"/>
                </a:solidFill>
                <a:latin typeface="Arial"/>
              </a:defRPr>
            </a:pPr>
            <a:r>
              <a:t>• Đặc tính kinh tế cốt lõi:</a:t>
            </a:r>
          </a:p>
          <a:p>
            <a:pPr>
              <a:spcBef>
                <a:spcPts val="200"/>
              </a:spcBef>
              <a:defRPr sz="1300">
                <a:solidFill>
                  <a:srgbClr val="1E293B"/>
                </a:solidFill>
                <a:latin typeface="Arial"/>
              </a:defRPr>
            </a:pPr>
            <a:r>
              <a:t>Quỹ đất phát triển rộng, mặt bằng giá vừa túi tiền, phù hợp nhu cầu định cư số đông.</a:t>
            </a:r>
          </a:p>
        </p:txBody>
      </p:sp>
      <p:sp>
        <p:nvSpPr>
          <p:cNvPr id="13" name="Rectangle 12"/>
          <p:cNvSpPr/>
          <p:nvPr/>
        </p:nvSpPr>
        <p:spPr>
          <a:xfrm>
            <a:off x="731520" y="5257800"/>
            <a:ext cx="10728655" cy="1234440"/>
          </a:xfrm>
          <a:prstGeom prst="rect">
            <a:avLst/>
          </a:prstGeom>
          <a:solidFill>
            <a:srgbClr val="0F2240"/>
          </a:solidFill>
          <a:ln w="1905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350" b="1">
                <a:solidFill>
                  <a:srgbClr val="D97706"/>
                </a:solidFill>
                <a:latin typeface="Arial"/>
              </a:defRPr>
            </a:pPr>
            <a:r>
              <a:t>🔬 KẾT LUẬN KIỂM ĐỊNH THỐNG KÊ (SO SÁNH 2 VÙNG ĐỊA LÝ)</a:t>
            </a:r>
          </a:p>
          <a:p>
            <a:pPr>
              <a:spcBef>
                <a:spcPts val="600"/>
              </a:spcBef>
              <a:defRPr sz="1300">
                <a:solidFill>
                  <a:srgbClr val="FFFFFF"/>
                </a:solidFill>
                <a:latin typeface="Arial"/>
              </a:defRPr>
            </a:pPr>
            <a:r>
              <a:t>• Khẳng định khoa học: Giá nhà đất Nội đô cao hơn Ngoại thành trung bình 32.0 triệu/m² (+39.0%), sự khác biệt mang tính quy luật vững chắc của thị trường, hoàn toàn không phải do biến động ngẫu nhiên.</a:t>
            </a:r>
            <a:br/>
            <a:r>
              <a:t>• Ý nghĩa thực tiễn: Mức chênh lệch lớn khẳng định vị trí trung tâm vẫn là yếu tố nắm giữ thặng dư giá trị hàng đầu tại thị trường Hà Nội.</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60120"/>
          </a:xfrm>
          <a:prstGeom prst="rect">
            <a:avLst/>
          </a:prstGeom>
          <a:solidFill>
            <a:srgbClr val="0F22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32688"/>
            <a:ext cx="12191695" cy="36576"/>
          </a:xfrm>
          <a:prstGeom prst="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146304"/>
            <a:ext cx="10728655" cy="658368"/>
          </a:xfrm>
          <a:prstGeom prst="rect">
            <a:avLst/>
          </a:prstGeom>
          <a:noFill/>
        </p:spPr>
        <p:txBody>
          <a:bodyPr wrap="square">
            <a:spAutoFit/>
          </a:bodyPr>
          <a:lstStyle/>
          <a:p>
            <a:pPr>
              <a:defRPr sz="2200" b="1">
                <a:solidFill>
                  <a:srgbClr val="FFFFFF"/>
                </a:solidFill>
                <a:latin typeface="Arial"/>
              </a:defRPr>
            </a:pPr>
            <a:r>
              <a:t>Phân Tầng Giá 12 Quận/Huyện &amp; Nhận Diện Tài Sản Thay Thế</a:t>
            </a:r>
          </a:p>
        </p:txBody>
      </p:sp>
      <p:sp>
        <p:nvSpPr>
          <p:cNvPr id="5" name="Rectangle 4"/>
          <p:cNvSpPr/>
          <p:nvPr/>
        </p:nvSpPr>
        <p:spPr>
          <a:xfrm>
            <a:off x="731520" y="1234440"/>
            <a:ext cx="10728655" cy="1691640"/>
          </a:xfrm>
          <a:prstGeom prst="rect">
            <a:avLst/>
          </a:prstGeom>
          <a:solidFill>
            <a:srgbClr val="FFFF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731520" y="1234440"/>
            <a:ext cx="10728655" cy="603504"/>
          </a:xfrm>
          <a:prstGeom prst="rect">
            <a:avLst/>
          </a:prstGeom>
          <a:solidFill>
            <a:srgbClr val="1A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96112" y="1271016"/>
            <a:ext cx="10399471" cy="530352"/>
          </a:xfrm>
          <a:prstGeom prst="rect">
            <a:avLst/>
          </a:prstGeom>
          <a:noFill/>
        </p:spPr>
        <p:txBody>
          <a:bodyPr wrap="square">
            <a:spAutoFit/>
          </a:bodyPr>
          <a:lstStyle/>
          <a:p>
            <a:pPr>
              <a:defRPr sz="1400" b="1">
                <a:solidFill>
                  <a:srgbClr val="FFFFFF"/>
                </a:solidFill>
                <a:latin typeface="Arial"/>
              </a:defRPr>
            </a:pPr>
            <a:r>
              <a:t>KẾT QUẢ PHÂN TÍCH PHƯƠNG SAI &amp; ĐỐI SÁNH ĐA NHÓM GIỮA 12 QUẬN</a:t>
            </a:r>
          </a:p>
        </p:txBody>
      </p:sp>
      <p:sp>
        <p:nvSpPr>
          <p:cNvPr id="8" name="TextBox 7"/>
          <p:cNvSpPr txBox="1"/>
          <p:nvPr/>
        </p:nvSpPr>
        <p:spPr>
          <a:xfrm>
            <a:off x="914400" y="1929384"/>
            <a:ext cx="10362895" cy="905256"/>
          </a:xfrm>
          <a:prstGeom prst="rect">
            <a:avLst/>
          </a:prstGeom>
          <a:noFill/>
        </p:spPr>
        <p:txBody>
          <a:bodyPr wrap="square">
            <a:spAutoFit/>
          </a:bodyPr>
          <a:lstStyle/>
          <a:p>
            <a:pPr>
              <a:defRPr sz="1350" b="1">
                <a:solidFill>
                  <a:srgbClr val="D97706"/>
                </a:solidFill>
                <a:latin typeface="Arial"/>
              </a:defRPr>
            </a:pPr>
            <a:r>
              <a:t>• Phân tích phương sai (ANOVA): </a:t>
            </a:r>
            <a:r>
              <a:rPr sz="1300">
                <a:solidFill>
                  <a:srgbClr val="1E293B"/>
                </a:solidFill>
                <a:latin typeface="Arial"/>
              </a:rPr>
              <a:t>Khẳng định giữa 12 quận/huyện có sự phân tầng giá cực kỳ sâu sắc, vị trí địa lý quyết định mức sàn giá.</a:t>
            </a:r>
          </a:p>
          <a:p>
            <a:pPr>
              <a:spcBef>
                <a:spcPts val="800"/>
              </a:spcBef>
              <a:defRPr sz="1350" b="1">
                <a:solidFill>
                  <a:srgbClr val="D97706"/>
                </a:solidFill>
                <a:latin typeface="Arial"/>
              </a:defRPr>
            </a:pPr>
            <a:r>
              <a:t>• Kết quả kiểm định đối sánh từng cặp: </a:t>
            </a:r>
            <a:r>
              <a:rPr sz="1300">
                <a:solidFill>
                  <a:srgbClr val="1E293B"/>
                </a:solidFill>
                <a:latin typeface="Arial"/>
              </a:rPr>
              <a:t>Phát hiện chính xác 9 cặp quận có mặt bằng giá tương đương nhau, tạo thành các cụm tài sản thay thế hoàn hảo.</a:t>
            </a:r>
          </a:p>
        </p:txBody>
      </p:sp>
      <p:sp>
        <p:nvSpPr>
          <p:cNvPr id="9" name="Rectangle 8"/>
          <p:cNvSpPr/>
          <p:nvPr/>
        </p:nvSpPr>
        <p:spPr>
          <a:xfrm>
            <a:off x="731520" y="3108960"/>
            <a:ext cx="5184648" cy="3337560"/>
          </a:xfrm>
          <a:prstGeom prst="rect">
            <a:avLst/>
          </a:prstGeom>
          <a:solidFill>
            <a:srgbClr val="FFFF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31520" y="3108960"/>
            <a:ext cx="5184648" cy="603504"/>
          </a:xfrm>
          <a:prstGeom prst="rect">
            <a:avLst/>
          </a:prstGeom>
          <a:solidFill>
            <a:srgbClr val="1A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96112" y="3145536"/>
            <a:ext cx="4855464" cy="530352"/>
          </a:xfrm>
          <a:prstGeom prst="rect">
            <a:avLst/>
          </a:prstGeom>
          <a:noFill/>
        </p:spPr>
        <p:txBody>
          <a:bodyPr wrap="square">
            <a:spAutoFit/>
          </a:bodyPr>
          <a:lstStyle/>
          <a:p>
            <a:pPr>
              <a:defRPr sz="1400" b="1">
                <a:solidFill>
                  <a:srgbClr val="FFFFFF"/>
                </a:solidFill>
                <a:latin typeface="Arial"/>
              </a:defRPr>
            </a:pPr>
            <a:r>
              <a:t>9 CẶP QUẬN CÓ MẶT BẰNG GIÁ TƯƠNG ĐỒNG NHAU</a:t>
            </a:r>
          </a:p>
        </p:txBody>
      </p:sp>
      <p:sp>
        <p:nvSpPr>
          <p:cNvPr id="12" name="TextBox 11"/>
          <p:cNvSpPr txBox="1"/>
          <p:nvPr/>
        </p:nvSpPr>
        <p:spPr>
          <a:xfrm>
            <a:off x="914400" y="3803904"/>
            <a:ext cx="4818888" cy="2551176"/>
          </a:xfrm>
          <a:prstGeom prst="rect">
            <a:avLst/>
          </a:prstGeom>
          <a:noFill/>
        </p:spPr>
        <p:txBody>
          <a:bodyPr wrap="square">
            <a:spAutoFit/>
          </a:bodyPr>
          <a:lstStyle/>
          <a:p>
            <a:pPr>
              <a:defRPr sz="1350" b="1">
                <a:solidFill>
                  <a:srgbClr val="D97706"/>
                </a:solidFill>
                <a:latin typeface="Arial"/>
              </a:defRPr>
            </a:pPr>
            <a:r>
              <a:t>• Tam giác vàng trung tâm: </a:t>
            </a:r>
            <a:r>
              <a:rPr sz="1250">
                <a:solidFill>
                  <a:srgbClr val="1E293B"/>
                </a:solidFill>
                <a:latin typeface="Arial"/>
              </a:rPr>
              <a:t>Ba Đình (128.6 tr) ≈ Cầu Giấy (125.3 tr) ≈ Tây Hồ (123.7 tr/m²) tạo thành cụm giá cao nhất.</a:t>
            </a:r>
          </a:p>
          <a:p>
            <a:pPr>
              <a:spcBef>
                <a:spcPts val="1000"/>
              </a:spcBef>
              <a:defRPr sz="1350" b="1">
                <a:solidFill>
                  <a:srgbClr val="D97706"/>
                </a:solidFill>
                <a:latin typeface="Arial"/>
              </a:defRPr>
            </a:pPr>
            <a:r>
              <a:t>• Cặp cận trung tâm phía Nam: </a:t>
            </a:r>
            <a:r>
              <a:rPr sz="1250">
                <a:solidFill>
                  <a:srgbClr val="1E293B"/>
                </a:solidFill>
                <a:latin typeface="Arial"/>
              </a:rPr>
              <a:t>Hai Bà Trưng (102.6 tr) ≈ Thanh Xuân (102.7 tr/m²), mặt bằng giá gần như trùng khớp hoàn toàn.</a:t>
            </a:r>
          </a:p>
          <a:p>
            <a:pPr>
              <a:spcBef>
                <a:spcPts val="1000"/>
              </a:spcBef>
              <a:defRPr sz="1350" b="1">
                <a:solidFill>
                  <a:srgbClr val="D97706"/>
                </a:solidFill>
                <a:latin typeface="Arial"/>
              </a:defRPr>
            </a:pPr>
            <a:r>
              <a:t>• Chùm 4 quận mở rộng đồng nhất: </a:t>
            </a:r>
            <a:r>
              <a:rPr sz="1250">
                <a:solidFill>
                  <a:srgbClr val="1E293B"/>
                </a:solidFill>
                <a:latin typeface="Arial"/>
              </a:rPr>
              <a:t>Bắc Từ Liêm (83.9 tr) ≈ Hoàng Mai (83.8 tr) ≈ Long Biên (85.5 tr) ≈ Hà Đông (80.8 tr/m²).</a:t>
            </a:r>
          </a:p>
          <a:p>
            <a:pPr>
              <a:spcBef>
                <a:spcPts val="1000"/>
              </a:spcBef>
              <a:defRPr sz="1350" b="1">
                <a:solidFill>
                  <a:srgbClr val="D97706"/>
                </a:solidFill>
                <a:latin typeface="Arial"/>
              </a:defRPr>
            </a:pPr>
            <a:r>
              <a:t>• Nhóm huyện ven đô: </a:t>
            </a:r>
            <a:r>
              <a:rPr sz="1250">
                <a:solidFill>
                  <a:srgbClr val="1E293B"/>
                </a:solidFill>
                <a:latin typeface="Arial"/>
              </a:rPr>
              <a:t>Thanh Trì (62.9 tr/m²) định hình phân khúc giá mềm nhất trong nhóm nghiên cứu.</a:t>
            </a:r>
          </a:p>
        </p:txBody>
      </p:sp>
      <p:sp>
        <p:nvSpPr>
          <p:cNvPr id="13" name="Rectangle 12"/>
          <p:cNvSpPr/>
          <p:nvPr/>
        </p:nvSpPr>
        <p:spPr>
          <a:xfrm>
            <a:off x="6275527" y="3108960"/>
            <a:ext cx="5184648" cy="3337560"/>
          </a:xfrm>
          <a:prstGeom prst="rect">
            <a:avLst/>
          </a:prstGeom>
          <a:solidFill>
            <a:srgbClr val="FFFF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75527" y="3108960"/>
            <a:ext cx="5184648" cy="603504"/>
          </a:xfrm>
          <a:prstGeom prst="rect">
            <a:avLst/>
          </a:prstGeom>
          <a:solidFill>
            <a:srgbClr val="1A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40119" y="3145536"/>
            <a:ext cx="4855464" cy="530352"/>
          </a:xfrm>
          <a:prstGeom prst="rect">
            <a:avLst/>
          </a:prstGeom>
          <a:noFill/>
        </p:spPr>
        <p:txBody>
          <a:bodyPr wrap="square">
            <a:spAutoFit/>
          </a:bodyPr>
          <a:lstStyle/>
          <a:p>
            <a:pPr>
              <a:defRPr sz="1400" b="1">
                <a:solidFill>
                  <a:srgbClr val="FFFFFF"/>
                </a:solidFill>
                <a:latin typeface="Arial"/>
              </a:defRPr>
            </a:pPr>
            <a:r>
              <a:t>Ý NGHĨA KINH DOANH &amp; TỐI ƯU HÓA DANH MỤC</a:t>
            </a:r>
          </a:p>
        </p:txBody>
      </p:sp>
      <p:sp>
        <p:nvSpPr>
          <p:cNvPr id="16" name="TextBox 15"/>
          <p:cNvSpPr txBox="1"/>
          <p:nvPr/>
        </p:nvSpPr>
        <p:spPr>
          <a:xfrm>
            <a:off x="6458407" y="3803904"/>
            <a:ext cx="4818888" cy="2551176"/>
          </a:xfrm>
          <a:prstGeom prst="rect">
            <a:avLst/>
          </a:prstGeom>
          <a:noFill/>
        </p:spPr>
        <p:txBody>
          <a:bodyPr wrap="square">
            <a:spAutoFit/>
          </a:bodyPr>
          <a:lstStyle/>
          <a:p>
            <a:pPr>
              <a:defRPr sz="1350" b="1">
                <a:solidFill>
                  <a:srgbClr val="D97706"/>
                </a:solidFill>
                <a:latin typeface="Arial"/>
              </a:defRPr>
            </a:pPr>
            <a:r>
              <a:t>• Chiến lược tài sản thay thế (Substitute Assets):</a:t>
            </a:r>
          </a:p>
          <a:p>
            <a:pPr>
              <a:spcBef>
                <a:spcPts val="200"/>
              </a:spcBef>
              <a:defRPr sz="1250">
                <a:solidFill>
                  <a:srgbClr val="1E293B"/>
                </a:solidFill>
                <a:latin typeface="Arial"/>
              </a:defRPr>
            </a:pPr>
            <a:r>
              <a:t>Khi giá tại một quận bị đẩy lên quá cao, nhà đầu tư có thể chuyển dịch vốn sang quận lân cận có hạ tầng và mức giá tương đương.</a:t>
            </a:r>
          </a:p>
          <a:p>
            <a:pPr>
              <a:spcBef>
                <a:spcPts val="1000"/>
              </a:spcBef>
              <a:defRPr sz="1350" b="1">
                <a:solidFill>
                  <a:srgbClr val="D97706"/>
                </a:solidFill>
                <a:latin typeface="Arial"/>
              </a:defRPr>
            </a:pPr>
            <a:r>
              <a:t>• Phòng ngừa rủi ro định giá lệch:</a:t>
            </a:r>
          </a:p>
          <a:p>
            <a:pPr>
              <a:spcBef>
                <a:spcPts val="200"/>
              </a:spcBef>
              <a:defRPr sz="1250">
                <a:solidFill>
                  <a:srgbClr val="1E293B"/>
                </a:solidFill>
                <a:latin typeface="Arial"/>
              </a:defRPr>
            </a:pPr>
            <a:r>
              <a:t>Nhận diện những căn nhà bị chào giá lệch khỏi mức cân bằng của cụm quận tương đồng để thương lượng mức giá tốt hơn.</a:t>
            </a:r>
          </a:p>
          <a:p>
            <a:pPr>
              <a:spcBef>
                <a:spcPts val="1000"/>
              </a:spcBef>
              <a:defRPr sz="1350" b="1">
                <a:solidFill>
                  <a:srgbClr val="D97706"/>
                </a:solidFill>
                <a:latin typeface="Arial"/>
              </a:defRPr>
            </a:pPr>
            <a:r>
              <a:t>• Khuyến nghị cho khách hàng mua nhà:</a:t>
            </a:r>
          </a:p>
          <a:p>
            <a:pPr>
              <a:spcBef>
                <a:spcPts val="200"/>
              </a:spcBef>
              <a:defRPr sz="1250">
                <a:solidFill>
                  <a:srgbClr val="1E293B"/>
                </a:solidFill>
                <a:latin typeface="Arial"/>
              </a:defRPr>
            </a:pPr>
            <a:r>
              <a:t>Người mua với ngân sách khoảng 80 - 85 tr/m² có thể linh hoạt chuyển đổi giữa Bắc Từ Liêm, Hoàng Mai, Long Biên, Hà Đông.</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60120"/>
          </a:xfrm>
          <a:prstGeom prst="rect">
            <a:avLst/>
          </a:prstGeom>
          <a:solidFill>
            <a:srgbClr val="0F22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32688"/>
            <a:ext cx="12191695" cy="36576"/>
          </a:xfrm>
          <a:prstGeom prst="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146304"/>
            <a:ext cx="10728655" cy="658368"/>
          </a:xfrm>
          <a:prstGeom prst="rect">
            <a:avLst/>
          </a:prstGeom>
          <a:noFill/>
        </p:spPr>
        <p:txBody>
          <a:bodyPr wrap="square">
            <a:spAutoFit/>
          </a:bodyPr>
          <a:lstStyle/>
          <a:p>
            <a:pPr>
              <a:defRPr sz="2200" b="1">
                <a:solidFill>
                  <a:srgbClr val="FFFFFF"/>
                </a:solidFill>
                <a:latin typeface="Arial"/>
              </a:defRPr>
            </a:pPr>
            <a:r>
              <a:t>Biểu Đồ 7: Khoảng Giá Trị An Toàn Của Từng Quận/Huyện</a:t>
            </a:r>
          </a:p>
        </p:txBody>
      </p:sp>
      <p:sp>
        <p:nvSpPr>
          <p:cNvPr id="5" name="Rectangle 4"/>
          <p:cNvSpPr/>
          <p:nvPr/>
        </p:nvSpPr>
        <p:spPr>
          <a:xfrm>
            <a:off x="731520" y="1234440"/>
            <a:ext cx="6766560" cy="5166360"/>
          </a:xfrm>
          <a:prstGeom prst="rect">
            <a:avLst/>
          </a:prstGeom>
          <a:solidFill>
            <a:srgbClr val="FFFF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07_confidence_intervals_districts.png"/>
          <p:cNvPicPr>
            <a:picLocks noChangeAspect="1"/>
          </p:cNvPicPr>
          <p:nvPr/>
        </p:nvPicPr>
        <p:blipFill>
          <a:blip r:embed="rId2"/>
          <a:stretch>
            <a:fillRect/>
          </a:stretch>
        </p:blipFill>
        <p:spPr>
          <a:xfrm>
            <a:off x="804672" y="1886712"/>
            <a:ext cx="6620256" cy="3861816"/>
          </a:xfrm>
          <a:prstGeom prst="rect">
            <a:avLst/>
          </a:prstGeom>
        </p:spPr>
      </p:pic>
      <p:sp>
        <p:nvSpPr>
          <p:cNvPr id="7" name="Rectangle 6"/>
          <p:cNvSpPr/>
          <p:nvPr/>
        </p:nvSpPr>
        <p:spPr>
          <a:xfrm>
            <a:off x="7726680" y="1234440"/>
            <a:ext cx="3733495" cy="5166360"/>
          </a:xfrm>
          <a:prstGeom prst="rect">
            <a:avLst/>
          </a:prstGeom>
          <a:solidFill>
            <a:srgbClr val="FFFF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26680" y="1234440"/>
            <a:ext cx="3733495" cy="603504"/>
          </a:xfrm>
          <a:prstGeom prst="rect">
            <a:avLst/>
          </a:prstGeom>
          <a:solidFill>
            <a:srgbClr val="1A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891272" y="1271016"/>
            <a:ext cx="3404311" cy="530352"/>
          </a:xfrm>
          <a:prstGeom prst="rect">
            <a:avLst/>
          </a:prstGeom>
          <a:noFill/>
        </p:spPr>
        <p:txBody>
          <a:bodyPr wrap="square">
            <a:spAutoFit/>
          </a:bodyPr>
          <a:lstStyle/>
          <a:p>
            <a:pPr>
              <a:defRPr sz="1400" b="1">
                <a:solidFill>
                  <a:srgbClr val="FFFFFF"/>
                </a:solidFill>
                <a:latin typeface="Arial"/>
              </a:defRPr>
            </a:pPr>
            <a:r>
              <a:t>KHOẢNG GIÁ AN TOÀN (BĐ 07)</a:t>
            </a:r>
          </a:p>
        </p:txBody>
      </p:sp>
      <p:sp>
        <p:nvSpPr>
          <p:cNvPr id="10" name="TextBox 9"/>
          <p:cNvSpPr txBox="1"/>
          <p:nvPr/>
        </p:nvSpPr>
        <p:spPr>
          <a:xfrm>
            <a:off x="7909560" y="1929384"/>
            <a:ext cx="3367735" cy="4379976"/>
          </a:xfrm>
          <a:prstGeom prst="rect">
            <a:avLst/>
          </a:prstGeom>
          <a:noFill/>
        </p:spPr>
        <p:txBody>
          <a:bodyPr wrap="square">
            <a:spAutoFit/>
          </a:bodyPr>
          <a:lstStyle/>
          <a:p>
            <a:pPr>
              <a:defRPr sz="1400" b="1">
                <a:solidFill>
                  <a:srgbClr val="D97706"/>
                </a:solidFill>
                <a:latin typeface="Arial"/>
              </a:defRPr>
            </a:pPr>
            <a:r>
              <a:t>Tác Dụng &amp; Mục Đích Biểu Đồ:</a:t>
            </a:r>
          </a:p>
          <a:p>
            <a:pPr>
              <a:spcBef>
                <a:spcPts val="300"/>
              </a:spcBef>
              <a:defRPr sz="1300">
                <a:solidFill>
                  <a:srgbClr val="1E293B"/>
                </a:solidFill>
                <a:latin typeface="Arial"/>
              </a:defRPr>
            </a:pPr>
            <a:r>
              <a:t>Ước lượng dải biến thiên đơn giá thực tế của từng quận với độ tin cậy cao, xác định biên độ an toàn giữa mức giá sàn và mức giá trần.</a:t>
            </a:r>
          </a:p>
          <a:p>
            <a:pPr>
              <a:spcBef>
                <a:spcPts val="1200"/>
              </a:spcBef>
              <a:defRPr sz="1400" b="1">
                <a:solidFill>
                  <a:srgbClr val="D97706"/>
                </a:solidFill>
                <a:latin typeface="Arial"/>
              </a:defRPr>
            </a:pPr>
            <a:r>
              <a:t>Phương Pháp Ước Lượng Ổn Định:</a:t>
            </a:r>
          </a:p>
          <a:p>
            <a:pPr>
              <a:spcBef>
                <a:spcPts val="300"/>
              </a:spcBef>
              <a:defRPr sz="1300">
                <a:solidFill>
                  <a:srgbClr val="1E293B"/>
                </a:solidFill>
                <a:latin typeface="Arial"/>
              </a:defRPr>
            </a:pPr>
            <a:r>
              <a:t>Kỹ thuật ước lượng không phụ thuộc giả định chuẩn hóa, bảo toàn độ chính xác ngay cả ở các khu vực có phân phối giá phân tán mạnh.</a:t>
            </a:r>
          </a:p>
          <a:p>
            <a:pPr>
              <a:spcBef>
                <a:spcPts val="1200"/>
              </a:spcBef>
              <a:defRPr sz="1400" b="1">
                <a:solidFill>
                  <a:srgbClr val="D97706"/>
                </a:solidFill>
                <a:latin typeface="Arial"/>
              </a:defRPr>
            </a:pPr>
            <a:r>
              <a:t>Minh Chứng Cặp Quận Tương Đồng:</a:t>
            </a:r>
          </a:p>
          <a:p>
            <a:pPr>
              <a:spcBef>
                <a:spcPts val="300"/>
              </a:spcBef>
              <a:defRPr sz="1300">
                <a:solidFill>
                  <a:srgbClr val="1E293B"/>
                </a:solidFill>
                <a:latin typeface="Arial"/>
              </a:defRPr>
            </a:pPr>
            <a:r>
              <a:t>Thanh dải giá của Ba Đình, Cầu Giấy và Tây Hồ gối đè lên nhau, giải thích trực quan lý do tại sao 3 quận này có mức giá tương đương.</a:t>
            </a:r>
          </a:p>
          <a:p>
            <a:pPr>
              <a:spcBef>
                <a:spcPts val="1200"/>
              </a:spcBef>
              <a:defRPr sz="1400" b="1">
                <a:solidFill>
                  <a:srgbClr val="D97706"/>
                </a:solidFill>
                <a:latin typeface="Arial"/>
              </a:defRPr>
            </a:pPr>
            <a:r>
              <a:t>Ứng Dụng Quản Trị Rủi Ro Tín Dụng:</a:t>
            </a:r>
          </a:p>
          <a:p>
            <a:pPr>
              <a:spcBef>
                <a:spcPts val="300"/>
              </a:spcBef>
              <a:defRPr sz="1300">
                <a:solidFill>
                  <a:srgbClr val="1E293B"/>
                </a:solidFill>
                <a:latin typeface="Arial"/>
              </a:defRPr>
            </a:pPr>
            <a:r>
              <a:t>Ngân hàng có thể sử dụng mức cận an toàn của dải giá làm cơ sở xác định hạn mức cho vay thế chấp bất động sản.</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60120"/>
          </a:xfrm>
          <a:prstGeom prst="rect">
            <a:avLst/>
          </a:prstGeom>
          <a:solidFill>
            <a:srgbClr val="0F22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32688"/>
            <a:ext cx="12191695" cy="36576"/>
          </a:xfrm>
          <a:prstGeom prst="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146304"/>
            <a:ext cx="10728655" cy="658368"/>
          </a:xfrm>
          <a:prstGeom prst="rect">
            <a:avLst/>
          </a:prstGeom>
          <a:noFill/>
        </p:spPr>
        <p:txBody>
          <a:bodyPr wrap="square">
            <a:spAutoFit/>
          </a:bodyPr>
          <a:lstStyle/>
          <a:p>
            <a:pPr>
              <a:defRPr sz="2200" b="1">
                <a:solidFill>
                  <a:srgbClr val="FFFFFF"/>
                </a:solidFill>
                <a:latin typeface="Arial"/>
              </a:defRPr>
            </a:pPr>
            <a:r>
              <a:t>Tác Động Của Các Yếu Tố Đến Đơn Giá &amp; 3 Nguyên Tắc Diễn Giải</a:t>
            </a:r>
          </a:p>
        </p:txBody>
      </p:sp>
      <p:sp>
        <p:nvSpPr>
          <p:cNvPr id="5" name="Rectangle 4"/>
          <p:cNvSpPr/>
          <p:nvPr/>
        </p:nvSpPr>
        <p:spPr>
          <a:xfrm>
            <a:off x="731520" y="1234440"/>
            <a:ext cx="3931920" cy="5166360"/>
          </a:xfrm>
          <a:prstGeom prst="rect">
            <a:avLst/>
          </a:prstGeom>
          <a:solidFill>
            <a:srgbClr val="FFFF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731520" y="1234440"/>
            <a:ext cx="3931920" cy="603504"/>
          </a:xfrm>
          <a:prstGeom prst="rect">
            <a:avLst/>
          </a:prstGeom>
          <a:solidFill>
            <a:srgbClr val="1A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96112" y="1271016"/>
            <a:ext cx="3602736" cy="530352"/>
          </a:xfrm>
          <a:prstGeom prst="rect">
            <a:avLst/>
          </a:prstGeom>
          <a:noFill/>
        </p:spPr>
        <p:txBody>
          <a:bodyPr wrap="square">
            <a:spAutoFit/>
          </a:bodyPr>
          <a:lstStyle/>
          <a:p>
            <a:pPr>
              <a:defRPr sz="1350" b="1">
                <a:solidFill>
                  <a:srgbClr val="FFFFFF"/>
                </a:solidFill>
                <a:latin typeface="Arial"/>
              </a:defRPr>
            </a:pPr>
            <a:r>
              <a:t>MỨC ĐỘ TÁC ĐỘNG ĐẾN ĐƠN GIÁ (MẪU NGHIÊN CỨU)</a:t>
            </a:r>
          </a:p>
        </p:txBody>
      </p:sp>
      <p:sp>
        <p:nvSpPr>
          <p:cNvPr id="8" name="TextBox 7"/>
          <p:cNvSpPr txBox="1"/>
          <p:nvPr/>
        </p:nvSpPr>
        <p:spPr>
          <a:xfrm>
            <a:off x="914400" y="1929384"/>
            <a:ext cx="3566160" cy="4379976"/>
          </a:xfrm>
          <a:prstGeom prst="rect">
            <a:avLst/>
          </a:prstGeom>
          <a:noFill/>
        </p:spPr>
        <p:txBody>
          <a:bodyPr wrap="square">
            <a:spAutoFit/>
          </a:bodyPr>
          <a:lstStyle/>
          <a:p>
            <a:pPr>
              <a:defRPr sz="1350" b="1">
                <a:solidFill>
                  <a:srgbClr val="D97706"/>
                </a:solidFill>
                <a:latin typeface="Arial"/>
              </a:defRPr>
            </a:pPr>
            <a:r>
              <a:t>• Vị trí nội đô:</a:t>
            </a:r>
          </a:p>
          <a:p>
            <a:pPr>
              <a:spcBef>
                <a:spcPts val="200"/>
              </a:spcBef>
              <a:defRPr sz="1300">
                <a:solidFill>
                  <a:srgbClr val="1E293B"/>
                </a:solidFill>
                <a:latin typeface="Arial"/>
              </a:defRPr>
            </a:pPr>
            <a:r>
              <a:t>Cùng diện tích và số tầng, nhà nội đô gắn liền với mức giá cao hơn khoảng 33 triệu/m² so với ngoại thành.</a:t>
            </a:r>
          </a:p>
          <a:p>
            <a:pPr>
              <a:spcBef>
                <a:spcPts val="1400"/>
              </a:spcBef>
              <a:defRPr sz="1350" b="1">
                <a:solidFill>
                  <a:srgbClr val="D97706"/>
                </a:solidFill>
                <a:latin typeface="Arial"/>
              </a:defRPr>
            </a:pPr>
            <a:r>
              <a:t>• Vị trí trong ngõ hẻm:</a:t>
            </a:r>
          </a:p>
          <a:p>
            <a:pPr>
              <a:spcBef>
                <a:spcPts val="200"/>
              </a:spcBef>
              <a:defRPr sz="1300">
                <a:solidFill>
                  <a:srgbClr val="1E293B"/>
                </a:solidFill>
                <a:latin typeface="Arial"/>
              </a:defRPr>
            </a:pPr>
            <a:r>
              <a:t>Nhà trong ngõ hẻm gắn liền với mức giá thấp hơn khoảng 33 triệu/m² so với nhà mặt phố.</a:t>
            </a:r>
          </a:p>
          <a:p>
            <a:pPr>
              <a:spcBef>
                <a:spcPts val="1400"/>
              </a:spcBef>
              <a:defRPr sz="1350" b="1">
                <a:solidFill>
                  <a:srgbClr val="D97706"/>
                </a:solidFill>
                <a:latin typeface="Arial"/>
              </a:defRPr>
            </a:pPr>
            <a:r>
              <a:t>• Chiều rộng mặt tiền:</a:t>
            </a:r>
          </a:p>
          <a:p>
            <a:pPr>
              <a:spcBef>
                <a:spcPts val="200"/>
              </a:spcBef>
              <a:defRPr sz="1300">
                <a:solidFill>
                  <a:srgbClr val="1E293B"/>
                </a:solidFill>
                <a:latin typeface="Arial"/>
              </a:defRPr>
            </a:pPr>
            <a:r>
              <a:t>Mỗi mét mặt tiền mở rộng đi kèm với mức tăng thêm khoảng 2 triệu/m² đơn giá.</a:t>
            </a:r>
          </a:p>
          <a:p>
            <a:pPr>
              <a:spcBef>
                <a:spcPts val="1400"/>
              </a:spcBef>
              <a:defRPr sz="1350" b="1">
                <a:solidFill>
                  <a:srgbClr val="D97706"/>
                </a:solidFill>
                <a:latin typeface="Arial"/>
              </a:defRPr>
            </a:pPr>
            <a:r>
              <a:t>• Chiều sâu thửa đất:</a:t>
            </a:r>
          </a:p>
          <a:p>
            <a:pPr>
              <a:spcBef>
                <a:spcPts val="200"/>
              </a:spcBef>
              <a:defRPr sz="1300">
                <a:solidFill>
                  <a:srgbClr val="1E293B"/>
                </a:solidFill>
                <a:latin typeface="Arial"/>
              </a:defRPr>
            </a:pPr>
            <a:r>
              <a:t>Không cho thấy tác động rõ rệt đến đơn giá khi các yếu tố diện tích sàn và mặt tiền đã được xem xét.</a:t>
            </a:r>
          </a:p>
        </p:txBody>
      </p:sp>
      <p:sp>
        <p:nvSpPr>
          <p:cNvPr id="9" name="Rectangle 8"/>
          <p:cNvSpPr/>
          <p:nvPr/>
        </p:nvSpPr>
        <p:spPr>
          <a:xfrm>
            <a:off x="4983480" y="1234440"/>
            <a:ext cx="6476695" cy="1572768"/>
          </a:xfrm>
          <a:prstGeom prst="rect">
            <a:avLst/>
          </a:prstGeom>
          <a:solidFill>
            <a:srgbClr val="FFFF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983480" y="1234440"/>
            <a:ext cx="6476695" cy="603504"/>
          </a:xfrm>
          <a:prstGeom prst="rect">
            <a:avLst/>
          </a:prstGeom>
          <a:solidFill>
            <a:srgbClr val="1A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148072" y="1271016"/>
            <a:ext cx="6147511" cy="530352"/>
          </a:xfrm>
          <a:prstGeom prst="rect">
            <a:avLst/>
          </a:prstGeom>
          <a:noFill/>
        </p:spPr>
        <p:txBody>
          <a:bodyPr wrap="square">
            <a:spAutoFit/>
          </a:bodyPr>
          <a:lstStyle/>
          <a:p>
            <a:pPr>
              <a:defRPr sz="1350" b="1">
                <a:solidFill>
                  <a:srgbClr val="FFFFFF"/>
                </a:solidFill>
                <a:latin typeface="Arial"/>
              </a:defRPr>
            </a:pPr>
            <a:r>
              <a:t>1. NGUYÊN TẮC 1: KHÔNG KHẲNG ĐỊNH QUAN HỆ NHÂN QUẢ</a:t>
            </a:r>
          </a:p>
        </p:txBody>
      </p:sp>
      <p:sp>
        <p:nvSpPr>
          <p:cNvPr id="12" name="TextBox 11"/>
          <p:cNvSpPr txBox="1"/>
          <p:nvPr/>
        </p:nvSpPr>
        <p:spPr>
          <a:xfrm>
            <a:off x="5166360" y="1929384"/>
            <a:ext cx="6110935" cy="786384"/>
          </a:xfrm>
          <a:prstGeom prst="rect">
            <a:avLst/>
          </a:prstGeom>
          <a:noFill/>
        </p:spPr>
        <p:txBody>
          <a:bodyPr wrap="square">
            <a:spAutoFit/>
          </a:bodyPr>
          <a:lstStyle/>
          <a:p>
            <a:pPr>
              <a:spcBef>
                <a:spcPts val="400"/>
              </a:spcBef>
              <a:defRPr sz="1300">
                <a:solidFill>
                  <a:srgbClr val="1E293B"/>
                </a:solidFill>
                <a:latin typeface="Arial"/>
              </a:defRPr>
            </a:pPr>
            <a:r>
              <a:t>Bắt buộc dùng cụm từ 'gắn liền với / đi kèm với', không dùng từ 'gây ra'. Mô hình quan sát chỉ phản ánh mối liên hệ thống kê giữa các biến số, không chứng minh quan hệ nhân quả.</a:t>
            </a:r>
          </a:p>
        </p:txBody>
      </p:sp>
      <p:sp>
        <p:nvSpPr>
          <p:cNvPr id="13" name="Rectangle 12"/>
          <p:cNvSpPr/>
          <p:nvPr/>
        </p:nvSpPr>
        <p:spPr>
          <a:xfrm>
            <a:off x="4983480" y="3026664"/>
            <a:ext cx="6476695" cy="1572768"/>
          </a:xfrm>
          <a:prstGeom prst="rect">
            <a:avLst/>
          </a:prstGeom>
          <a:solidFill>
            <a:srgbClr val="FFFF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983480" y="3026664"/>
            <a:ext cx="6476695" cy="603504"/>
          </a:xfrm>
          <a:prstGeom prst="rect">
            <a:avLst/>
          </a:prstGeom>
          <a:solidFill>
            <a:srgbClr val="1A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148072" y="3063240"/>
            <a:ext cx="6147511" cy="530352"/>
          </a:xfrm>
          <a:prstGeom prst="rect">
            <a:avLst/>
          </a:prstGeom>
          <a:noFill/>
        </p:spPr>
        <p:txBody>
          <a:bodyPr wrap="square">
            <a:spAutoFit/>
          </a:bodyPr>
          <a:lstStyle/>
          <a:p>
            <a:pPr>
              <a:defRPr sz="1350" b="1">
                <a:solidFill>
                  <a:srgbClr val="FFFFFF"/>
                </a:solidFill>
                <a:latin typeface="Arial"/>
              </a:defRPr>
            </a:pPr>
            <a:r>
              <a:t>2. NGUYÊN TẮC 2: ĐIỀU KIỆN CỐ ĐỊNH CÁC YẾU TỐ KHÁC</a:t>
            </a:r>
          </a:p>
        </p:txBody>
      </p:sp>
      <p:sp>
        <p:nvSpPr>
          <p:cNvPr id="16" name="TextBox 15"/>
          <p:cNvSpPr txBox="1"/>
          <p:nvPr/>
        </p:nvSpPr>
        <p:spPr>
          <a:xfrm>
            <a:off x="5166360" y="3721608"/>
            <a:ext cx="6110935" cy="786384"/>
          </a:xfrm>
          <a:prstGeom prst="rect">
            <a:avLst/>
          </a:prstGeom>
          <a:noFill/>
        </p:spPr>
        <p:txBody>
          <a:bodyPr wrap="square">
            <a:spAutoFit/>
          </a:bodyPr>
          <a:lstStyle/>
          <a:p>
            <a:pPr>
              <a:spcBef>
                <a:spcPts val="400"/>
              </a:spcBef>
              <a:defRPr sz="1300">
                <a:solidFill>
                  <a:srgbClr val="1E293B"/>
                </a:solidFill>
                <a:latin typeface="Arial"/>
              </a:defRPr>
            </a:pPr>
            <a:r>
              <a:t>Mọi nhận định về mức tăng giảm giá chỉ có hiệu lực khi các đặc tính khác (diện tích, số tầng, vị trí) được giữ nguyên để cô lập tác động riêng lẻ của đặc tính đang xét.</a:t>
            </a:r>
          </a:p>
        </p:txBody>
      </p:sp>
      <p:sp>
        <p:nvSpPr>
          <p:cNvPr id="17" name="Rectangle 16"/>
          <p:cNvSpPr/>
          <p:nvPr/>
        </p:nvSpPr>
        <p:spPr>
          <a:xfrm>
            <a:off x="4983480" y="4818888"/>
            <a:ext cx="6476695" cy="1572768"/>
          </a:xfrm>
          <a:prstGeom prst="rect">
            <a:avLst/>
          </a:prstGeom>
          <a:solidFill>
            <a:srgbClr val="FFFF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983480" y="4818888"/>
            <a:ext cx="6476695" cy="603504"/>
          </a:xfrm>
          <a:prstGeom prst="rect">
            <a:avLst/>
          </a:prstGeom>
          <a:solidFill>
            <a:srgbClr val="1A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148072" y="4855464"/>
            <a:ext cx="6147511" cy="530352"/>
          </a:xfrm>
          <a:prstGeom prst="rect">
            <a:avLst/>
          </a:prstGeom>
          <a:noFill/>
        </p:spPr>
        <p:txBody>
          <a:bodyPr wrap="square">
            <a:spAutoFit/>
          </a:bodyPr>
          <a:lstStyle/>
          <a:p>
            <a:pPr>
              <a:defRPr sz="1350" b="1">
                <a:solidFill>
                  <a:srgbClr val="FFFFFF"/>
                </a:solidFill>
                <a:latin typeface="Arial"/>
              </a:defRPr>
            </a:pPr>
            <a:r>
              <a:t>3. NGUYÊN TẮC 3: GIỚI HẠN TRONG PHẠM VI DỮ LIỆU ĐÃ HỌC</a:t>
            </a:r>
          </a:p>
        </p:txBody>
      </p:sp>
      <p:sp>
        <p:nvSpPr>
          <p:cNvPr id="20" name="TextBox 19"/>
          <p:cNvSpPr txBox="1"/>
          <p:nvPr/>
        </p:nvSpPr>
        <p:spPr>
          <a:xfrm>
            <a:off x="5166360" y="5513832"/>
            <a:ext cx="6110935" cy="786384"/>
          </a:xfrm>
          <a:prstGeom prst="rect">
            <a:avLst/>
          </a:prstGeom>
          <a:noFill/>
        </p:spPr>
        <p:txBody>
          <a:bodyPr wrap="square">
            <a:spAutoFit/>
          </a:bodyPr>
          <a:lstStyle/>
          <a:p>
            <a:pPr>
              <a:spcBef>
                <a:spcPts val="400"/>
              </a:spcBef>
              <a:defRPr sz="1300">
                <a:solidFill>
                  <a:srgbClr val="1E293B"/>
                </a:solidFill>
                <a:latin typeface="Arial"/>
              </a:defRPr>
            </a:pPr>
            <a:r>
              <a:t>Kết quả phân tích chỉ có giá trị trong phạm vi dữ liệu quan sát (nhà đất phổ thông dưới 500 m² và dưới 500 tr/m²), tuyệt đối không suy diễn cho các dự án siêu biệt thự đặc thù.</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60120"/>
          </a:xfrm>
          <a:prstGeom prst="rect">
            <a:avLst/>
          </a:prstGeom>
          <a:solidFill>
            <a:srgbClr val="0F22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32688"/>
            <a:ext cx="12191695" cy="36576"/>
          </a:xfrm>
          <a:prstGeom prst="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146304"/>
            <a:ext cx="10728655" cy="658368"/>
          </a:xfrm>
          <a:prstGeom prst="rect">
            <a:avLst/>
          </a:prstGeom>
          <a:noFill/>
        </p:spPr>
        <p:txBody>
          <a:bodyPr wrap="square">
            <a:spAutoFit/>
          </a:bodyPr>
          <a:lstStyle/>
          <a:p>
            <a:pPr>
              <a:defRPr sz="2200" b="1">
                <a:solidFill>
                  <a:srgbClr val="FFFFFF"/>
                </a:solidFill>
                <a:latin typeface="Arial"/>
              </a:defRPr>
            </a:pPr>
            <a:r>
              <a:t>Biểu Đồ 8: Kiểm Tra Tính Hợp Lệ Của Mô Hình Hồi Quy</a:t>
            </a:r>
          </a:p>
        </p:txBody>
      </p:sp>
      <p:sp>
        <p:nvSpPr>
          <p:cNvPr id="5" name="Rectangle 4"/>
          <p:cNvSpPr/>
          <p:nvPr/>
        </p:nvSpPr>
        <p:spPr>
          <a:xfrm>
            <a:off x="731520" y="1234440"/>
            <a:ext cx="6766560" cy="5166360"/>
          </a:xfrm>
          <a:prstGeom prst="rect">
            <a:avLst/>
          </a:prstGeom>
          <a:solidFill>
            <a:srgbClr val="FFFF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08_line_assumptions_diagnostics.png"/>
          <p:cNvPicPr>
            <a:picLocks noChangeAspect="1"/>
          </p:cNvPicPr>
          <p:nvPr/>
        </p:nvPicPr>
        <p:blipFill>
          <a:blip r:embed="rId2"/>
          <a:stretch>
            <a:fillRect/>
          </a:stretch>
        </p:blipFill>
        <p:spPr>
          <a:xfrm>
            <a:off x="1023478" y="1307592"/>
            <a:ext cx="6182642" cy="5020056"/>
          </a:xfrm>
          <a:prstGeom prst="rect">
            <a:avLst/>
          </a:prstGeom>
        </p:spPr>
      </p:pic>
      <p:sp>
        <p:nvSpPr>
          <p:cNvPr id="7" name="Rectangle 6"/>
          <p:cNvSpPr/>
          <p:nvPr/>
        </p:nvSpPr>
        <p:spPr>
          <a:xfrm>
            <a:off x="7726680" y="1234440"/>
            <a:ext cx="3733495" cy="5166360"/>
          </a:xfrm>
          <a:prstGeom prst="rect">
            <a:avLst/>
          </a:prstGeom>
          <a:solidFill>
            <a:srgbClr val="FFFF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26680" y="1234440"/>
            <a:ext cx="3733495" cy="603504"/>
          </a:xfrm>
          <a:prstGeom prst="rect">
            <a:avLst/>
          </a:prstGeom>
          <a:solidFill>
            <a:srgbClr val="1A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891272" y="1271016"/>
            <a:ext cx="3404311" cy="530352"/>
          </a:xfrm>
          <a:prstGeom prst="rect">
            <a:avLst/>
          </a:prstGeom>
          <a:noFill/>
        </p:spPr>
        <p:txBody>
          <a:bodyPr wrap="square">
            <a:spAutoFit/>
          </a:bodyPr>
          <a:lstStyle/>
          <a:p>
            <a:pPr>
              <a:defRPr sz="1400" b="1">
                <a:solidFill>
                  <a:srgbClr val="FFFFFF"/>
                </a:solidFill>
                <a:latin typeface="Arial"/>
              </a:defRPr>
            </a:pPr>
            <a:r>
              <a:t>KIỂM ĐỊNH MÔ HÌNH (BĐ 08)</a:t>
            </a:r>
          </a:p>
        </p:txBody>
      </p:sp>
      <p:sp>
        <p:nvSpPr>
          <p:cNvPr id="10" name="TextBox 9"/>
          <p:cNvSpPr txBox="1"/>
          <p:nvPr/>
        </p:nvSpPr>
        <p:spPr>
          <a:xfrm>
            <a:off x="7909560" y="1929384"/>
            <a:ext cx="3367735" cy="4379976"/>
          </a:xfrm>
          <a:prstGeom prst="rect">
            <a:avLst/>
          </a:prstGeom>
          <a:noFill/>
        </p:spPr>
        <p:txBody>
          <a:bodyPr wrap="square">
            <a:spAutoFit/>
          </a:bodyPr>
          <a:lstStyle/>
          <a:p>
            <a:pPr>
              <a:defRPr sz="1400" b="1">
                <a:solidFill>
                  <a:srgbClr val="D97706"/>
                </a:solidFill>
                <a:latin typeface="Arial"/>
              </a:defRPr>
            </a:pPr>
            <a:r>
              <a:t>Tác Dụng &amp; Mục Đích Biểu Đồ:</a:t>
            </a:r>
          </a:p>
          <a:p>
            <a:pPr>
              <a:spcBef>
                <a:spcPts val="300"/>
              </a:spcBef>
              <a:defRPr sz="1300">
                <a:solidFill>
                  <a:srgbClr val="1E293B"/>
                </a:solidFill>
                <a:latin typeface="Arial"/>
              </a:defRPr>
            </a:pPr>
            <a:r>
              <a:t>Kiểm tra xem mô hình dự báo ban đầu có đáp ứng đầy đủ các điều kiện khoa học (tính chuẩn hóa và tính ổn định của sai số) hay không.</a:t>
            </a:r>
          </a:p>
          <a:p>
            <a:pPr>
              <a:spcBef>
                <a:spcPts val="1200"/>
              </a:spcBef>
              <a:defRPr sz="1400" b="1">
                <a:solidFill>
                  <a:srgbClr val="D97706"/>
                </a:solidFill>
                <a:latin typeface="Arial"/>
              </a:defRPr>
            </a:pPr>
            <a:r>
              <a:t>Hiện Tượng Sai Số Phình To (Hình Phễu):</a:t>
            </a:r>
          </a:p>
          <a:p>
            <a:pPr>
              <a:spcBef>
                <a:spcPts val="300"/>
              </a:spcBef>
              <a:defRPr sz="1300">
                <a:solidFill>
                  <a:srgbClr val="1E293B"/>
                </a:solidFill>
                <a:latin typeface="Arial"/>
              </a:defRPr>
            </a:pPr>
            <a:r>
              <a:t>Đồ thị sai số phình to rõ rệt ở phân khúc nhà giá cao: Nhà càng đắt tiền thì mức độ phân tán sai số dự báo càng lớn.</a:t>
            </a:r>
          </a:p>
          <a:p>
            <a:pPr>
              <a:spcBef>
                <a:spcPts val="1200"/>
              </a:spcBef>
              <a:defRPr sz="1400" b="1">
                <a:solidFill>
                  <a:srgbClr val="D97706"/>
                </a:solidFill>
                <a:latin typeface="Arial"/>
              </a:defRPr>
            </a:pPr>
            <a:r>
              <a:t>Ảnh Hưởng Của Nhóm Nhà Cao Cấp:</a:t>
            </a:r>
          </a:p>
          <a:p>
            <a:pPr>
              <a:spcBef>
                <a:spcPts val="300"/>
              </a:spcBef>
              <a:defRPr sz="1300">
                <a:solidFill>
                  <a:srgbClr val="1E293B"/>
                </a:solidFill>
                <a:latin typeface="Arial"/>
              </a:defRPr>
            </a:pPr>
            <a:r>
              <a:t>Sự xuất hiện của các biệt thự giá trị lớn kéo dải phân phối uốn cong ở hai đầu đuôi, làm méo mó các ước lượng ban đầu.</a:t>
            </a:r>
          </a:p>
          <a:p>
            <a:pPr>
              <a:spcBef>
                <a:spcPts val="1200"/>
              </a:spcBef>
              <a:defRPr sz="1400" b="1">
                <a:solidFill>
                  <a:srgbClr val="D97706"/>
                </a:solidFill>
                <a:latin typeface="Arial"/>
              </a:defRPr>
            </a:pPr>
            <a:r>
              <a:t>Định Hướng Khắc Phục:</a:t>
            </a:r>
          </a:p>
          <a:p>
            <a:pPr>
              <a:spcBef>
                <a:spcPts val="300"/>
              </a:spcBef>
              <a:defRPr sz="1300">
                <a:solidFill>
                  <a:srgbClr val="1E293B"/>
                </a:solidFill>
                <a:latin typeface="Arial"/>
              </a:defRPr>
            </a:pPr>
            <a:r>
              <a:t>Minh chứng lý do bắt buộc phải áp dụng biến đổi thang đo Logarit để nắn chuẩn phân phối phần dư và ổn định sai số.</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60120"/>
          </a:xfrm>
          <a:prstGeom prst="rect">
            <a:avLst/>
          </a:prstGeom>
          <a:solidFill>
            <a:srgbClr val="0F22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32688"/>
            <a:ext cx="12191695" cy="36576"/>
          </a:xfrm>
          <a:prstGeom prst="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146304"/>
            <a:ext cx="10728655" cy="658368"/>
          </a:xfrm>
          <a:prstGeom prst="rect">
            <a:avLst/>
          </a:prstGeom>
          <a:noFill/>
        </p:spPr>
        <p:txBody>
          <a:bodyPr wrap="square">
            <a:spAutoFit/>
          </a:bodyPr>
          <a:lstStyle/>
          <a:p>
            <a:pPr>
              <a:defRPr sz="2200" b="1">
                <a:solidFill>
                  <a:srgbClr val="FFFFFF"/>
                </a:solidFill>
                <a:latin typeface="Arial"/>
              </a:defRPr>
            </a:pPr>
            <a:r>
              <a:t>So Sánh Hiệu Quả Trước &amp; Sau Khi Biến Đổi Thang Đo Logarit</a:t>
            </a:r>
          </a:p>
        </p:txBody>
      </p:sp>
      <p:sp>
        <p:nvSpPr>
          <p:cNvPr id="5" name="Rectangle 4"/>
          <p:cNvSpPr/>
          <p:nvPr/>
        </p:nvSpPr>
        <p:spPr>
          <a:xfrm>
            <a:off x="731520" y="1234440"/>
            <a:ext cx="5184648" cy="5166360"/>
          </a:xfrm>
          <a:prstGeom prst="rect">
            <a:avLst/>
          </a:prstGeom>
          <a:solidFill>
            <a:srgbClr val="FFFF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731520" y="1234440"/>
            <a:ext cx="5184648" cy="603504"/>
          </a:xfrm>
          <a:prstGeom prst="rect">
            <a:avLst/>
          </a:prstGeom>
          <a:solidFill>
            <a:srgbClr val="1A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96112" y="1271016"/>
            <a:ext cx="4855464" cy="530352"/>
          </a:xfrm>
          <a:prstGeom prst="rect">
            <a:avLst/>
          </a:prstGeom>
          <a:noFill/>
        </p:spPr>
        <p:txBody>
          <a:bodyPr wrap="square">
            <a:spAutoFit/>
          </a:bodyPr>
          <a:lstStyle/>
          <a:p>
            <a:pPr>
              <a:defRPr sz="1400" b="1">
                <a:solidFill>
                  <a:srgbClr val="FFFFFF"/>
                </a:solidFill>
                <a:latin typeface="Arial"/>
              </a:defRPr>
            </a:pPr>
            <a:r>
              <a:t>TRƯỚC BIẾN ĐỔI LOGARIT (THANG ĐO GỐC)</a:t>
            </a:r>
          </a:p>
        </p:txBody>
      </p:sp>
      <p:sp>
        <p:nvSpPr>
          <p:cNvPr id="8" name="TextBox 7"/>
          <p:cNvSpPr txBox="1"/>
          <p:nvPr/>
        </p:nvSpPr>
        <p:spPr>
          <a:xfrm>
            <a:off x="914400" y="1929384"/>
            <a:ext cx="4818888" cy="4379976"/>
          </a:xfrm>
          <a:prstGeom prst="rect">
            <a:avLst/>
          </a:prstGeom>
          <a:noFill/>
        </p:spPr>
        <p:txBody>
          <a:bodyPr wrap="square">
            <a:spAutoFit/>
          </a:bodyPr>
          <a:lstStyle/>
          <a:p>
            <a:pPr>
              <a:defRPr sz="1350" b="1">
                <a:solidFill>
                  <a:srgbClr val="D97706"/>
                </a:solidFill>
                <a:latin typeface="Arial"/>
              </a:defRPr>
            </a:pPr>
            <a:r>
              <a:t>• Phân phối sai số bị kéo lệch:</a:t>
            </a:r>
          </a:p>
          <a:p>
            <a:pPr>
              <a:spcBef>
                <a:spcPts val="300"/>
              </a:spcBef>
              <a:defRPr sz="1300">
                <a:solidFill>
                  <a:srgbClr val="1E293B"/>
                </a:solidFill>
                <a:latin typeface="Arial"/>
              </a:defRPr>
            </a:pPr>
            <a:r>
              <a:t>Sai số dự báo bị lệch nhiều về phía các căn nhà đắt tiền, phân phối không cân xứng.</a:t>
            </a:r>
          </a:p>
          <a:p>
            <a:pPr>
              <a:spcBef>
                <a:spcPts val="1600"/>
              </a:spcBef>
              <a:defRPr sz="1350" b="1">
                <a:solidFill>
                  <a:srgbClr val="D97706"/>
                </a:solidFill>
                <a:latin typeface="Arial"/>
              </a:defRPr>
            </a:pPr>
            <a:r>
              <a:t>• Độ phân tán sai số không đồng đều:</a:t>
            </a:r>
          </a:p>
          <a:p>
            <a:pPr>
              <a:spcBef>
                <a:spcPts val="300"/>
              </a:spcBef>
              <a:defRPr sz="1300">
                <a:solidFill>
                  <a:srgbClr val="1E293B"/>
                </a:solidFill>
                <a:latin typeface="Arial"/>
              </a:defRPr>
            </a:pPr>
            <a:r>
              <a:t>Nhà giá rẻ có sai số nhỏ, nhưng nhà giá cao có sai số tăng vọt (hiện tượng hình phễu).</a:t>
            </a:r>
          </a:p>
          <a:p>
            <a:pPr>
              <a:spcBef>
                <a:spcPts val="1600"/>
              </a:spcBef>
              <a:defRPr sz="1350" b="1">
                <a:solidFill>
                  <a:srgbClr val="D97706"/>
                </a:solidFill>
                <a:latin typeface="Arial"/>
              </a:defRPr>
            </a:pPr>
            <a:r>
              <a:t>• Sai số trung bình còn lớn:</a:t>
            </a:r>
          </a:p>
          <a:p>
            <a:pPr>
              <a:spcBef>
                <a:spcPts val="300"/>
              </a:spcBef>
              <a:defRPr sz="1300">
                <a:solidFill>
                  <a:srgbClr val="1E293B"/>
                </a:solidFill>
                <a:latin typeface="Arial"/>
              </a:defRPr>
            </a:pPr>
            <a:r>
              <a:t>Sai số bình quân trên tập kiểm thử ở mức 28.5 triệu/m² do chịu ảnh hưởng của các ngoại lai giá cao.</a:t>
            </a:r>
          </a:p>
          <a:p>
            <a:pPr>
              <a:spcBef>
                <a:spcPts val="1600"/>
              </a:spcBef>
              <a:defRPr sz="1350" b="1">
                <a:solidFill>
                  <a:srgbClr val="D97706"/>
                </a:solidFill>
                <a:latin typeface="Arial"/>
              </a:defRPr>
            </a:pPr>
            <a:r>
              <a:t>• Khả năng khái quát hóa hạn chế:</a:t>
            </a:r>
          </a:p>
          <a:p>
            <a:pPr>
              <a:spcBef>
                <a:spcPts val="300"/>
              </a:spcBef>
              <a:defRPr sz="1300">
                <a:solidFill>
                  <a:srgbClr val="1E293B"/>
                </a:solidFill>
                <a:latin typeface="Arial"/>
              </a:defRPr>
            </a:pPr>
            <a:r>
              <a:t>Các giả định cơ bản của mô hình tuyến tính bị vi phạm, làm giảm độ tin cậy khi dự báo.</a:t>
            </a:r>
          </a:p>
        </p:txBody>
      </p:sp>
      <p:sp>
        <p:nvSpPr>
          <p:cNvPr id="9" name="Rectangle 8"/>
          <p:cNvSpPr/>
          <p:nvPr/>
        </p:nvSpPr>
        <p:spPr>
          <a:xfrm>
            <a:off x="6275527" y="1234440"/>
            <a:ext cx="5184648" cy="5166360"/>
          </a:xfrm>
          <a:prstGeom prst="rect">
            <a:avLst/>
          </a:prstGeom>
          <a:solidFill>
            <a:srgbClr val="1A365D"/>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275527" y="1234440"/>
            <a:ext cx="5184648" cy="603504"/>
          </a:xfrm>
          <a:prstGeom prst="rect">
            <a:avLst/>
          </a:prstGeom>
          <a:solidFill>
            <a:srgbClr val="0F22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40119" y="1271016"/>
            <a:ext cx="4855464" cy="530352"/>
          </a:xfrm>
          <a:prstGeom prst="rect">
            <a:avLst/>
          </a:prstGeom>
          <a:noFill/>
        </p:spPr>
        <p:txBody>
          <a:bodyPr wrap="square">
            <a:spAutoFit/>
          </a:bodyPr>
          <a:lstStyle/>
          <a:p>
            <a:pPr>
              <a:defRPr sz="1400" b="1">
                <a:solidFill>
                  <a:srgbClr val="FFFFFF"/>
                </a:solidFill>
                <a:latin typeface="Arial"/>
              </a:defRPr>
            </a:pPr>
            <a:r>
              <a:t>SAU BIẾN ĐỔI LOGARIT (NẮN CHUẨN DỮ LIỆU)</a:t>
            </a:r>
          </a:p>
        </p:txBody>
      </p:sp>
      <p:sp>
        <p:nvSpPr>
          <p:cNvPr id="12" name="TextBox 11"/>
          <p:cNvSpPr txBox="1"/>
          <p:nvPr/>
        </p:nvSpPr>
        <p:spPr>
          <a:xfrm>
            <a:off x="6458407" y="1929384"/>
            <a:ext cx="4818888" cy="4379976"/>
          </a:xfrm>
          <a:prstGeom prst="rect">
            <a:avLst/>
          </a:prstGeom>
          <a:noFill/>
        </p:spPr>
        <p:txBody>
          <a:bodyPr wrap="square">
            <a:spAutoFit/>
          </a:bodyPr>
          <a:lstStyle/>
          <a:p>
            <a:pPr>
              <a:defRPr sz="1350" b="1">
                <a:solidFill>
                  <a:srgbClr val="D97706"/>
                </a:solidFill>
                <a:latin typeface="Arial"/>
              </a:defRPr>
            </a:pPr>
            <a:r>
              <a:t>• Phân phối sai số đối xứng chuẩn mực:</a:t>
            </a:r>
          </a:p>
          <a:p>
            <a:pPr>
              <a:spcBef>
                <a:spcPts val="300"/>
              </a:spcBef>
              <a:defRPr sz="1300">
                <a:solidFill>
                  <a:srgbClr val="FFFFFF"/>
                </a:solidFill>
                <a:latin typeface="Arial"/>
              </a:defRPr>
            </a:pPr>
            <a:r>
              <a:t>Sai số trở nên cân bằng hoàn hảo quanh mức 0, khắc phục triệt để hiện tượng lệch đuôi.</a:t>
            </a:r>
          </a:p>
          <a:p>
            <a:pPr>
              <a:spcBef>
                <a:spcPts val="1600"/>
              </a:spcBef>
              <a:defRPr sz="1350" b="1">
                <a:solidFill>
                  <a:srgbClr val="D97706"/>
                </a:solidFill>
                <a:latin typeface="Arial"/>
              </a:defRPr>
            </a:pPr>
            <a:r>
              <a:t>• Độ phân tán sai số ổn định:</a:t>
            </a:r>
          </a:p>
          <a:p>
            <a:pPr>
              <a:spcBef>
                <a:spcPts val="300"/>
              </a:spcBef>
              <a:defRPr sz="1300">
                <a:solidFill>
                  <a:srgbClr val="FFFFFF"/>
                </a:solidFill>
                <a:latin typeface="Arial"/>
              </a:defRPr>
            </a:pPr>
            <a:r>
              <a:t>Thu hẹp khoảng cách sai số giữa nhà bình dân và nhà cao cấp, triệt tiêu hiện tượng phình to.</a:t>
            </a:r>
          </a:p>
          <a:p>
            <a:pPr>
              <a:spcBef>
                <a:spcPts val="1600"/>
              </a:spcBef>
              <a:defRPr sz="1350" b="1">
                <a:solidFill>
                  <a:srgbClr val="D97706"/>
                </a:solidFill>
                <a:latin typeface="Arial"/>
              </a:defRPr>
            </a:pPr>
            <a:r>
              <a:t>• Sai số trung bình giảm xuống 27.0 tr/m²:</a:t>
            </a:r>
          </a:p>
          <a:p>
            <a:pPr>
              <a:spcBef>
                <a:spcPts val="300"/>
              </a:spcBef>
              <a:defRPr sz="1300">
                <a:solidFill>
                  <a:srgbClr val="FFFFFF"/>
                </a:solidFill>
                <a:latin typeface="Arial"/>
              </a:defRPr>
            </a:pPr>
            <a:r>
              <a:t>Giảm bớt trọng số phạt quá mức cho các căn nhà đắt tiền, tối ưu hóa độ chính xác.</a:t>
            </a:r>
          </a:p>
          <a:p>
            <a:pPr>
              <a:spcBef>
                <a:spcPts val="1600"/>
              </a:spcBef>
              <a:defRPr sz="1350" b="1">
                <a:solidFill>
                  <a:srgbClr val="D97706"/>
                </a:solidFill>
                <a:latin typeface="Arial"/>
              </a:defRPr>
            </a:pPr>
            <a:r>
              <a:t>• Hệ số phản ánh mức thay đổi tương đối (%):</a:t>
            </a:r>
          </a:p>
          <a:p>
            <a:pPr>
              <a:spcBef>
                <a:spcPts val="300"/>
              </a:spcBef>
              <a:defRPr sz="1300">
                <a:solidFill>
                  <a:srgbClr val="FFFFFF"/>
                </a:solidFill>
                <a:latin typeface="Arial"/>
              </a:defRPr>
            </a:pPr>
            <a:r>
              <a:t>Hỗ trợ diễn giải kinh tế mạch lạc: Nhà nội đô có mức đơn giá cao hơn khoảng 40% so với ngoại thành.</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60120"/>
          </a:xfrm>
          <a:prstGeom prst="rect">
            <a:avLst/>
          </a:prstGeom>
          <a:solidFill>
            <a:srgbClr val="0F22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32688"/>
            <a:ext cx="12191695" cy="36576"/>
          </a:xfrm>
          <a:prstGeom prst="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146304"/>
            <a:ext cx="10728655" cy="658368"/>
          </a:xfrm>
          <a:prstGeom prst="rect">
            <a:avLst/>
          </a:prstGeom>
          <a:noFill/>
        </p:spPr>
        <p:txBody>
          <a:bodyPr wrap="square">
            <a:spAutoFit/>
          </a:bodyPr>
          <a:lstStyle/>
          <a:p>
            <a:pPr>
              <a:defRPr sz="2200" b="1">
                <a:solidFill>
                  <a:srgbClr val="FFFFFF"/>
                </a:solidFill>
                <a:latin typeface="Arial"/>
              </a:defRPr>
            </a:pPr>
            <a:r>
              <a:t>Biểu Đồ 9: Kiểm Soát Quá Khớp &amp; Tự Động Chọn Lọc Đặc Trưng</a:t>
            </a:r>
          </a:p>
        </p:txBody>
      </p:sp>
      <p:sp>
        <p:nvSpPr>
          <p:cNvPr id="5" name="Rectangle 4"/>
          <p:cNvSpPr/>
          <p:nvPr/>
        </p:nvSpPr>
        <p:spPr>
          <a:xfrm>
            <a:off x="731520" y="1234440"/>
            <a:ext cx="6766560" cy="5166360"/>
          </a:xfrm>
          <a:prstGeom prst="rect">
            <a:avLst/>
          </a:prstGeom>
          <a:solidFill>
            <a:srgbClr val="FFFF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09_regularization_lasso_vs_ridge.png"/>
          <p:cNvPicPr>
            <a:picLocks noChangeAspect="1"/>
          </p:cNvPicPr>
          <p:nvPr/>
        </p:nvPicPr>
        <p:blipFill>
          <a:blip r:embed="rId2"/>
          <a:stretch>
            <a:fillRect/>
          </a:stretch>
        </p:blipFill>
        <p:spPr>
          <a:xfrm>
            <a:off x="804672" y="2162556"/>
            <a:ext cx="6620256" cy="3310128"/>
          </a:xfrm>
          <a:prstGeom prst="rect">
            <a:avLst/>
          </a:prstGeom>
        </p:spPr>
      </p:pic>
      <p:sp>
        <p:nvSpPr>
          <p:cNvPr id="7" name="Rectangle 6"/>
          <p:cNvSpPr/>
          <p:nvPr/>
        </p:nvSpPr>
        <p:spPr>
          <a:xfrm>
            <a:off x="7726680" y="1234440"/>
            <a:ext cx="3733495" cy="5166360"/>
          </a:xfrm>
          <a:prstGeom prst="rect">
            <a:avLst/>
          </a:prstGeom>
          <a:solidFill>
            <a:srgbClr val="FFFF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26680" y="1234440"/>
            <a:ext cx="3733495" cy="603504"/>
          </a:xfrm>
          <a:prstGeom prst="rect">
            <a:avLst/>
          </a:prstGeom>
          <a:solidFill>
            <a:srgbClr val="1A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891272" y="1271016"/>
            <a:ext cx="3404311" cy="530352"/>
          </a:xfrm>
          <a:prstGeom prst="rect">
            <a:avLst/>
          </a:prstGeom>
          <a:noFill/>
        </p:spPr>
        <p:txBody>
          <a:bodyPr wrap="square">
            <a:spAutoFit/>
          </a:bodyPr>
          <a:lstStyle/>
          <a:p>
            <a:pPr>
              <a:defRPr sz="1400" b="1">
                <a:solidFill>
                  <a:srgbClr val="FFFFFF"/>
                </a:solidFill>
                <a:latin typeface="Arial"/>
              </a:defRPr>
            </a:pPr>
            <a:r>
              <a:t>ĐIỀU CHUẨN MÔ HÌNH (BĐ 09)</a:t>
            </a:r>
          </a:p>
        </p:txBody>
      </p:sp>
      <p:sp>
        <p:nvSpPr>
          <p:cNvPr id="10" name="TextBox 9"/>
          <p:cNvSpPr txBox="1"/>
          <p:nvPr/>
        </p:nvSpPr>
        <p:spPr>
          <a:xfrm>
            <a:off x="7909560" y="1929384"/>
            <a:ext cx="3367735" cy="4379976"/>
          </a:xfrm>
          <a:prstGeom prst="rect">
            <a:avLst/>
          </a:prstGeom>
          <a:noFill/>
        </p:spPr>
        <p:txBody>
          <a:bodyPr wrap="square">
            <a:spAutoFit/>
          </a:bodyPr>
          <a:lstStyle/>
          <a:p>
            <a:pPr>
              <a:defRPr sz="1400" b="1">
                <a:solidFill>
                  <a:srgbClr val="D97706"/>
                </a:solidFill>
                <a:latin typeface="Arial"/>
              </a:defRPr>
            </a:pPr>
            <a:r>
              <a:t>Tác Dụng &amp; Mục Đích Biểu Đồ:</a:t>
            </a:r>
          </a:p>
          <a:p>
            <a:pPr>
              <a:spcBef>
                <a:spcPts val="300"/>
              </a:spcBef>
              <a:defRPr sz="1300">
                <a:solidFill>
                  <a:srgbClr val="1E293B"/>
                </a:solidFill>
                <a:latin typeface="Arial"/>
              </a:defRPr>
            </a:pPr>
            <a:r>
              <a:t>So sánh cơ chế kiểm soát hiện tượng các đặc tính phụ thuộc lẫn nhau, giúp mô hình hoạt động ổn định và không bị quá khớp dữ liệu.</a:t>
            </a:r>
          </a:p>
          <a:p>
            <a:pPr>
              <a:spcBef>
                <a:spcPts val="1200"/>
              </a:spcBef>
              <a:defRPr sz="1400" b="1">
                <a:solidFill>
                  <a:srgbClr val="D97706"/>
                </a:solidFill>
                <a:latin typeface="Arial"/>
              </a:defRPr>
            </a:pPr>
            <a:r>
              <a:t>🎯 Cơ Chế Lasso - Tự Động Loại Bỏ Biến Dư Thừa:</a:t>
            </a:r>
          </a:p>
          <a:p>
            <a:pPr>
              <a:spcBef>
                <a:spcPts val="300"/>
              </a:spcBef>
              <a:defRPr sz="1300">
                <a:solidFill>
                  <a:srgbClr val="1E293B"/>
                </a:solidFill>
                <a:latin typeface="Arial"/>
              </a:defRPr>
            </a:pPr>
            <a:r>
              <a:t>Lasso tự động triệt tiêu tác động của các biến dư thừa (như Diện tích đất thô và Chiều sâu) về bằng 0, chỉ giữ lại các yếu tố cốt lõi nhất.</a:t>
            </a:r>
          </a:p>
          <a:p>
            <a:pPr>
              <a:spcBef>
                <a:spcPts val="1200"/>
              </a:spcBef>
              <a:defRPr sz="1400" b="1">
                <a:solidFill>
                  <a:srgbClr val="D97706"/>
                </a:solidFill>
                <a:latin typeface="Arial"/>
              </a:defRPr>
            </a:pPr>
            <a:r>
              <a:t>🛡️ Cơ Chế Ridge - Ổn Định Trọng Số Các Biến:</a:t>
            </a:r>
          </a:p>
          <a:p>
            <a:pPr>
              <a:spcBef>
                <a:spcPts val="300"/>
              </a:spcBef>
              <a:defRPr sz="1300">
                <a:solidFill>
                  <a:srgbClr val="1E293B"/>
                </a:solidFill>
                <a:latin typeface="Arial"/>
              </a:defRPr>
            </a:pPr>
            <a:r>
              <a:t>Ridge thu nhỏ đồng đều tác động của các biến có tương quan cao mà không loại bỏ biến, giúp mô hình ổn định trước biến động dữ liệu.</a:t>
            </a:r>
          </a:p>
          <a:p>
            <a:pPr>
              <a:spcBef>
                <a:spcPts val="1200"/>
              </a:spcBef>
              <a:defRPr sz="1400" b="1">
                <a:solidFill>
                  <a:srgbClr val="D97706"/>
                </a:solidFill>
                <a:latin typeface="Arial"/>
              </a:defRPr>
            </a:pPr>
            <a:r>
              <a:t>Ý Nghĩa Nghiệp Vụ Thực Tế:</a:t>
            </a:r>
          </a:p>
          <a:p>
            <a:pPr>
              <a:spcBef>
                <a:spcPts val="300"/>
              </a:spcBef>
              <a:defRPr sz="1300">
                <a:solidFill>
                  <a:srgbClr val="1E293B"/>
                </a:solidFill>
                <a:latin typeface="Arial"/>
              </a:defRPr>
            </a:pPr>
            <a:r>
              <a:t>Khi mô hình đã có biến Tổng diện tích sàn và Mặt tiền, các biến diện tích thô trở nên dư thừa và được tự động gạt bỏ để tinh gọn phương trình.</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60120"/>
          </a:xfrm>
          <a:prstGeom prst="rect">
            <a:avLst/>
          </a:prstGeom>
          <a:solidFill>
            <a:srgbClr val="0F22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32688"/>
            <a:ext cx="12191695" cy="36576"/>
          </a:xfrm>
          <a:prstGeom prst="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146304"/>
            <a:ext cx="10728655" cy="658368"/>
          </a:xfrm>
          <a:prstGeom prst="rect">
            <a:avLst/>
          </a:prstGeom>
          <a:noFill/>
        </p:spPr>
        <p:txBody>
          <a:bodyPr wrap="square">
            <a:spAutoFit/>
          </a:bodyPr>
          <a:lstStyle/>
          <a:p>
            <a:pPr>
              <a:defRPr sz="2200" b="1">
                <a:solidFill>
                  <a:srgbClr val="FFFFFF"/>
                </a:solidFill>
                <a:latin typeface="Arial"/>
              </a:defRPr>
            </a:pPr>
            <a:r>
              <a:t>Kết Luận Thực Tiễn Cho Doanh Nghiệp &amp; Nhà Đầu Tư</a:t>
            </a:r>
          </a:p>
        </p:txBody>
      </p:sp>
      <p:sp>
        <p:nvSpPr>
          <p:cNvPr id="5" name="Rectangle 4"/>
          <p:cNvSpPr/>
          <p:nvPr/>
        </p:nvSpPr>
        <p:spPr>
          <a:xfrm>
            <a:off x="731520" y="1234440"/>
            <a:ext cx="5184648" cy="2423160"/>
          </a:xfrm>
          <a:prstGeom prst="rect">
            <a:avLst/>
          </a:prstGeom>
          <a:solidFill>
            <a:srgbClr val="FFFF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731520" y="1234440"/>
            <a:ext cx="5184648" cy="603504"/>
          </a:xfrm>
          <a:prstGeom prst="rect">
            <a:avLst/>
          </a:prstGeom>
          <a:solidFill>
            <a:srgbClr val="1A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96112" y="1271016"/>
            <a:ext cx="4855464" cy="530352"/>
          </a:xfrm>
          <a:prstGeom prst="rect">
            <a:avLst/>
          </a:prstGeom>
          <a:noFill/>
        </p:spPr>
        <p:txBody>
          <a:bodyPr wrap="square">
            <a:spAutoFit/>
          </a:bodyPr>
          <a:lstStyle/>
          <a:p>
            <a:pPr>
              <a:defRPr sz="1350" b="1">
                <a:solidFill>
                  <a:srgbClr val="FFFFFF"/>
                </a:solidFill>
                <a:latin typeface="Arial"/>
              </a:defRPr>
            </a:pPr>
            <a:r>
              <a:t>TRỤ CỘT 1: ĐỊNH GIÁ VỚI PHÂN TÍCH HỒI QUY</a:t>
            </a:r>
          </a:p>
        </p:txBody>
      </p:sp>
      <p:sp>
        <p:nvSpPr>
          <p:cNvPr id="8" name="TextBox 7"/>
          <p:cNvSpPr txBox="1"/>
          <p:nvPr/>
        </p:nvSpPr>
        <p:spPr>
          <a:xfrm>
            <a:off x="914400" y="1929384"/>
            <a:ext cx="4818888" cy="1636776"/>
          </a:xfrm>
          <a:prstGeom prst="rect">
            <a:avLst/>
          </a:prstGeom>
          <a:noFill/>
        </p:spPr>
        <p:txBody>
          <a:bodyPr wrap="square">
            <a:spAutoFit/>
          </a:bodyPr>
          <a:lstStyle/>
          <a:p>
            <a:pPr>
              <a:defRPr sz="1300" b="1">
                <a:solidFill>
                  <a:srgbClr val="D97706"/>
                </a:solidFill>
                <a:latin typeface="Arial"/>
              </a:defRPr>
            </a:pPr>
            <a:r>
              <a:t>• Mô hình Hồi quy Logarit tối ưu: </a:t>
            </a:r>
            <a:r>
              <a:rPr sz="1250">
                <a:solidFill>
                  <a:srgbClr val="1E293B"/>
                </a:solidFill>
                <a:latin typeface="Arial"/>
              </a:rPr>
              <a:t>Đạt sai số dự báo thấp nhất (27.0 triệu/m²), là công cụ định giá khách quan, khoa học.</a:t>
            </a:r>
          </a:p>
          <a:p>
            <a:pPr>
              <a:spcBef>
                <a:spcPts val="800"/>
              </a:spcBef>
              <a:defRPr sz="1300" b="1">
                <a:solidFill>
                  <a:srgbClr val="D97706"/>
                </a:solidFill>
                <a:latin typeface="Arial"/>
              </a:defRPr>
            </a:pPr>
            <a:r>
              <a:t>• Độ tin cậy được kiểm chứng: </a:t>
            </a:r>
            <a:r>
              <a:rPr sz="1250">
                <a:solidFill>
                  <a:srgbClr val="1E293B"/>
                </a:solidFill>
                <a:latin typeface="Arial"/>
              </a:rPr>
              <a:t>Mô hình ổn định trên 7.481 bản ghi kiểm thử, kiểm soát sai lệch giá hàng trăm triệu đồng.</a:t>
            </a:r>
          </a:p>
          <a:p>
            <a:pPr>
              <a:spcBef>
                <a:spcPts val="800"/>
              </a:spcBef>
              <a:defRPr sz="1300" b="1">
                <a:solidFill>
                  <a:srgbClr val="D97706"/>
                </a:solidFill>
                <a:latin typeface="Arial"/>
              </a:defRPr>
            </a:pPr>
            <a:r>
              <a:t>• Bảo vệ người mua nhà: </a:t>
            </a:r>
            <a:r>
              <a:rPr sz="1250">
                <a:solidFill>
                  <a:srgbClr val="1E293B"/>
                </a:solidFill>
                <a:latin typeface="Arial"/>
              </a:rPr>
              <a:t>Phát hiện ngay những tin rao khống giá hoặc lệch xa mặt bằng giao dịch thực tế của khu vực.</a:t>
            </a:r>
          </a:p>
        </p:txBody>
      </p:sp>
      <p:sp>
        <p:nvSpPr>
          <p:cNvPr id="9" name="Rectangle 8"/>
          <p:cNvSpPr/>
          <p:nvPr/>
        </p:nvSpPr>
        <p:spPr>
          <a:xfrm>
            <a:off x="6275527" y="1234440"/>
            <a:ext cx="5184648" cy="2423160"/>
          </a:xfrm>
          <a:prstGeom prst="rect">
            <a:avLst/>
          </a:prstGeom>
          <a:solidFill>
            <a:srgbClr val="FFFF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275527" y="1234440"/>
            <a:ext cx="5184648" cy="603504"/>
          </a:xfrm>
          <a:prstGeom prst="rect">
            <a:avLst/>
          </a:prstGeom>
          <a:solidFill>
            <a:srgbClr val="1A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40119" y="1271016"/>
            <a:ext cx="4855464" cy="530352"/>
          </a:xfrm>
          <a:prstGeom prst="rect">
            <a:avLst/>
          </a:prstGeom>
          <a:noFill/>
        </p:spPr>
        <p:txBody>
          <a:bodyPr wrap="square">
            <a:spAutoFit/>
          </a:bodyPr>
          <a:lstStyle/>
          <a:p>
            <a:pPr>
              <a:defRPr sz="1350" b="1">
                <a:solidFill>
                  <a:srgbClr val="FFFFFF"/>
                </a:solidFill>
                <a:latin typeface="Arial"/>
              </a:defRPr>
            </a:pPr>
            <a:r>
              <a:t>TRỤ CỘT 2: ĐẦU TƯ &amp; TỐI ƯU DANH MỤC</a:t>
            </a:r>
          </a:p>
        </p:txBody>
      </p:sp>
      <p:sp>
        <p:nvSpPr>
          <p:cNvPr id="12" name="TextBox 11"/>
          <p:cNvSpPr txBox="1"/>
          <p:nvPr/>
        </p:nvSpPr>
        <p:spPr>
          <a:xfrm>
            <a:off x="6458407" y="1929384"/>
            <a:ext cx="4818888" cy="1636776"/>
          </a:xfrm>
          <a:prstGeom prst="rect">
            <a:avLst/>
          </a:prstGeom>
          <a:noFill/>
        </p:spPr>
        <p:txBody>
          <a:bodyPr wrap="square">
            <a:spAutoFit/>
          </a:bodyPr>
          <a:lstStyle/>
          <a:p>
            <a:pPr>
              <a:defRPr sz="1300" b="1">
                <a:solidFill>
                  <a:srgbClr val="D97706"/>
                </a:solidFill>
                <a:latin typeface="Arial"/>
              </a:defRPr>
            </a:pPr>
            <a:r>
              <a:t>• Khai thác các cặp quận tương đương: </a:t>
            </a:r>
            <a:r>
              <a:rPr sz="1250">
                <a:solidFill>
                  <a:srgbClr val="1E293B"/>
                </a:solidFill>
                <a:latin typeface="Arial"/>
              </a:rPr>
              <a:t>Chuyển dịch dòng vốn sang quận lân cận có mặt bằng giá và tiềm năng tương đồng.</a:t>
            </a:r>
          </a:p>
          <a:p>
            <a:pPr>
              <a:spcBef>
                <a:spcPts val="800"/>
              </a:spcBef>
              <a:defRPr sz="1300" b="1">
                <a:solidFill>
                  <a:srgbClr val="D97706"/>
                </a:solidFill>
                <a:latin typeface="Arial"/>
              </a:defRPr>
            </a:pPr>
            <a:r>
              <a:t>• Nắm bắt cơ hội ven đô: </a:t>
            </a:r>
            <a:r>
              <a:rPr sz="1250">
                <a:solidFill>
                  <a:srgbClr val="1E293B"/>
                </a:solidFill>
                <a:latin typeface="Arial"/>
              </a:rPr>
              <a:t>Đón đầu các khu vực hưởng lợi từ quy hoạch đường vành đai và mạng lưới metro mở rộng.</a:t>
            </a:r>
          </a:p>
          <a:p>
            <a:pPr>
              <a:spcBef>
                <a:spcPts val="800"/>
              </a:spcBef>
              <a:defRPr sz="1300" b="1">
                <a:solidFill>
                  <a:srgbClr val="D97706"/>
                </a:solidFill>
                <a:latin typeface="Arial"/>
              </a:defRPr>
            </a:pPr>
            <a:r>
              <a:t>• Tối ưu giá trị thương mại: </a:t>
            </a:r>
            <a:r>
              <a:rPr sz="1250">
                <a:solidFill>
                  <a:srgbClr val="1E293B"/>
                </a:solidFill>
                <a:latin typeface="Arial"/>
              </a:rPr>
              <a:t>Ưu tiên lựa chọn bất động sản có mặt tiền từ 5m trở lên để tối đa hóa thanh khoản.</a:t>
            </a:r>
          </a:p>
        </p:txBody>
      </p:sp>
      <p:sp>
        <p:nvSpPr>
          <p:cNvPr id="13" name="Rectangle 12"/>
          <p:cNvSpPr/>
          <p:nvPr/>
        </p:nvSpPr>
        <p:spPr>
          <a:xfrm>
            <a:off x="731520" y="3977640"/>
            <a:ext cx="5184648" cy="2423160"/>
          </a:xfrm>
          <a:prstGeom prst="rect">
            <a:avLst/>
          </a:prstGeom>
          <a:solidFill>
            <a:srgbClr val="FFFF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731520" y="3977640"/>
            <a:ext cx="5184648" cy="603504"/>
          </a:xfrm>
          <a:prstGeom prst="rect">
            <a:avLst/>
          </a:prstGeom>
          <a:solidFill>
            <a:srgbClr val="1A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96112" y="4014216"/>
            <a:ext cx="4855464" cy="530352"/>
          </a:xfrm>
          <a:prstGeom prst="rect">
            <a:avLst/>
          </a:prstGeom>
          <a:noFill/>
        </p:spPr>
        <p:txBody>
          <a:bodyPr wrap="square">
            <a:spAutoFit/>
          </a:bodyPr>
          <a:lstStyle/>
          <a:p>
            <a:pPr>
              <a:defRPr sz="1350" b="1">
                <a:solidFill>
                  <a:srgbClr val="FFFFFF"/>
                </a:solidFill>
                <a:latin typeface="Arial"/>
              </a:defRPr>
            </a:pPr>
            <a:r>
              <a:t>TRỤ CỘT 3: QUẢN TRỊ TÍN DỤNG NGÂN HÀNG</a:t>
            </a:r>
          </a:p>
        </p:txBody>
      </p:sp>
      <p:sp>
        <p:nvSpPr>
          <p:cNvPr id="16" name="TextBox 15"/>
          <p:cNvSpPr txBox="1"/>
          <p:nvPr/>
        </p:nvSpPr>
        <p:spPr>
          <a:xfrm>
            <a:off x="914400" y="4672584"/>
            <a:ext cx="4818888" cy="1636776"/>
          </a:xfrm>
          <a:prstGeom prst="rect">
            <a:avLst/>
          </a:prstGeom>
          <a:noFill/>
        </p:spPr>
        <p:txBody>
          <a:bodyPr wrap="square">
            <a:spAutoFit/>
          </a:bodyPr>
          <a:lstStyle/>
          <a:p>
            <a:pPr>
              <a:defRPr sz="1300" b="1">
                <a:solidFill>
                  <a:srgbClr val="D97706"/>
                </a:solidFill>
                <a:latin typeface="Arial"/>
              </a:defRPr>
            </a:pPr>
            <a:r>
              <a:t>• Xác lập ngưỡng cho vay an toàn: </a:t>
            </a:r>
            <a:r>
              <a:rPr sz="1250">
                <a:solidFill>
                  <a:srgbClr val="1E293B"/>
                </a:solidFill>
                <a:latin typeface="Arial"/>
              </a:rPr>
              <a:t>Sử dụng mức cận dưới của khoảng giá làm cơ sở phê duyệt hạn mức thế chấp an toàn.</a:t>
            </a:r>
          </a:p>
          <a:p>
            <a:pPr>
              <a:spcBef>
                <a:spcPts val="800"/>
              </a:spcBef>
              <a:defRPr sz="1300" b="1">
                <a:solidFill>
                  <a:srgbClr val="D97706"/>
                </a:solidFill>
                <a:latin typeface="Arial"/>
              </a:defRPr>
            </a:pPr>
            <a:r>
              <a:t>• Ngăn ngừa rủi ro nợ xấu: </a:t>
            </a:r>
            <a:r>
              <a:rPr sz="1250">
                <a:solidFill>
                  <a:srgbClr val="1E293B"/>
                </a:solidFill>
                <a:latin typeface="Arial"/>
              </a:rPr>
              <a:t>Nhận diện sớm các hiện tượng đầu cơ thổi giá cục bộ tại các khu vực đang sốt đất.</a:t>
            </a:r>
          </a:p>
          <a:p>
            <a:pPr>
              <a:spcBef>
                <a:spcPts val="800"/>
              </a:spcBef>
              <a:defRPr sz="1300" b="1">
                <a:solidFill>
                  <a:srgbClr val="D97706"/>
                </a:solidFill>
                <a:latin typeface="Arial"/>
              </a:defRPr>
            </a:pPr>
            <a:r>
              <a:t>• Tự động hóa luồng phê duyệt: </a:t>
            </a:r>
            <a:r>
              <a:rPr sz="1250">
                <a:solidFill>
                  <a:srgbClr val="1E293B"/>
                </a:solidFill>
                <a:latin typeface="Arial"/>
              </a:rPr>
              <a:t>Tích hợp công cụ định giá tự động vào quy trình thẩm định hồ sơ tín dụng.</a:t>
            </a:r>
          </a:p>
        </p:txBody>
      </p:sp>
      <p:sp>
        <p:nvSpPr>
          <p:cNvPr id="17" name="Rectangle 16"/>
          <p:cNvSpPr/>
          <p:nvPr/>
        </p:nvSpPr>
        <p:spPr>
          <a:xfrm>
            <a:off x="6275527" y="3977640"/>
            <a:ext cx="5184648" cy="2423160"/>
          </a:xfrm>
          <a:prstGeom prst="rect">
            <a:avLst/>
          </a:prstGeom>
          <a:solidFill>
            <a:srgbClr val="FFFF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275527" y="3977640"/>
            <a:ext cx="5184648" cy="603504"/>
          </a:xfrm>
          <a:prstGeom prst="rect">
            <a:avLst/>
          </a:prstGeom>
          <a:solidFill>
            <a:srgbClr val="1A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40119" y="4014216"/>
            <a:ext cx="4855464" cy="530352"/>
          </a:xfrm>
          <a:prstGeom prst="rect">
            <a:avLst/>
          </a:prstGeom>
          <a:noFill/>
        </p:spPr>
        <p:txBody>
          <a:bodyPr wrap="square">
            <a:spAutoFit/>
          </a:bodyPr>
          <a:lstStyle/>
          <a:p>
            <a:pPr>
              <a:defRPr sz="1350" b="1">
                <a:solidFill>
                  <a:srgbClr val="FFFFFF"/>
                </a:solidFill>
                <a:latin typeface="Arial"/>
              </a:defRPr>
            </a:pPr>
            <a:r>
              <a:t>TRỤ CỘT 4: MINH BẠCH HÓA THỊ TRƯỜNG</a:t>
            </a:r>
          </a:p>
        </p:txBody>
      </p:sp>
      <p:sp>
        <p:nvSpPr>
          <p:cNvPr id="20" name="TextBox 19"/>
          <p:cNvSpPr txBox="1"/>
          <p:nvPr/>
        </p:nvSpPr>
        <p:spPr>
          <a:xfrm>
            <a:off x="6458407" y="4672584"/>
            <a:ext cx="4818888" cy="1636776"/>
          </a:xfrm>
          <a:prstGeom prst="rect">
            <a:avLst/>
          </a:prstGeom>
          <a:noFill/>
        </p:spPr>
        <p:txBody>
          <a:bodyPr wrap="square">
            <a:spAutoFit/>
          </a:bodyPr>
          <a:lstStyle/>
          <a:p>
            <a:pPr>
              <a:defRPr sz="1300" b="1">
                <a:solidFill>
                  <a:srgbClr val="D97706"/>
                </a:solidFill>
                <a:latin typeface="Arial"/>
              </a:defRPr>
            </a:pPr>
            <a:r>
              <a:t>• Dữ liệu được chuẩn hóa cao: </a:t>
            </a:r>
            <a:r>
              <a:rPr sz="1250">
                <a:solidFill>
                  <a:srgbClr val="1E293B"/>
                </a:solidFill>
                <a:latin typeface="Arial"/>
              </a:rPr>
              <a:t>Phễu sàng lọc 4 tầng loại bỏ triệt để tin rác, tin ảo và tin trùng lặp.</a:t>
            </a:r>
          </a:p>
          <a:p>
            <a:pPr>
              <a:spcBef>
                <a:spcPts val="800"/>
              </a:spcBef>
              <a:defRPr sz="1300" b="1">
                <a:solidFill>
                  <a:srgbClr val="D97706"/>
                </a:solidFill>
                <a:latin typeface="Arial"/>
              </a:defRPr>
            </a:pPr>
            <a:r>
              <a:t>• Tuân thủ chuẩn mực đạo đức AI: </a:t>
            </a:r>
            <a:r>
              <a:rPr sz="1250">
                <a:solidFill>
                  <a:srgbClr val="1E293B"/>
                </a:solidFill>
                <a:latin typeface="Arial"/>
              </a:rPr>
              <a:t>Minh bạch cách thức đưa ra mức giá, bảo vệ quyền riêng tư dữ liệu người dùng.</a:t>
            </a:r>
          </a:p>
          <a:p>
            <a:pPr>
              <a:spcBef>
                <a:spcPts val="800"/>
              </a:spcBef>
              <a:defRPr sz="1300" b="1">
                <a:solidFill>
                  <a:srgbClr val="D97706"/>
                </a:solidFill>
                <a:latin typeface="Arial"/>
              </a:defRPr>
            </a:pPr>
            <a:r>
              <a:t>• Sẵn sàng ứng dụng thực tế: </a:t>
            </a:r>
            <a:r>
              <a:rPr sz="1250">
                <a:solidFill>
                  <a:srgbClr val="1E293B"/>
                </a:solidFill>
                <a:latin typeface="Arial"/>
              </a:rPr>
              <a:t>Mô hình được đóng gói hoàn chỉnh, sẵn sàng tích hợp vào các hệ thống quản trị.</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60120"/>
          </a:xfrm>
          <a:prstGeom prst="rect">
            <a:avLst/>
          </a:prstGeom>
          <a:solidFill>
            <a:srgbClr val="0F22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32688"/>
            <a:ext cx="12191695" cy="36576"/>
          </a:xfrm>
          <a:prstGeom prst="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146304"/>
            <a:ext cx="10728655" cy="658368"/>
          </a:xfrm>
          <a:prstGeom prst="rect">
            <a:avLst/>
          </a:prstGeom>
          <a:noFill/>
        </p:spPr>
        <p:txBody>
          <a:bodyPr wrap="square">
            <a:spAutoFit/>
          </a:bodyPr>
          <a:lstStyle/>
          <a:p>
            <a:pPr>
              <a:defRPr sz="2200" b="1">
                <a:solidFill>
                  <a:srgbClr val="FFFFFF"/>
                </a:solidFill>
                <a:latin typeface="Arial"/>
              </a:defRPr>
            </a:pPr>
            <a:r>
              <a:t>Lộ Trình Hoàn Thiện Cuối Kỳ (Tuần 11 - 12) &amp; Hỏi - Đáp</a:t>
            </a:r>
          </a:p>
        </p:txBody>
      </p:sp>
      <p:sp>
        <p:nvSpPr>
          <p:cNvPr id="5" name="Rectangle 4"/>
          <p:cNvSpPr/>
          <p:nvPr/>
        </p:nvSpPr>
        <p:spPr>
          <a:xfrm>
            <a:off x="731520" y="1234440"/>
            <a:ext cx="5669280" cy="5166360"/>
          </a:xfrm>
          <a:prstGeom prst="rect">
            <a:avLst/>
          </a:prstGeom>
          <a:solidFill>
            <a:srgbClr val="FFFF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731520" y="1234440"/>
            <a:ext cx="5669280" cy="603504"/>
          </a:xfrm>
          <a:prstGeom prst="rect">
            <a:avLst/>
          </a:prstGeom>
          <a:solidFill>
            <a:srgbClr val="1A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96112" y="1271016"/>
            <a:ext cx="5340096" cy="530352"/>
          </a:xfrm>
          <a:prstGeom prst="rect">
            <a:avLst/>
          </a:prstGeom>
          <a:noFill/>
        </p:spPr>
        <p:txBody>
          <a:bodyPr wrap="square">
            <a:spAutoFit/>
          </a:bodyPr>
          <a:lstStyle/>
          <a:p>
            <a:pPr>
              <a:defRPr sz="1400" b="1">
                <a:solidFill>
                  <a:srgbClr val="FFFFFF"/>
                </a:solidFill>
                <a:latin typeface="Arial"/>
              </a:defRPr>
            </a:pPr>
            <a:r>
              <a:t>3 MỤC TIÊU HOÀN THIỆN ĐỒ ÁN (TUẦN 11 - 12)</a:t>
            </a:r>
          </a:p>
        </p:txBody>
      </p:sp>
      <p:sp>
        <p:nvSpPr>
          <p:cNvPr id="8" name="TextBox 7"/>
          <p:cNvSpPr txBox="1"/>
          <p:nvPr/>
        </p:nvSpPr>
        <p:spPr>
          <a:xfrm>
            <a:off x="914400" y="1929384"/>
            <a:ext cx="5303520" cy="4379976"/>
          </a:xfrm>
          <a:prstGeom prst="rect">
            <a:avLst/>
          </a:prstGeom>
          <a:noFill/>
        </p:spPr>
        <p:txBody>
          <a:bodyPr wrap="square">
            <a:spAutoFit/>
          </a:bodyPr>
          <a:lstStyle/>
          <a:p>
            <a:pPr>
              <a:defRPr sz="1400" b="1">
                <a:solidFill>
                  <a:srgbClr val="D97706"/>
                </a:solidFill>
                <a:latin typeface="Arial"/>
              </a:defRPr>
            </a:pPr>
            <a:r>
              <a:t>1. Mở rộng bài toán phân loại phân khúc giá (Tuần 11):</a:t>
            </a:r>
          </a:p>
          <a:p>
            <a:pPr>
              <a:spcBef>
                <a:spcPts val="400"/>
              </a:spcBef>
              <a:defRPr sz="1300">
                <a:solidFill>
                  <a:srgbClr val="1E293B"/>
                </a:solidFill>
                <a:latin typeface="Arial"/>
              </a:defRPr>
            </a:pPr>
            <a:r>
              <a:t>Ứng dụng Logistic Regression và các thuật toán phân loại cơ bản để phân loại bất động sản tự động vào 5 phân khúc giá; Đánh giá bằng ma trận nhầm lẫn và chỉ số F1-Score.</a:t>
            </a:r>
          </a:p>
          <a:p>
            <a:pPr>
              <a:spcBef>
                <a:spcPts val="1800"/>
              </a:spcBef>
              <a:defRPr sz="1400" b="1">
                <a:solidFill>
                  <a:srgbClr val="D97706"/>
                </a:solidFill>
                <a:latin typeface="Arial"/>
              </a:defRPr>
            </a:pPr>
            <a:r>
              <a:t>2. Minh bạch hóa và giải thích mô hình (Tuần 12):</a:t>
            </a:r>
          </a:p>
          <a:p>
            <a:pPr>
              <a:spcBef>
                <a:spcPts val="400"/>
              </a:spcBef>
              <a:defRPr sz="1300">
                <a:solidFill>
                  <a:srgbClr val="1E293B"/>
                </a:solidFill>
                <a:latin typeface="Arial"/>
              </a:defRPr>
            </a:pPr>
            <a:r>
              <a:t>Phân tích sâu hơn các hệ số hồi quy và tương tác giữa các thuộc tính để minh bạch hóa lý do đưa ra mức định giá cho từng căn nhà cụ thể.</a:t>
            </a:r>
          </a:p>
          <a:p>
            <a:pPr>
              <a:spcBef>
                <a:spcPts val="1800"/>
              </a:spcBef>
              <a:defRPr sz="1400" b="1">
                <a:solidFill>
                  <a:srgbClr val="D97706"/>
                </a:solidFill>
                <a:latin typeface="Arial"/>
              </a:defRPr>
            </a:pPr>
            <a:r>
              <a:t>3. Chuẩn hóa hồ sơ dữ liệu &amp; Kiểm toán công bằng (Tuần 12):</a:t>
            </a:r>
          </a:p>
          <a:p>
            <a:pPr>
              <a:spcBef>
                <a:spcPts val="400"/>
              </a:spcBef>
              <a:defRPr sz="1300">
                <a:solidFill>
                  <a:srgbClr val="1E293B"/>
                </a:solidFill>
                <a:latin typeface="Arial"/>
              </a:defRPr>
            </a:pPr>
            <a:r>
              <a:t>Xây dựng tài liệu hồ sơ dữ liệu và thẻ mô hình (Datasheet &amp; Model Card) theo chuẩn mực quốc tế; Đảm bảo mô hình không bị định kiến sai lệch giữa các khu vực địa lý.</a:t>
            </a:r>
          </a:p>
        </p:txBody>
      </p:sp>
      <p:sp>
        <p:nvSpPr>
          <p:cNvPr id="9" name="Rectangle 8"/>
          <p:cNvSpPr/>
          <p:nvPr/>
        </p:nvSpPr>
        <p:spPr>
          <a:xfrm>
            <a:off x="6766560" y="1234440"/>
            <a:ext cx="4693615" cy="5166360"/>
          </a:xfrm>
          <a:prstGeom prst="rect">
            <a:avLst/>
          </a:prstGeom>
          <a:solidFill>
            <a:srgbClr val="0F2240"/>
          </a:solidFill>
          <a:ln w="1905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949440" y="2011680"/>
            <a:ext cx="4327855" cy="3657600"/>
          </a:xfrm>
          <a:prstGeom prst="rect">
            <a:avLst/>
          </a:prstGeom>
          <a:noFill/>
        </p:spPr>
        <p:txBody>
          <a:bodyPr wrap="square">
            <a:spAutoFit/>
          </a:bodyPr>
          <a:lstStyle/>
          <a:p>
            <a:pPr algn="ctr">
              <a:defRPr sz="2200" b="1">
                <a:solidFill>
                  <a:srgbClr val="D97706"/>
                </a:solidFill>
                <a:latin typeface="Arial"/>
              </a:defRPr>
            </a:pPr>
            <a:r>
              <a:t>CẢM ƠN THẦY CÔ &amp; HỘI ĐỒNG ĐÃ LẮNG NGHE!</a:t>
            </a:r>
          </a:p>
          <a:p>
            <a:br/>
            <a:br/>
            <a:pPr algn="ctr">
              <a:spcBef>
                <a:spcPts val="1600"/>
              </a:spcBef>
              <a:defRPr sz="1450">
                <a:solidFill>
                  <a:srgbClr val="FFFFFF"/>
                </a:solidFill>
                <a:latin typeface="Arial"/>
              </a:defRPr>
            </a:pPr>
            <a:r>
              <a:t>NHÓM DỰ ÁN SẴN SÀNG TRẢ LỜI MỌI CÂU HỎI VÀ TIẾP THU Ý KIẾN ĐÓNG GÓP TỪ HỘI ĐỒNG KHOA HỌC DỮ LIỆU.</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