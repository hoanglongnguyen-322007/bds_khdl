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07286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728655" cy="2011680"/>
          </a:xfrm>
          <a:prstGeom prst="rect">
            <a:avLst/>
          </a:prstGeom>
          <a:noFill/>
        </p:spPr>
        <p:txBody>
          <a:bodyPr wrap="square">
            <a:spAutoFit/>
          </a:bodyPr>
          <a:lstStyle/>
          <a:p>
            <a:pPr>
              <a:defRPr sz="3200" b="1">
                <a:solidFill>
                  <a:srgbClr val="D97706"/>
                </a:solidFill>
                <a:latin typeface="Arial"/>
              </a:defRPr>
            </a:pPr>
            <a:r>
              <a:t>BÁO CÁO TIẾN ĐỘ DỰ ÁN KHOA HỌC DỮ LIỆU</a:t>
            </a:r>
          </a:p>
          <a:p>
            <a:pPr>
              <a:spcBef>
                <a:spcPts val="1200"/>
              </a:spcBef>
              <a:defRPr sz="1900" b="1">
                <a:solidFill>
                  <a:srgbClr val="FFFFFF"/>
                </a:solidFill>
                <a:latin typeface="Arial"/>
              </a:defRPr>
            </a:pPr>
            <a:r>
              <a:t>PHÂN TÍCH KHÁM PHÁ, SUY LUẬN THỐNG KÊ &amp; MÔ HÌNH HÓA GIÁ BẤT ĐỘNG SẢN HÀ NỘI</a:t>
            </a:r>
          </a:p>
          <a:p>
            <a:pPr>
              <a:spcBef>
                <a:spcPts val="800"/>
              </a:spcBef>
              <a:defRPr sz="1350">
                <a:solidFill>
                  <a:srgbClr val="CBD5E1"/>
                </a:solidFill>
                <a:latin typeface="Arial"/>
              </a:defRPr>
            </a:pPr>
            <a:r>
              <a:t>Dữ liệu thực nghiệm: 33.456 tin rao bán • Tiền xử lý &amp; Làm sạch • Thống kê suy luận • Mô hình hóa &amp; Đánh giá</a:t>
            </a:r>
          </a:p>
        </p:txBody>
      </p:sp>
      <p:sp>
        <p:nvSpPr>
          <p:cNvPr id="5" name="Rectangle 4"/>
          <p:cNvSpPr/>
          <p:nvPr/>
        </p:nvSpPr>
        <p:spPr>
          <a:xfrm>
            <a:off x="731520" y="3931920"/>
            <a:ext cx="5184648" cy="2103120"/>
          </a:xfrm>
          <a:prstGeom prst="rect">
            <a:avLst/>
          </a:prstGeom>
          <a:solidFill>
            <a:srgbClr val="1A365D"/>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D97706"/>
                </a:solidFill>
                <a:latin typeface="Arial"/>
              </a:defRPr>
            </a:pPr>
            <a:r>
              <a:t>🏛️ HỘI ĐỒNG &amp; GIẢNG VIÊN HƯỚNG DẪN</a:t>
            </a:r>
          </a:p>
          <a:p>
            <a:pPr>
              <a:spcBef>
                <a:spcPts val="1000"/>
              </a:spcBef>
              <a:defRPr sz="1300">
                <a:solidFill>
                  <a:srgbClr val="FFFFFF"/>
                </a:solidFill>
                <a:latin typeface="Arial"/>
              </a:defRPr>
            </a:pPr>
            <a:r>
              <a:t>• Môn học: Khoa Học Dữ Liệu Thực Hành (Tuần 1 - 10)</a:t>
            </a:r>
            <a:br/>
            <a:r>
              <a:t>• Bộ môn: Khoa Học Dữ Liệu &amp; Trí Tuệ Nhân Tạo</a:t>
            </a:r>
            <a:br/>
            <a:r>
              <a:t>• Mục tiêu: Nghiệm thu báo cáo tiến độ &amp; Mô hình hóa định giá BĐS</a:t>
            </a:r>
          </a:p>
        </p:txBody>
      </p:sp>
      <p:sp>
        <p:nvSpPr>
          <p:cNvPr id="6" name="Rectangle 5"/>
          <p:cNvSpPr/>
          <p:nvPr/>
        </p:nvSpPr>
        <p:spPr>
          <a:xfrm>
            <a:off x="6272784" y="3931920"/>
            <a:ext cx="5184648" cy="2103120"/>
          </a:xfrm>
          <a:prstGeom prst="rect">
            <a:avLst/>
          </a:prstGeom>
          <a:solidFill>
            <a:srgbClr val="1A365D"/>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D97706"/>
                </a:solidFill>
                <a:latin typeface="Arial"/>
              </a:defRPr>
            </a:pPr>
            <a:r>
              <a:t>👨‍💻 NHÓM SINH VIÊN THỰC HIỆN DỰ ÁN</a:t>
            </a:r>
          </a:p>
          <a:p>
            <a:pPr>
              <a:spcBef>
                <a:spcPts val="1000"/>
              </a:spcBef>
              <a:defRPr sz="1300">
                <a:solidFill>
                  <a:srgbClr val="FFFFFF"/>
                </a:solidFill>
                <a:latin typeface="Arial"/>
              </a:defRPr>
            </a:pPr>
            <a:r>
              <a:t>• Sinh viên thực hiện: Hoàng Long &amp; Cộng sự</a:t>
            </a:r>
            <a:br/>
            <a:r>
              <a:t>• Chuyên ngành: Khoa Học Dữ Liệu / Trí Tuệ Nhân Tạo</a:t>
            </a:r>
            <a:br/>
            <a:r>
              <a:t>• Thời gian nghiệm thu: Tháng 10/2026</a:t>
            </a:r>
            <a:br/>
            <a:r>
              <a:t>• Phạm vi nghiên cứu: 30 Quận / Huyện TP. Hà Nội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Bối Cảnh Thị Trường &amp; 3 Bài Toán Khoa Học Dữ Liệu</a:t>
            </a:r>
          </a:p>
        </p:txBody>
      </p:sp>
      <p:sp>
        <p:nvSpPr>
          <p:cNvPr id="5" name="Rectangle 4"/>
          <p:cNvSpPr/>
          <p:nvPr/>
        </p:nvSpPr>
        <p:spPr>
          <a:xfrm>
            <a:off x="731520" y="1234440"/>
            <a:ext cx="3328416"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3328416" cy="43891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2999232" cy="365760"/>
          </a:xfrm>
          <a:prstGeom prst="rect">
            <a:avLst/>
          </a:prstGeom>
          <a:noFill/>
        </p:spPr>
        <p:txBody>
          <a:bodyPr wrap="square">
            <a:spAutoFit/>
          </a:bodyPr>
          <a:lstStyle/>
          <a:p>
            <a:pPr>
              <a:defRPr sz="1350" b="1">
                <a:solidFill>
                  <a:srgbClr val="FFFFFF"/>
                </a:solidFill>
                <a:latin typeface="Arial"/>
              </a:defRPr>
            </a:pPr>
            <a:r>
              <a:t>BÀI TOÁN 1: DỰ BÁO GIÁ</a:t>
            </a:r>
          </a:p>
        </p:txBody>
      </p:sp>
      <p:sp>
        <p:nvSpPr>
          <p:cNvPr id="8" name="TextBox 7"/>
          <p:cNvSpPr txBox="1"/>
          <p:nvPr/>
        </p:nvSpPr>
        <p:spPr>
          <a:xfrm>
            <a:off x="914400" y="1764792"/>
            <a:ext cx="2962656" cy="4544568"/>
          </a:xfrm>
          <a:prstGeom prst="rect">
            <a:avLst/>
          </a:prstGeom>
          <a:noFill/>
        </p:spPr>
        <p:txBody>
          <a:bodyPr wrap="square">
            <a:spAutoFit/>
          </a:bodyPr>
          <a:lstStyle/>
          <a:p>
            <a:pPr>
              <a:defRPr sz="1350" b="1">
                <a:solidFill>
                  <a:srgbClr val="D97706"/>
                </a:solidFill>
                <a:latin typeface="Arial"/>
              </a:defRPr>
            </a:pPr>
            <a:r>
              <a:t>🎯 GIẢI MÃ TÍNH PHI TUYẾN</a:t>
            </a:r>
          </a:p>
          <a:p>
            <a:pPr>
              <a:spcBef>
                <a:spcPts val="1400"/>
              </a:spcBef>
              <a:defRPr sz="1300" b="1">
                <a:solidFill>
                  <a:srgbClr val="1A365D"/>
                </a:solidFill>
                <a:latin typeface="Arial"/>
              </a:defRPr>
            </a:pPr>
            <a:r>
              <a:t>• Thực trạng thị trường:</a:t>
            </a:r>
          </a:p>
          <a:p>
            <a:pPr>
              <a:spcBef>
                <a:spcPts val="300"/>
              </a:spcBef>
              <a:defRPr sz="1250">
                <a:solidFill>
                  <a:srgbClr val="1E293B"/>
                </a:solidFill>
                <a:latin typeface="Arial"/>
              </a:defRPr>
            </a:pPr>
            <a:r>
              <a:t>Thị trường BĐS Hà Nội biến động mạnh, chênh lệch giữa các quận lên tới 10 lần.</a:t>
            </a:r>
          </a:p>
          <a:p>
            <a:pPr>
              <a:spcBef>
                <a:spcPts val="1400"/>
              </a:spcBef>
              <a:defRPr sz="1300" b="1">
                <a:solidFill>
                  <a:srgbClr val="1A365D"/>
                </a:solidFill>
                <a:latin typeface="Arial"/>
              </a:defRPr>
            </a:pPr>
            <a:r>
              <a:t>• Mục tiêu kỹ thuật:</a:t>
            </a:r>
          </a:p>
          <a:p>
            <a:pPr>
              <a:spcBef>
                <a:spcPts val="300"/>
              </a:spcBef>
              <a:defRPr sz="1250">
                <a:solidFill>
                  <a:srgbClr val="1E293B"/>
                </a:solidFill>
                <a:latin typeface="Arial"/>
              </a:defRPr>
            </a:pPr>
            <a:r>
              <a:t>Xây dựng thuật toán Machine Learning (GBDT, Random Forest) dự báo đơn giá m² chính xác.</a:t>
            </a:r>
          </a:p>
          <a:p>
            <a:pPr>
              <a:spcBef>
                <a:spcPts val="1400"/>
              </a:spcBef>
              <a:defRPr sz="1300" b="1">
                <a:solidFill>
                  <a:srgbClr val="1A365D"/>
                </a:solidFill>
                <a:latin typeface="Arial"/>
              </a:defRPr>
            </a:pPr>
            <a:r>
              <a:t>• Chỉ số kỳ vọng:</a:t>
            </a:r>
          </a:p>
          <a:p>
            <a:pPr>
              <a:spcBef>
                <a:spcPts val="300"/>
              </a:spcBef>
              <a:defRPr sz="1250">
                <a:solidFill>
                  <a:srgbClr val="1E293B"/>
                </a:solidFill>
                <a:latin typeface="Arial"/>
              </a:defRPr>
            </a:pPr>
            <a:r>
              <a:t>Đạt sai số MAE &lt; 28 triệu/m² và hệ số xác định R² &gt; 0.40 trên tập kiểm thử độc lập.</a:t>
            </a:r>
          </a:p>
        </p:txBody>
      </p:sp>
      <p:sp>
        <p:nvSpPr>
          <p:cNvPr id="9" name="Rectangle 8"/>
          <p:cNvSpPr/>
          <p:nvPr/>
        </p:nvSpPr>
        <p:spPr>
          <a:xfrm>
            <a:off x="4425696" y="1234440"/>
            <a:ext cx="3328416"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5696" y="1234440"/>
            <a:ext cx="3328416" cy="43891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271016"/>
            <a:ext cx="2999232" cy="365760"/>
          </a:xfrm>
          <a:prstGeom prst="rect">
            <a:avLst/>
          </a:prstGeom>
          <a:noFill/>
        </p:spPr>
        <p:txBody>
          <a:bodyPr wrap="square">
            <a:spAutoFit/>
          </a:bodyPr>
          <a:lstStyle/>
          <a:p>
            <a:pPr>
              <a:defRPr sz="1350" b="1">
                <a:solidFill>
                  <a:srgbClr val="FFFFFF"/>
                </a:solidFill>
                <a:latin typeface="Arial"/>
              </a:defRPr>
            </a:pPr>
            <a:r>
              <a:t>BÀI TOÁN 2: THẨM ĐỊNH</a:t>
            </a:r>
          </a:p>
        </p:txBody>
      </p:sp>
      <p:sp>
        <p:nvSpPr>
          <p:cNvPr id="12" name="TextBox 11"/>
          <p:cNvSpPr txBox="1"/>
          <p:nvPr/>
        </p:nvSpPr>
        <p:spPr>
          <a:xfrm>
            <a:off x="4608576" y="1764792"/>
            <a:ext cx="2962656" cy="4544568"/>
          </a:xfrm>
          <a:prstGeom prst="rect">
            <a:avLst/>
          </a:prstGeom>
          <a:noFill/>
        </p:spPr>
        <p:txBody>
          <a:bodyPr wrap="square">
            <a:spAutoFit/>
          </a:bodyPr>
          <a:lstStyle/>
          <a:p>
            <a:pPr>
              <a:defRPr sz="1350" b="1">
                <a:solidFill>
                  <a:srgbClr val="D97706"/>
                </a:solidFill>
                <a:latin typeface="Arial"/>
              </a:defRPr>
            </a:pPr>
            <a:r>
              <a:t>🎯 QUẢN TRỊ RỦI RO TÍN DỤNG</a:t>
            </a:r>
          </a:p>
          <a:p>
            <a:pPr>
              <a:spcBef>
                <a:spcPts val="1400"/>
              </a:spcBef>
              <a:defRPr sz="1300" b="1">
                <a:solidFill>
                  <a:srgbClr val="1A365D"/>
                </a:solidFill>
                <a:latin typeface="Arial"/>
              </a:defRPr>
            </a:pPr>
            <a:r>
              <a:t>• Thực trạng tài chính:</a:t>
            </a:r>
          </a:p>
          <a:p>
            <a:pPr>
              <a:spcBef>
                <a:spcPts val="300"/>
              </a:spcBef>
              <a:defRPr sz="1250">
                <a:solidFill>
                  <a:srgbClr val="1E293B"/>
                </a:solidFill>
                <a:latin typeface="Arial"/>
              </a:defRPr>
            </a:pPr>
            <a:r>
              <a:t>Ngân hàng và nhà đầu tư đối mặt rủi ro nợ xấu khi định giá tài sản sai lệch.</a:t>
            </a:r>
          </a:p>
          <a:p>
            <a:pPr>
              <a:spcBef>
                <a:spcPts val="1400"/>
              </a:spcBef>
              <a:defRPr sz="1300" b="1">
                <a:solidFill>
                  <a:srgbClr val="1A365D"/>
                </a:solidFill>
                <a:latin typeface="Arial"/>
              </a:defRPr>
            </a:pPr>
            <a:r>
              <a:t>• Mục tiêu kỹ thuật:</a:t>
            </a:r>
          </a:p>
          <a:p>
            <a:pPr>
              <a:spcBef>
                <a:spcPts val="300"/>
              </a:spcBef>
              <a:defRPr sz="1250">
                <a:solidFill>
                  <a:srgbClr val="1E293B"/>
                </a:solidFill>
                <a:latin typeface="Arial"/>
              </a:defRPr>
            </a:pPr>
            <a:r>
              <a:t>Thống kê suy luận (Welch's T-Test, ANOVA) và khoảng tin cậy 95% Bootstrap.</a:t>
            </a:r>
          </a:p>
          <a:p>
            <a:pPr>
              <a:spcBef>
                <a:spcPts val="1400"/>
              </a:spcBef>
              <a:defRPr sz="1300" b="1">
                <a:solidFill>
                  <a:srgbClr val="1A365D"/>
                </a:solidFill>
                <a:latin typeface="Arial"/>
              </a:defRPr>
            </a:pPr>
            <a:r>
              <a:t>• Chỉ số kỳ vọng:</a:t>
            </a:r>
          </a:p>
          <a:p>
            <a:pPr>
              <a:spcBef>
                <a:spcPts val="300"/>
              </a:spcBef>
              <a:defRPr sz="1250">
                <a:solidFill>
                  <a:srgbClr val="1E293B"/>
                </a:solidFill>
                <a:latin typeface="Arial"/>
              </a:defRPr>
            </a:pPr>
            <a:r>
              <a:t>Xác lập biên độ định giá an toàn (Lower-Upper Bound) cho 30 Quận/Huyện.</a:t>
            </a:r>
          </a:p>
        </p:txBody>
      </p:sp>
      <p:sp>
        <p:nvSpPr>
          <p:cNvPr id="13" name="Rectangle 12"/>
          <p:cNvSpPr/>
          <p:nvPr/>
        </p:nvSpPr>
        <p:spPr>
          <a:xfrm>
            <a:off x="8119872" y="1234440"/>
            <a:ext cx="3328416"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234440"/>
            <a:ext cx="3328416" cy="43891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1271016"/>
            <a:ext cx="2999232" cy="365760"/>
          </a:xfrm>
          <a:prstGeom prst="rect">
            <a:avLst/>
          </a:prstGeom>
          <a:noFill/>
        </p:spPr>
        <p:txBody>
          <a:bodyPr wrap="square">
            <a:spAutoFit/>
          </a:bodyPr>
          <a:lstStyle/>
          <a:p>
            <a:pPr>
              <a:defRPr sz="1350" b="1">
                <a:solidFill>
                  <a:srgbClr val="FFFFFF"/>
                </a:solidFill>
                <a:latin typeface="Arial"/>
              </a:defRPr>
            </a:pPr>
            <a:r>
              <a:t>BÀI TOÁN 3: ĐẦU TƯ</a:t>
            </a:r>
          </a:p>
        </p:txBody>
      </p:sp>
      <p:sp>
        <p:nvSpPr>
          <p:cNvPr id="16" name="TextBox 15"/>
          <p:cNvSpPr txBox="1"/>
          <p:nvPr/>
        </p:nvSpPr>
        <p:spPr>
          <a:xfrm>
            <a:off x="8302752" y="1764792"/>
            <a:ext cx="2962656" cy="4544568"/>
          </a:xfrm>
          <a:prstGeom prst="rect">
            <a:avLst/>
          </a:prstGeom>
          <a:noFill/>
        </p:spPr>
        <p:txBody>
          <a:bodyPr wrap="square">
            <a:spAutoFit/>
          </a:bodyPr>
          <a:lstStyle/>
          <a:p>
            <a:pPr>
              <a:defRPr sz="1350" b="1">
                <a:solidFill>
                  <a:srgbClr val="D97706"/>
                </a:solidFill>
                <a:latin typeface="Arial"/>
              </a:defRPr>
            </a:pPr>
            <a:r>
              <a:t>🎯 PHÂN KHÚC &amp; QUẬN SONG SINH</a:t>
            </a:r>
          </a:p>
          <a:p>
            <a:pPr>
              <a:spcBef>
                <a:spcPts val="1400"/>
              </a:spcBef>
              <a:defRPr sz="1300" b="1">
                <a:solidFill>
                  <a:srgbClr val="1A365D"/>
                </a:solidFill>
                <a:latin typeface="Arial"/>
              </a:defRPr>
            </a:pPr>
            <a:r>
              <a:t>• Thực trạng đầu tư:</a:t>
            </a:r>
          </a:p>
          <a:p>
            <a:pPr>
              <a:spcBef>
                <a:spcPts val="300"/>
              </a:spcBef>
              <a:defRPr sz="1250">
                <a:solidFill>
                  <a:srgbClr val="1E293B"/>
                </a:solidFill>
                <a:latin typeface="Arial"/>
              </a:defRPr>
            </a:pPr>
            <a:r>
              <a:t>Nhà đầu tư khó nhận diện phân khúc giá và các khu vực có tỷ suất sinh lời tương đương.</a:t>
            </a:r>
          </a:p>
          <a:p>
            <a:pPr>
              <a:spcBef>
                <a:spcPts val="1400"/>
              </a:spcBef>
              <a:defRPr sz="1300" b="1">
                <a:solidFill>
                  <a:srgbClr val="1A365D"/>
                </a:solidFill>
                <a:latin typeface="Arial"/>
              </a:defRPr>
            </a:pPr>
            <a:r>
              <a:t>• Mục tiêu kỹ thuật:</a:t>
            </a:r>
          </a:p>
          <a:p>
            <a:pPr>
              <a:spcBef>
                <a:spcPts val="300"/>
              </a:spcBef>
              <a:defRPr sz="1250">
                <a:solidFill>
                  <a:srgbClr val="1E293B"/>
                </a:solidFill>
                <a:latin typeface="Arial"/>
              </a:defRPr>
            </a:pPr>
            <a:r>
              <a:t>Phân tích phương sai ANOVA &amp; Tukey HSD tìm kiếm 9 cặp quận tương đồng giá (Substitute Assets).</a:t>
            </a:r>
          </a:p>
          <a:p>
            <a:pPr>
              <a:spcBef>
                <a:spcPts val="1400"/>
              </a:spcBef>
              <a:defRPr sz="1300" b="1">
                <a:solidFill>
                  <a:srgbClr val="1A365D"/>
                </a:solidFill>
                <a:latin typeface="Arial"/>
              </a:defRPr>
            </a:pPr>
            <a:r>
              <a:t>• Chỉ số kỳ vọng:</a:t>
            </a:r>
          </a:p>
          <a:p>
            <a:pPr>
              <a:spcBef>
                <a:spcPts val="300"/>
              </a:spcBef>
              <a:defRPr sz="1250">
                <a:solidFill>
                  <a:srgbClr val="1E293B"/>
                </a:solidFill>
                <a:latin typeface="Arial"/>
              </a:defRPr>
            </a:pPr>
            <a:r>
              <a:t>Xác lập bản đồ phân khúc giá 30 Quận/Huyện phục vụ chiến lược dịch chuyển dòng vốn đầu tư.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Phễu Sàng Lọc &amp; Làm Sạch Dữ Liệu (33.456 ➔ 21.142 Bản Ghi)</a:t>
            </a:r>
          </a:p>
        </p:txBody>
      </p:sp>
      <p:sp>
        <p:nvSpPr>
          <p:cNvPr id="5" name="Rectangle 4"/>
          <p:cNvSpPr/>
          <p:nvPr/>
        </p:nvSpPr>
        <p:spPr>
          <a:xfrm>
            <a:off x="731520" y="1234440"/>
            <a:ext cx="2542032" cy="137160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Arial"/>
              </a:defRPr>
            </a:pPr>
            <a:r>
              <a:t>BƯỚC 1: DỮ LIỆU THÔ</a:t>
            </a:r>
          </a:p>
          <a:p>
            <a:pPr>
              <a:spcBef>
                <a:spcPts val="200"/>
              </a:spcBef>
              <a:defRPr sz="2400" b="1">
                <a:solidFill>
                  <a:srgbClr val="FFFFFF"/>
                </a:solidFill>
                <a:latin typeface="Arial"/>
              </a:defRPr>
            </a:pPr>
            <a:r>
              <a:t>33.456</a:t>
            </a:r>
          </a:p>
          <a:p>
            <a:pPr>
              <a:spcBef>
                <a:spcPts val="200"/>
              </a:spcBef>
              <a:defRPr sz="1100">
                <a:solidFill>
                  <a:srgbClr val="E2E8F0"/>
                </a:solidFill>
                <a:latin typeface="Arial"/>
              </a:defRPr>
            </a:pPr>
            <a:r>
              <a:t>100.0% • Thu thập đa nguồn</a:t>
            </a:r>
          </a:p>
        </p:txBody>
      </p:sp>
      <p:sp>
        <p:nvSpPr>
          <p:cNvPr id="6" name="Rectangle 5"/>
          <p:cNvSpPr/>
          <p:nvPr/>
        </p:nvSpPr>
        <p:spPr>
          <a:xfrm>
            <a:off x="3456432" y="1234440"/>
            <a:ext cx="2542032" cy="137160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Arial"/>
              </a:defRPr>
            </a:pPr>
            <a:r>
              <a:t>BƯỚC 2: LỌC MISSING</a:t>
            </a:r>
          </a:p>
          <a:p>
            <a:pPr>
              <a:spcBef>
                <a:spcPts val="200"/>
              </a:spcBef>
              <a:defRPr sz="2400" b="1">
                <a:solidFill>
                  <a:srgbClr val="FFFFFF"/>
                </a:solidFill>
                <a:latin typeface="Arial"/>
              </a:defRPr>
            </a:pPr>
            <a:r>
              <a:t>29.478</a:t>
            </a:r>
          </a:p>
          <a:p>
            <a:pPr>
              <a:spcBef>
                <a:spcPts val="200"/>
              </a:spcBef>
              <a:defRPr sz="1100">
                <a:solidFill>
                  <a:srgbClr val="E2E8F0"/>
                </a:solidFill>
                <a:latin typeface="Arial"/>
              </a:defRPr>
            </a:pPr>
            <a:r>
              <a:t>88.1% • Loại khuyết giá/diện tích</a:t>
            </a:r>
          </a:p>
        </p:txBody>
      </p:sp>
      <p:sp>
        <p:nvSpPr>
          <p:cNvPr id="7" name="Rectangle 6"/>
          <p:cNvSpPr/>
          <p:nvPr/>
        </p:nvSpPr>
        <p:spPr>
          <a:xfrm>
            <a:off x="6181344" y="1234440"/>
            <a:ext cx="2542032" cy="137160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Arial"/>
              </a:defRPr>
            </a:pPr>
            <a:r>
              <a:t>BƯỚC 3: XỬ LÝ OUTLIERS</a:t>
            </a:r>
          </a:p>
          <a:p>
            <a:pPr>
              <a:spcBef>
                <a:spcPts val="200"/>
              </a:spcBef>
              <a:defRPr sz="2400" b="1">
                <a:solidFill>
                  <a:srgbClr val="FFFFFF"/>
                </a:solidFill>
                <a:latin typeface="Arial"/>
              </a:defRPr>
            </a:pPr>
            <a:r>
              <a:t>25.500</a:t>
            </a:r>
          </a:p>
          <a:p>
            <a:pPr>
              <a:spcBef>
                <a:spcPts val="200"/>
              </a:spcBef>
              <a:defRPr sz="1100">
                <a:solidFill>
                  <a:srgbClr val="E2E8F0"/>
                </a:solidFill>
                <a:latin typeface="Arial"/>
              </a:defRPr>
            </a:pPr>
            <a:r>
              <a:t>76.2% • Cắt tỉa IQR &amp; Z-score</a:t>
            </a:r>
          </a:p>
        </p:txBody>
      </p:sp>
      <p:sp>
        <p:nvSpPr>
          <p:cNvPr id="8" name="Rectangle 7"/>
          <p:cNvSpPr/>
          <p:nvPr/>
        </p:nvSpPr>
        <p:spPr>
          <a:xfrm>
            <a:off x="8906256" y="1234440"/>
            <a:ext cx="2542032" cy="1371600"/>
          </a:xfrm>
          <a:prstGeom prst="rect">
            <a:avLst/>
          </a:prstGeom>
          <a:solidFill>
            <a:srgbClr val="0F224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Arial"/>
              </a:defRPr>
            </a:pPr>
            <a:r>
              <a:t>BƯỚC 4: DỮ LIỆU SẠCH</a:t>
            </a:r>
          </a:p>
          <a:p>
            <a:pPr>
              <a:spcBef>
                <a:spcPts val="200"/>
              </a:spcBef>
              <a:defRPr sz="2400" b="1">
                <a:solidFill>
                  <a:srgbClr val="FFFFFF"/>
                </a:solidFill>
                <a:latin typeface="Arial"/>
              </a:defRPr>
            </a:pPr>
            <a:r>
              <a:t>21.142</a:t>
            </a:r>
          </a:p>
          <a:p>
            <a:pPr>
              <a:spcBef>
                <a:spcPts val="200"/>
              </a:spcBef>
              <a:defRPr sz="1100">
                <a:solidFill>
                  <a:srgbClr val="E2E8F0"/>
                </a:solidFill>
                <a:latin typeface="Arial"/>
              </a:defRPr>
            </a:pPr>
            <a:r>
              <a:t>63.2% • Chuẩn hóa hoàn tất</a:t>
            </a:r>
          </a:p>
        </p:txBody>
      </p:sp>
      <p:graphicFrame>
        <p:nvGraphicFramePr>
          <p:cNvPr id="9" name="Table 8"/>
          <p:cNvGraphicFramePr>
            <a:graphicFrameLocks noGrp="1"/>
          </p:cNvGraphicFramePr>
          <p:nvPr/>
        </p:nvGraphicFramePr>
        <p:xfrm>
          <a:off x="731520" y="2834640"/>
          <a:ext cx="10728655" cy="3566160"/>
        </p:xfrm>
        <a:graphic>
          <a:graphicData uri="http://schemas.openxmlformats.org/drawingml/2006/table">
            <a:tbl>
              <a:tblPr firstRow="1" bandRow="1">
                <a:tableStyleId>{5C22544A-7EE6-4342-B048-85BDC9FD1C3A}</a:tableStyleId>
              </a:tblPr>
              <a:tblGrid>
                <a:gridCol w="2011680"/>
                <a:gridCol w="1371600"/>
                <a:gridCol w="1188720"/>
                <a:gridCol w="6156655"/>
              </a:tblGrid>
              <a:tr h="713232">
                <a:tc>
                  <a:txBody>
                    <a:bodyPr/>
                    <a:lstStyle/>
                    <a:p>
                      <a:pPr algn="ctr">
                        <a:defRPr b="1" sz="1300">
                          <a:solidFill>
                            <a:srgbClr val="FFFFFF"/>
                          </a:solidFill>
                          <a:latin typeface="Arial"/>
                        </a:defRPr>
                      </a:pPr>
                      <a:r>
                        <a:t>Hạng Mục Xử Lý</a:t>
                      </a:r>
                    </a:p>
                  </a:txBody>
                  <a:tcPr anchor="ctr">
                    <a:solidFill>
                      <a:srgbClr val="1A365D"/>
                    </a:solidFill>
                  </a:tcPr>
                </a:tc>
                <a:tc>
                  <a:txBody>
                    <a:bodyPr/>
                    <a:lstStyle/>
                    <a:p>
                      <a:pPr algn="ctr">
                        <a:defRPr b="1" sz="1300">
                          <a:solidFill>
                            <a:srgbClr val="FFFFFF"/>
                          </a:solidFill>
                          <a:latin typeface="Arial"/>
                        </a:defRPr>
                      </a:pPr>
                      <a:r>
                        <a:t>Bản Ghi Loại</a:t>
                      </a:r>
                    </a:p>
                  </a:txBody>
                  <a:tcPr anchor="ctr">
                    <a:solidFill>
                      <a:srgbClr val="1A365D"/>
                    </a:solidFill>
                  </a:tcPr>
                </a:tc>
                <a:tc>
                  <a:txBody>
                    <a:bodyPr/>
                    <a:lstStyle/>
                    <a:p>
                      <a:pPr algn="ctr">
                        <a:defRPr b="1" sz="1300">
                          <a:solidFill>
                            <a:srgbClr val="FFFFFF"/>
                          </a:solidFill>
                          <a:latin typeface="Arial"/>
                        </a:defRPr>
                      </a:pPr>
                      <a:r>
                        <a:t>Tỷ Lệ %</a:t>
                      </a:r>
                    </a:p>
                  </a:txBody>
                  <a:tcPr anchor="ctr">
                    <a:solidFill>
                      <a:srgbClr val="1A365D"/>
                    </a:solidFill>
                  </a:tcPr>
                </a:tc>
                <a:tc>
                  <a:txBody>
                    <a:bodyPr/>
                    <a:lstStyle/>
                    <a:p>
                      <a:pPr algn="ctr">
                        <a:defRPr b="1" sz="1300">
                          <a:solidFill>
                            <a:srgbClr val="FFFFFF"/>
                          </a:solidFill>
                          <a:latin typeface="Arial"/>
                        </a:defRPr>
                      </a:pPr>
                      <a:r>
                        <a:t>Nguyên Nhân Thực Tế &amp; Tác Động Thuật Toán</a:t>
                      </a:r>
                    </a:p>
                  </a:txBody>
                  <a:tcPr anchor="ctr">
                    <a:solidFill>
                      <a:srgbClr val="1A365D"/>
                    </a:solidFill>
                  </a:tcPr>
                </a:tc>
              </a:tr>
              <a:tr h="713232">
                <a:tc>
                  <a:txBody>
                    <a:bodyPr/>
                    <a:lstStyle/>
                    <a:p>
                      <a:pPr>
                        <a:defRPr sz="1250">
                          <a:solidFill>
                            <a:srgbClr val="1E293B"/>
                          </a:solidFill>
                          <a:latin typeface="Arial"/>
                        </a:defRPr>
                      </a:pPr>
                      <a:r>
                        <a:t>Thiếu thông tin (Missing)</a:t>
                      </a:r>
                    </a:p>
                  </a:txBody>
                  <a:tcPr anchor="ctr">
                    <a:solidFill>
                      <a:srgbClr val="FFFFFF"/>
                    </a:solidFill>
                  </a:tcPr>
                </a:tc>
                <a:tc>
                  <a:txBody>
                    <a:bodyPr/>
                    <a:lstStyle/>
                    <a:p>
                      <a:pPr algn="ctr">
                        <a:defRPr sz="1250" b="1">
                          <a:solidFill>
                            <a:srgbClr val="1E293B"/>
                          </a:solidFill>
                          <a:latin typeface="Arial"/>
                        </a:defRPr>
                      </a:pPr>
                      <a:r>
                        <a:t>3.978</a:t>
                      </a:r>
                    </a:p>
                  </a:txBody>
                  <a:tcPr anchor="ctr">
                    <a:solidFill>
                      <a:srgbClr val="FFFFFF"/>
                    </a:solidFill>
                  </a:tcPr>
                </a:tc>
                <a:tc>
                  <a:txBody>
                    <a:bodyPr/>
                    <a:lstStyle/>
                    <a:p>
                      <a:pPr algn="ctr">
                        <a:defRPr sz="1250" b="1">
                          <a:solidFill>
                            <a:srgbClr val="1E293B"/>
                          </a:solidFill>
                          <a:latin typeface="Arial"/>
                        </a:defRPr>
                      </a:pPr>
                      <a:r>
                        <a:t>11.9%</a:t>
                      </a:r>
                    </a:p>
                  </a:txBody>
                  <a:tcPr anchor="ctr">
                    <a:solidFill>
                      <a:srgbClr val="FFFFFF"/>
                    </a:solidFill>
                  </a:tcPr>
                </a:tc>
                <a:tc>
                  <a:txBody>
                    <a:bodyPr/>
                    <a:lstStyle/>
                    <a:p>
                      <a:pPr>
                        <a:defRPr sz="1250">
                          <a:solidFill>
                            <a:srgbClr val="1E293B"/>
                          </a:solidFill>
                          <a:latin typeface="Arial"/>
                        </a:defRPr>
                      </a:pPr>
                      <a:r>
                        <a:t>Tin rao ghi 'Thỏa thuận', thiếu diện tích/giá -&gt; Buộc loại bỏ để tránh biến thiên giả.</a:t>
                      </a:r>
                    </a:p>
                  </a:txBody>
                  <a:tcPr anchor="ctr">
                    <a:solidFill>
                      <a:srgbClr val="FFFFFF"/>
                    </a:solidFill>
                  </a:tcPr>
                </a:tc>
              </a:tr>
              <a:tr h="713232">
                <a:tc>
                  <a:txBody>
                    <a:bodyPr/>
                    <a:lstStyle/>
                    <a:p>
                      <a:pPr>
                        <a:defRPr sz="1250">
                          <a:solidFill>
                            <a:srgbClr val="1E293B"/>
                          </a:solidFill>
                          <a:latin typeface="Arial"/>
                        </a:defRPr>
                      </a:pPr>
                      <a:r>
                        <a:t>Bất thường (Outliers)</a:t>
                      </a:r>
                    </a:p>
                  </a:txBody>
                  <a:tcPr anchor="ctr">
                    <a:solidFill>
                      <a:srgbClr val="F8FAFC"/>
                    </a:solidFill>
                  </a:tcPr>
                </a:tc>
                <a:tc>
                  <a:txBody>
                    <a:bodyPr/>
                    <a:lstStyle/>
                    <a:p>
                      <a:pPr algn="ctr">
                        <a:defRPr sz="1250" b="1">
                          <a:solidFill>
                            <a:srgbClr val="1E293B"/>
                          </a:solidFill>
                          <a:latin typeface="Arial"/>
                        </a:defRPr>
                      </a:pPr>
                      <a:r>
                        <a:t>3.978</a:t>
                      </a:r>
                    </a:p>
                  </a:txBody>
                  <a:tcPr anchor="ctr">
                    <a:solidFill>
                      <a:srgbClr val="F8FAFC"/>
                    </a:solidFill>
                  </a:tcPr>
                </a:tc>
                <a:tc>
                  <a:txBody>
                    <a:bodyPr/>
                    <a:lstStyle/>
                    <a:p>
                      <a:pPr algn="ctr">
                        <a:defRPr sz="1250" b="1">
                          <a:solidFill>
                            <a:srgbClr val="1E293B"/>
                          </a:solidFill>
                          <a:latin typeface="Arial"/>
                        </a:defRPr>
                      </a:pPr>
                      <a:r>
                        <a:t>11.9%</a:t>
                      </a:r>
                    </a:p>
                  </a:txBody>
                  <a:tcPr anchor="ctr">
                    <a:solidFill>
                      <a:srgbClr val="F8FAFC"/>
                    </a:solidFill>
                  </a:tcPr>
                </a:tc>
                <a:tc>
                  <a:txBody>
                    <a:bodyPr/>
                    <a:lstStyle/>
                    <a:p>
                      <a:pPr>
                        <a:defRPr sz="1250">
                          <a:solidFill>
                            <a:srgbClr val="1E293B"/>
                          </a:solidFill>
                          <a:latin typeface="Arial"/>
                        </a:defRPr>
                      </a:pPr>
                      <a:r>
                        <a:t>Tin rác (diện tích 1m², giá 1 tỷ/m² hoặc 1 triệu) -&gt; Lọc theo IQR (10-500m², 15-500 tr/m²).</a:t>
                      </a:r>
                    </a:p>
                  </a:txBody>
                  <a:tcPr anchor="ctr">
                    <a:solidFill>
                      <a:srgbClr val="F8FAFC"/>
                    </a:solidFill>
                  </a:tcPr>
                </a:tc>
              </a:tr>
              <a:tr h="713232">
                <a:tc>
                  <a:txBody>
                    <a:bodyPr/>
                    <a:lstStyle/>
                    <a:p>
                      <a:pPr>
                        <a:defRPr sz="1250">
                          <a:solidFill>
                            <a:srgbClr val="1E293B"/>
                          </a:solidFill>
                          <a:latin typeface="Arial"/>
                        </a:defRPr>
                      </a:pPr>
                      <a:r>
                        <a:t>Tin trùng lặp (Duplicates)</a:t>
                      </a:r>
                    </a:p>
                  </a:txBody>
                  <a:tcPr anchor="ctr">
                    <a:solidFill>
                      <a:srgbClr val="FFFFFF"/>
                    </a:solidFill>
                  </a:tcPr>
                </a:tc>
                <a:tc>
                  <a:txBody>
                    <a:bodyPr/>
                    <a:lstStyle/>
                    <a:p>
                      <a:pPr algn="ctr">
                        <a:defRPr sz="1250" b="1">
                          <a:solidFill>
                            <a:srgbClr val="1E293B"/>
                          </a:solidFill>
                          <a:latin typeface="Arial"/>
                        </a:defRPr>
                      </a:pPr>
                      <a:r>
                        <a:t>2.358</a:t>
                      </a:r>
                    </a:p>
                  </a:txBody>
                  <a:tcPr anchor="ctr">
                    <a:solidFill>
                      <a:srgbClr val="FFFFFF"/>
                    </a:solidFill>
                  </a:tcPr>
                </a:tc>
                <a:tc>
                  <a:txBody>
                    <a:bodyPr/>
                    <a:lstStyle/>
                    <a:p>
                      <a:pPr algn="ctr">
                        <a:defRPr sz="1250" b="1">
                          <a:solidFill>
                            <a:srgbClr val="1E293B"/>
                          </a:solidFill>
                          <a:latin typeface="Arial"/>
                        </a:defRPr>
                      </a:pPr>
                      <a:r>
                        <a:t>7.0%</a:t>
                      </a:r>
                    </a:p>
                  </a:txBody>
                  <a:tcPr anchor="ctr">
                    <a:solidFill>
                      <a:srgbClr val="FFFFFF"/>
                    </a:solidFill>
                  </a:tcPr>
                </a:tc>
                <a:tc>
                  <a:txBody>
                    <a:bodyPr/>
                    <a:lstStyle/>
                    <a:p>
                      <a:pPr>
                        <a:defRPr sz="1250">
                          <a:solidFill>
                            <a:srgbClr val="1E293B"/>
                          </a:solidFill>
                          <a:latin typeface="Arial"/>
                        </a:defRPr>
                      </a:pPr>
                      <a:r>
                        <a:t>Một BĐS được nhiều môi giới đăng lại nhiều lần -&gt; Giữ bản ghi duy nhất theo địa chỉ &amp; diện tích.</a:t>
                      </a:r>
                    </a:p>
                  </a:txBody>
                  <a:tcPr anchor="ctr">
                    <a:solidFill>
                      <a:srgbClr val="FFFFFF"/>
                    </a:solidFill>
                  </a:tcPr>
                </a:tc>
              </a:tr>
              <a:tr h="713232">
                <a:tc>
                  <a:txBody>
                    <a:bodyPr/>
                    <a:lstStyle/>
                    <a:p>
                      <a:pPr>
                        <a:defRPr sz="1250">
                          <a:solidFill>
                            <a:srgbClr val="1E293B"/>
                          </a:solidFill>
                          <a:latin typeface="Arial"/>
                        </a:defRPr>
                      </a:pPr>
                      <a:r>
                        <a:t>Nhiễu mô tả (Noise Text)</a:t>
                      </a:r>
                    </a:p>
                  </a:txBody>
                  <a:tcPr anchor="ctr">
                    <a:solidFill>
                      <a:srgbClr val="F8FAFC"/>
                    </a:solidFill>
                  </a:tcPr>
                </a:tc>
                <a:tc>
                  <a:txBody>
                    <a:bodyPr/>
                    <a:lstStyle/>
                    <a:p>
                      <a:pPr algn="ctr">
                        <a:defRPr sz="1250" b="1">
                          <a:solidFill>
                            <a:srgbClr val="1E293B"/>
                          </a:solidFill>
                          <a:latin typeface="Arial"/>
                        </a:defRPr>
                      </a:pPr>
                      <a:r>
                        <a:t>2.000</a:t>
                      </a:r>
                    </a:p>
                  </a:txBody>
                  <a:tcPr anchor="ctr">
                    <a:solidFill>
                      <a:srgbClr val="F8FAFC"/>
                    </a:solidFill>
                  </a:tcPr>
                </a:tc>
                <a:tc>
                  <a:txBody>
                    <a:bodyPr/>
                    <a:lstStyle/>
                    <a:p>
                      <a:pPr algn="ctr">
                        <a:defRPr sz="1250" b="1">
                          <a:solidFill>
                            <a:srgbClr val="1E293B"/>
                          </a:solidFill>
                          <a:latin typeface="Arial"/>
                        </a:defRPr>
                      </a:pPr>
                      <a:r>
                        <a:t>6.0%</a:t>
                      </a:r>
                    </a:p>
                  </a:txBody>
                  <a:tcPr anchor="ctr">
                    <a:solidFill>
                      <a:srgbClr val="F8FAFC"/>
                    </a:solidFill>
                  </a:tcPr>
                </a:tc>
                <a:tc>
                  <a:txBody>
                    <a:bodyPr/>
                    <a:lstStyle/>
                    <a:p>
                      <a:pPr>
                        <a:defRPr sz="1250">
                          <a:solidFill>
                            <a:srgbClr val="1E293B"/>
                          </a:solidFill>
                          <a:latin typeface="Arial"/>
                        </a:defRPr>
                      </a:pPr>
                      <a:r>
                        <a:t>Chữ viết hoa lẫn lộn, ký hiệu lạ -&gt; Xóa bỏ ký tự thừa, chuẩn hóa về dạng chữ số chuẩn.</a:t>
                      </a:r>
                    </a:p>
                  </a:txBody>
                  <a:tcPr anchor="ctr">
                    <a:solidFill>
                      <a:srgbClr val="F8FA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Kỹ Nghệ Đặc Trưng 3 Trụ Cột (Feature Engineering)</a:t>
            </a:r>
          </a:p>
        </p:txBody>
      </p:sp>
      <p:sp>
        <p:nvSpPr>
          <p:cNvPr id="5" name="Rectangle 4"/>
          <p:cNvSpPr/>
          <p:nvPr/>
        </p:nvSpPr>
        <p:spPr>
          <a:xfrm>
            <a:off x="731520" y="1234440"/>
            <a:ext cx="3328416"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3328416"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2999232" cy="530352"/>
          </a:xfrm>
          <a:prstGeom prst="rect">
            <a:avLst/>
          </a:prstGeom>
          <a:noFill/>
        </p:spPr>
        <p:txBody>
          <a:bodyPr wrap="square">
            <a:spAutoFit/>
          </a:bodyPr>
          <a:lstStyle/>
          <a:p>
            <a:pPr>
              <a:defRPr sz="1250" b="1">
                <a:solidFill>
                  <a:srgbClr val="FFFFFF"/>
                </a:solidFill>
                <a:latin typeface="Arial"/>
              </a:defRPr>
            </a:pPr>
            <a:r>
              <a:t>NHÓM 1: KHÔNG GIAN &amp; VỊ TRÍ</a:t>
            </a:r>
          </a:p>
        </p:txBody>
      </p:sp>
      <p:sp>
        <p:nvSpPr>
          <p:cNvPr id="8" name="TextBox 7"/>
          <p:cNvSpPr txBox="1"/>
          <p:nvPr/>
        </p:nvSpPr>
        <p:spPr>
          <a:xfrm>
            <a:off x="914400" y="1929384"/>
            <a:ext cx="2962656" cy="4379976"/>
          </a:xfrm>
          <a:prstGeom prst="rect">
            <a:avLst/>
          </a:prstGeom>
          <a:noFill/>
        </p:spPr>
        <p:txBody>
          <a:bodyPr wrap="square">
            <a:spAutoFit/>
          </a:bodyPr>
          <a:lstStyle/>
          <a:p>
            <a:pPr>
              <a:defRPr sz="1350" b="1">
                <a:solidFill>
                  <a:srgbClr val="D97706"/>
                </a:solidFill>
                <a:latin typeface="Arial"/>
              </a:defRPr>
            </a:pPr>
            <a:r>
              <a:t>• Mã hóa One-Hot 30 Quận/Huyện:</a:t>
            </a:r>
          </a:p>
          <a:p>
            <a:pPr>
              <a:spcBef>
                <a:spcPts val="400"/>
              </a:spcBef>
              <a:defRPr sz="1250">
                <a:solidFill>
                  <a:srgbClr val="1E293B"/>
                </a:solidFill>
                <a:latin typeface="Arial"/>
              </a:defRPr>
            </a:pPr>
            <a:r>
              <a:t>Chuyển đổi biến phân loại vị trí thành vector nhị phân, loại bỏ thứ tự giả định sai lệch.</a:t>
            </a:r>
          </a:p>
          <a:p>
            <a:pPr>
              <a:spcBef>
                <a:spcPts val="1800"/>
              </a:spcBef>
              <a:defRPr sz="1350" b="1">
                <a:solidFill>
                  <a:srgbClr val="D97706"/>
                </a:solidFill>
                <a:latin typeface="Arial"/>
              </a:defRPr>
            </a:pPr>
            <a:r>
              <a:t>• Khoảng cách tới Trung tâm:</a:t>
            </a:r>
          </a:p>
          <a:p>
            <a:pPr>
              <a:spcBef>
                <a:spcPts val="400"/>
              </a:spcBef>
              <a:defRPr sz="1250">
                <a:solidFill>
                  <a:srgbClr val="1E293B"/>
                </a:solidFill>
                <a:latin typeface="Arial"/>
              </a:defRPr>
            </a:pPr>
            <a:r>
              <a:t>Tính bán kính hình học từ tọa độ tâm quận tới Hồ Hoàn Kiếm (0km - 35km).</a:t>
            </a:r>
          </a:p>
          <a:p>
            <a:pPr>
              <a:spcBef>
                <a:spcPts val="1800"/>
              </a:spcBef>
              <a:defRPr sz="1350" b="1">
                <a:solidFill>
                  <a:srgbClr val="D97706"/>
                </a:solidFill>
                <a:latin typeface="Arial"/>
              </a:defRPr>
            </a:pPr>
            <a:r>
              <a:t>• Phân tầng 3 Vùng Kinh Tế:</a:t>
            </a:r>
          </a:p>
          <a:p>
            <a:pPr>
              <a:spcBef>
                <a:spcPts val="400"/>
              </a:spcBef>
              <a:defRPr sz="1250">
                <a:solidFill>
                  <a:srgbClr val="1E293B"/>
                </a:solidFill>
                <a:latin typeface="Arial"/>
              </a:defRPr>
            </a:pPr>
            <a:r>
              <a:t>Lõi di sản (Hoàn Kiếm, Ba Đình), Cận trung tâm (Cầu Giấy, Đống Đa), và Vành đai ven đô.</a:t>
            </a:r>
          </a:p>
        </p:txBody>
      </p:sp>
      <p:sp>
        <p:nvSpPr>
          <p:cNvPr id="9" name="Rectangle 8"/>
          <p:cNvSpPr/>
          <p:nvPr/>
        </p:nvSpPr>
        <p:spPr>
          <a:xfrm>
            <a:off x="4425696" y="1234440"/>
            <a:ext cx="3328416"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5696" y="1234440"/>
            <a:ext cx="3328416"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271016"/>
            <a:ext cx="2999232" cy="530352"/>
          </a:xfrm>
          <a:prstGeom prst="rect">
            <a:avLst/>
          </a:prstGeom>
          <a:noFill/>
        </p:spPr>
        <p:txBody>
          <a:bodyPr wrap="square">
            <a:spAutoFit/>
          </a:bodyPr>
          <a:lstStyle/>
          <a:p>
            <a:pPr>
              <a:defRPr sz="1250" b="1">
                <a:solidFill>
                  <a:srgbClr val="FFFFFF"/>
                </a:solidFill>
                <a:latin typeface="Arial"/>
              </a:defRPr>
            </a:pPr>
            <a:r>
              <a:t>NHÓM 2: QUY MÔ HÌNH HỌC</a:t>
            </a:r>
          </a:p>
        </p:txBody>
      </p:sp>
      <p:sp>
        <p:nvSpPr>
          <p:cNvPr id="12" name="TextBox 11"/>
          <p:cNvSpPr txBox="1"/>
          <p:nvPr/>
        </p:nvSpPr>
        <p:spPr>
          <a:xfrm>
            <a:off x="4608576" y="1929384"/>
            <a:ext cx="2962656" cy="4379976"/>
          </a:xfrm>
          <a:prstGeom prst="rect">
            <a:avLst/>
          </a:prstGeom>
          <a:noFill/>
        </p:spPr>
        <p:txBody>
          <a:bodyPr wrap="square">
            <a:spAutoFit/>
          </a:bodyPr>
          <a:lstStyle/>
          <a:p>
            <a:pPr>
              <a:defRPr sz="1350" b="1">
                <a:solidFill>
                  <a:srgbClr val="D97706"/>
                </a:solidFill>
                <a:latin typeface="Arial"/>
              </a:defRPr>
            </a:pPr>
            <a:r>
              <a:t>• Chuẩn hóa Đơn giá m²:</a:t>
            </a:r>
          </a:p>
          <a:p>
            <a:pPr>
              <a:spcBef>
                <a:spcPts val="400"/>
              </a:spcBef>
              <a:defRPr sz="1250">
                <a:solidFill>
                  <a:srgbClr val="1E293B"/>
                </a:solidFill>
                <a:latin typeface="Arial"/>
              </a:defRPr>
            </a:pPr>
            <a:r>
              <a:t>Tạo biến mục tiêu chuẩn hóa `price_per_m2 = total_price / area` giúp loại trừ sai lệch diện tích.</a:t>
            </a:r>
          </a:p>
          <a:p>
            <a:pPr>
              <a:spcBef>
                <a:spcPts val="1800"/>
              </a:spcBef>
              <a:defRPr sz="1350" b="1">
                <a:solidFill>
                  <a:srgbClr val="D97706"/>
                </a:solidFill>
                <a:latin typeface="Arial"/>
              </a:defRPr>
            </a:pPr>
            <a:r>
              <a:t>• Tỷ lệ Chiều rộng / Chiều sâu:</a:t>
            </a:r>
          </a:p>
          <a:p>
            <a:pPr>
              <a:spcBef>
                <a:spcPts val="400"/>
              </a:spcBef>
              <a:defRPr sz="1250">
                <a:solidFill>
                  <a:srgbClr val="1E293B"/>
                </a:solidFill>
                <a:latin typeface="Arial"/>
              </a:defRPr>
            </a:pPr>
            <a:r>
              <a:t>Nhận diện thế đất vuông vức hay nở hậu, ảnh hưởng trực tiếp đến giá trị thương mại.</a:t>
            </a:r>
          </a:p>
          <a:p>
            <a:pPr>
              <a:spcBef>
                <a:spcPts val="1800"/>
              </a:spcBef>
              <a:defRPr sz="1350" b="1">
                <a:solidFill>
                  <a:srgbClr val="D97706"/>
                </a:solidFill>
                <a:latin typeface="Arial"/>
              </a:defRPr>
            </a:pPr>
            <a:r>
              <a:t>• Tương tác Diện tích &amp; Tầng:</a:t>
            </a:r>
          </a:p>
          <a:p>
            <a:pPr>
              <a:spcBef>
                <a:spcPts val="400"/>
              </a:spcBef>
              <a:defRPr sz="1250">
                <a:solidFill>
                  <a:srgbClr val="1E293B"/>
                </a:solidFill>
                <a:latin typeface="Arial"/>
              </a:defRPr>
            </a:pPr>
            <a:r>
              <a:t>Tính tổng diện tích sàn sử dụng thực tế (GFA = area * floors).</a:t>
            </a:r>
          </a:p>
        </p:txBody>
      </p:sp>
      <p:sp>
        <p:nvSpPr>
          <p:cNvPr id="13" name="Rectangle 12"/>
          <p:cNvSpPr/>
          <p:nvPr/>
        </p:nvSpPr>
        <p:spPr>
          <a:xfrm>
            <a:off x="8119872" y="1234440"/>
            <a:ext cx="3328416"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234440"/>
            <a:ext cx="3328416"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1271016"/>
            <a:ext cx="2999232" cy="530352"/>
          </a:xfrm>
          <a:prstGeom prst="rect">
            <a:avLst/>
          </a:prstGeom>
          <a:noFill/>
        </p:spPr>
        <p:txBody>
          <a:bodyPr wrap="square">
            <a:spAutoFit/>
          </a:bodyPr>
          <a:lstStyle/>
          <a:p>
            <a:pPr>
              <a:defRPr sz="1250" b="1">
                <a:solidFill>
                  <a:srgbClr val="FFFFFF"/>
                </a:solidFill>
                <a:latin typeface="Arial"/>
              </a:defRPr>
            </a:pPr>
            <a:r>
              <a:t>NHÓM 3: PHÁP LÝ &amp; TIỆN ÍCH</a:t>
            </a:r>
          </a:p>
        </p:txBody>
      </p:sp>
      <p:sp>
        <p:nvSpPr>
          <p:cNvPr id="16" name="TextBox 15"/>
          <p:cNvSpPr txBox="1"/>
          <p:nvPr/>
        </p:nvSpPr>
        <p:spPr>
          <a:xfrm>
            <a:off x="8302752" y="1929384"/>
            <a:ext cx="2962656" cy="4379976"/>
          </a:xfrm>
          <a:prstGeom prst="rect">
            <a:avLst/>
          </a:prstGeom>
          <a:noFill/>
        </p:spPr>
        <p:txBody>
          <a:bodyPr wrap="square">
            <a:spAutoFit/>
          </a:bodyPr>
          <a:lstStyle/>
          <a:p>
            <a:pPr>
              <a:defRPr sz="1350" b="1">
                <a:solidFill>
                  <a:srgbClr val="D97706"/>
                </a:solidFill>
                <a:latin typeface="Arial"/>
              </a:defRPr>
            </a:pPr>
            <a:r>
              <a:t>• Trạng thái Pháp lý:</a:t>
            </a:r>
          </a:p>
          <a:p>
            <a:pPr>
              <a:spcBef>
                <a:spcPts val="400"/>
              </a:spcBef>
              <a:defRPr sz="1250">
                <a:solidFill>
                  <a:srgbClr val="1E293B"/>
                </a:solidFill>
                <a:latin typeface="Arial"/>
              </a:defRPr>
            </a:pPr>
            <a:r>
              <a:t>Biến nhị phân nhận diện Sổ đỏ / Sổ hồng sẵn sàng giao dịch so với nhà đang chờ cấp.</a:t>
            </a:r>
          </a:p>
          <a:p>
            <a:pPr>
              <a:spcBef>
                <a:spcPts val="1800"/>
              </a:spcBef>
              <a:defRPr sz="1350" b="1">
                <a:solidFill>
                  <a:srgbClr val="D97706"/>
                </a:solidFill>
                <a:latin typeface="Arial"/>
              </a:defRPr>
            </a:pPr>
            <a:r>
              <a:t>• Vị trí Mặt tiền vs Ngõ hẻm:</a:t>
            </a:r>
          </a:p>
          <a:p>
            <a:pPr>
              <a:spcBef>
                <a:spcPts val="400"/>
              </a:spcBef>
              <a:defRPr sz="1250">
                <a:solidFill>
                  <a:srgbClr val="1E293B"/>
                </a:solidFill>
                <a:latin typeface="Arial"/>
              </a:defRPr>
            </a:pPr>
            <a:r>
              <a:t>Biến phân loại `is_frontage` phân tách rõ BĐS kinh doanh và BĐS an cư trong ngõ ngách.</a:t>
            </a:r>
          </a:p>
          <a:p>
            <a:pPr>
              <a:spcBef>
                <a:spcPts val="1800"/>
              </a:spcBef>
              <a:defRPr sz="1350" b="1">
                <a:solidFill>
                  <a:srgbClr val="D97706"/>
                </a:solidFill>
                <a:latin typeface="Arial"/>
              </a:defRPr>
            </a:pPr>
            <a:r>
              <a:t>• Khả năng tiếp cận Giao thông:</a:t>
            </a:r>
          </a:p>
          <a:p>
            <a:pPr>
              <a:spcBef>
                <a:spcPts val="400"/>
              </a:spcBef>
              <a:defRPr sz="1250">
                <a:solidFill>
                  <a:srgbClr val="1E293B"/>
                </a:solidFill>
                <a:latin typeface="Arial"/>
              </a:defRPr>
            </a:pPr>
            <a:r>
              <a:t>Độ rộng ngõ vào (ô tô đỗ cửa, tránh nhau, xe máy), quyết định thanh khoản.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Thiết Kế Scikit-Learn Pipeline &amp; Chống Rò Rỉ Dữ Liệu</a:t>
            </a:r>
          </a:p>
        </p:txBody>
      </p:sp>
      <p:sp>
        <p:nvSpPr>
          <p:cNvPr id="5" name="Rectangle 4"/>
          <p:cNvSpPr/>
          <p:nvPr/>
        </p:nvSpPr>
        <p:spPr>
          <a:xfrm>
            <a:off x="731520" y="1234440"/>
            <a:ext cx="2542032" cy="150876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D97706"/>
                </a:solidFill>
                <a:latin typeface="Arial"/>
              </a:defRPr>
            </a:pPr>
            <a:r>
              <a:t>BƯỚC 1: ĐẦU VÀO DỮ LIỆU</a:t>
            </a:r>
          </a:p>
          <a:p>
            <a:pPr>
              <a:spcBef>
                <a:spcPts val="400"/>
              </a:spcBef>
              <a:defRPr sz="1600" b="1">
                <a:solidFill>
                  <a:srgbClr val="FFFFFF"/>
                </a:solidFill>
                <a:latin typeface="Arial"/>
              </a:defRPr>
            </a:pPr>
            <a:r>
              <a:t>Raw DataFrame</a:t>
            </a:r>
          </a:p>
          <a:p>
            <a:pPr>
              <a:spcBef>
                <a:spcPts val="400"/>
              </a:spcBef>
              <a:defRPr sz="1100">
                <a:solidFill>
                  <a:srgbClr val="E2E8F0"/>
                </a:solidFill>
                <a:latin typeface="Arial"/>
              </a:defRPr>
            </a:pPr>
            <a:r>
              <a:t>21.142 bản ghi sạch</a:t>
            </a:r>
          </a:p>
        </p:txBody>
      </p:sp>
      <p:sp>
        <p:nvSpPr>
          <p:cNvPr id="6" name="Rectangle 5"/>
          <p:cNvSpPr/>
          <p:nvPr/>
        </p:nvSpPr>
        <p:spPr>
          <a:xfrm>
            <a:off x="3456432" y="1234440"/>
            <a:ext cx="2542032" cy="150876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D97706"/>
                </a:solidFill>
                <a:latin typeface="Arial"/>
              </a:defRPr>
            </a:pPr>
            <a:r>
              <a:t>BƯỚC 2: TIỀN XỬ LÝ ĐẶC TRƯNG</a:t>
            </a:r>
          </a:p>
          <a:p>
            <a:pPr>
              <a:spcBef>
                <a:spcPts val="400"/>
              </a:spcBef>
              <a:defRPr sz="1600" b="1">
                <a:solidFill>
                  <a:srgbClr val="FFFFFF"/>
                </a:solidFill>
                <a:latin typeface="Arial"/>
              </a:defRPr>
            </a:pPr>
            <a:r>
              <a:t>ColumnTransformer</a:t>
            </a:r>
          </a:p>
          <a:p>
            <a:pPr>
              <a:spcBef>
                <a:spcPts val="400"/>
              </a:spcBef>
              <a:defRPr sz="1100">
                <a:solidFill>
                  <a:srgbClr val="E2E8F0"/>
                </a:solidFill>
                <a:latin typeface="Arial"/>
              </a:defRPr>
            </a:pPr>
            <a:r>
              <a:t>Imputer + Scaler + OneHot</a:t>
            </a:r>
          </a:p>
        </p:txBody>
      </p:sp>
      <p:sp>
        <p:nvSpPr>
          <p:cNvPr id="7" name="Rectangle 6"/>
          <p:cNvSpPr/>
          <p:nvPr/>
        </p:nvSpPr>
        <p:spPr>
          <a:xfrm>
            <a:off x="6181344" y="1234440"/>
            <a:ext cx="2542032" cy="1508760"/>
          </a:xfrm>
          <a:prstGeom prst="rect">
            <a:avLst/>
          </a:prstGeom>
          <a:solidFill>
            <a:srgbClr val="0F224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D97706"/>
                </a:solidFill>
                <a:latin typeface="Arial"/>
              </a:defRPr>
            </a:pPr>
            <a:r>
              <a:t>BƯỚC 3: MÔ HÌNH DỰ BÁO</a:t>
            </a:r>
          </a:p>
          <a:p>
            <a:pPr>
              <a:spcBef>
                <a:spcPts val="400"/>
              </a:spcBef>
              <a:defRPr sz="1600" b="1">
                <a:solidFill>
                  <a:srgbClr val="FFFFFF"/>
                </a:solidFill>
                <a:latin typeface="Arial"/>
              </a:defRPr>
            </a:pPr>
            <a:r>
              <a:t>GBDT / Random Forest</a:t>
            </a:r>
          </a:p>
          <a:p>
            <a:pPr>
              <a:spcBef>
                <a:spcPts val="400"/>
              </a:spcBef>
              <a:defRPr sz="1100">
                <a:solidFill>
                  <a:srgbClr val="E2E8F0"/>
                </a:solidFill>
                <a:latin typeface="Arial"/>
              </a:defRPr>
            </a:pPr>
            <a:r>
              <a:t>Huấn luyện trên X_train</a:t>
            </a:r>
          </a:p>
        </p:txBody>
      </p:sp>
      <p:sp>
        <p:nvSpPr>
          <p:cNvPr id="8" name="Rectangle 7"/>
          <p:cNvSpPr/>
          <p:nvPr/>
        </p:nvSpPr>
        <p:spPr>
          <a:xfrm>
            <a:off x="8906256" y="1234440"/>
            <a:ext cx="2542032" cy="150876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D97706"/>
                </a:solidFill>
                <a:latin typeface="Arial"/>
              </a:defRPr>
            </a:pPr>
            <a:r>
              <a:t>BƯỚC 4: ĐÁNH GIÁ ĐỘC LẬP</a:t>
            </a:r>
          </a:p>
          <a:p>
            <a:pPr>
              <a:spcBef>
                <a:spcPts val="400"/>
              </a:spcBef>
              <a:defRPr sz="1600" b="1">
                <a:solidFill>
                  <a:srgbClr val="FFFFFF"/>
                </a:solidFill>
                <a:latin typeface="Arial"/>
              </a:defRPr>
            </a:pPr>
            <a:r>
              <a:t>K-Fold Cross-Val</a:t>
            </a:r>
          </a:p>
          <a:p>
            <a:pPr>
              <a:spcBef>
                <a:spcPts val="400"/>
              </a:spcBef>
              <a:defRPr sz="1100">
                <a:solidFill>
                  <a:srgbClr val="E2E8F0"/>
                </a:solidFill>
                <a:latin typeface="Arial"/>
              </a:defRPr>
            </a:pPr>
            <a:r>
              <a:t>5 Folds kiểm thử không rò rỉ</a:t>
            </a:r>
          </a:p>
        </p:txBody>
      </p:sp>
      <p:sp>
        <p:nvSpPr>
          <p:cNvPr id="9" name="Rectangle 8"/>
          <p:cNvSpPr/>
          <p:nvPr/>
        </p:nvSpPr>
        <p:spPr>
          <a:xfrm>
            <a:off x="731520" y="2971800"/>
            <a:ext cx="5184648" cy="3429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97180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008376"/>
            <a:ext cx="4855464" cy="530352"/>
          </a:xfrm>
          <a:prstGeom prst="rect">
            <a:avLst/>
          </a:prstGeom>
          <a:noFill/>
        </p:spPr>
        <p:txBody>
          <a:bodyPr wrap="square">
            <a:spAutoFit/>
          </a:bodyPr>
          <a:lstStyle/>
          <a:p>
            <a:pPr>
              <a:defRPr sz="1250" b="1">
                <a:solidFill>
                  <a:srgbClr val="FFFFFF"/>
                </a:solidFill>
                <a:latin typeface="Arial"/>
              </a:defRPr>
            </a:pPr>
            <a:r>
              <a:t>TRIỆT TIÊU RÒ RỈ DỮ LIỆU (DATA LEAKAGE)</a:t>
            </a:r>
          </a:p>
        </p:txBody>
      </p:sp>
      <p:sp>
        <p:nvSpPr>
          <p:cNvPr id="12" name="TextBox 11"/>
          <p:cNvSpPr txBox="1"/>
          <p:nvPr/>
        </p:nvSpPr>
        <p:spPr>
          <a:xfrm>
            <a:off x="914400" y="3666744"/>
            <a:ext cx="4818888" cy="2642616"/>
          </a:xfrm>
          <a:prstGeom prst="rect">
            <a:avLst/>
          </a:prstGeom>
          <a:noFill/>
        </p:spPr>
        <p:txBody>
          <a:bodyPr wrap="square">
            <a:spAutoFit/>
          </a:bodyPr>
          <a:lstStyle/>
          <a:p>
            <a:pPr>
              <a:defRPr sz="1300" b="1">
                <a:solidFill>
                  <a:srgbClr val="D97706"/>
                </a:solidFill>
                <a:latin typeface="Arial"/>
              </a:defRPr>
            </a:pPr>
            <a:r>
              <a:t>• Nguyên tắc 'Chỉ học trên Train':</a:t>
            </a:r>
          </a:p>
          <a:p>
            <a:pPr>
              <a:spcBef>
                <a:spcPts val="200"/>
              </a:spcBef>
              <a:defRPr sz="1250">
                <a:solidFill>
                  <a:srgbClr val="1E293B"/>
                </a:solidFill>
                <a:latin typeface="Arial"/>
              </a:defRPr>
            </a:pPr>
            <a:r>
              <a:t>Toàn bộ tham số trung bình, trung vị (Imputer) và độ lệch chuẩn (StandardScaler) chỉ được tính trên tập Train.</a:t>
            </a:r>
          </a:p>
          <a:p>
            <a:pPr>
              <a:spcBef>
                <a:spcPts val="1200"/>
              </a:spcBef>
              <a:defRPr sz="1300" b="1">
                <a:solidFill>
                  <a:srgbClr val="D97706"/>
                </a:solidFill>
                <a:latin typeface="Arial"/>
              </a:defRPr>
            </a:pPr>
            <a:r>
              <a:t>• Độc lập kiểm thử hoàn toàn:</a:t>
            </a:r>
          </a:p>
          <a:p>
            <a:pPr>
              <a:spcBef>
                <a:spcPts val="200"/>
              </a:spcBef>
              <a:defRPr sz="1250">
                <a:solidFill>
                  <a:srgbClr val="1E293B"/>
                </a:solidFill>
                <a:latin typeface="Arial"/>
              </a:defRPr>
            </a:pPr>
            <a:r>
              <a:t>Tập Test được giữ nguyên vẹn như dữ liệu tương lai chưa từng thấy, chỉ biến đổi bằng `.transform()`.</a:t>
            </a:r>
          </a:p>
          <a:p>
            <a:pPr>
              <a:spcBef>
                <a:spcPts val="1200"/>
              </a:spcBef>
              <a:defRPr sz="1300" b="1">
                <a:solidFill>
                  <a:srgbClr val="D97706"/>
                </a:solidFill>
                <a:latin typeface="Arial"/>
              </a:defRPr>
            </a:pPr>
            <a:r>
              <a:t>• Độ tin cậy của chỉ số:</a:t>
            </a:r>
          </a:p>
          <a:p>
            <a:pPr>
              <a:spcBef>
                <a:spcPts val="200"/>
              </a:spcBef>
              <a:defRPr sz="1250">
                <a:solidFill>
                  <a:srgbClr val="1E293B"/>
                </a:solidFill>
                <a:latin typeface="Arial"/>
              </a:defRPr>
            </a:pPr>
            <a:r>
              <a:t>Đảm bảo điểm số R² và sai số MAE phản ánh chính xác năng lực thực chiến, không bị thổi phồng giả tạo.</a:t>
            </a:r>
          </a:p>
        </p:txBody>
      </p:sp>
      <p:sp>
        <p:nvSpPr>
          <p:cNvPr id="13" name="Rectangle 12"/>
          <p:cNvSpPr/>
          <p:nvPr/>
        </p:nvSpPr>
        <p:spPr>
          <a:xfrm>
            <a:off x="6275527" y="2971800"/>
            <a:ext cx="5184648" cy="3429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5527" y="297180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0119" y="3008376"/>
            <a:ext cx="4855464" cy="530352"/>
          </a:xfrm>
          <a:prstGeom prst="rect">
            <a:avLst/>
          </a:prstGeom>
          <a:noFill/>
        </p:spPr>
        <p:txBody>
          <a:bodyPr wrap="square">
            <a:spAutoFit/>
          </a:bodyPr>
          <a:lstStyle/>
          <a:p>
            <a:pPr>
              <a:defRPr sz="1250" b="1">
                <a:solidFill>
                  <a:srgbClr val="FFFFFF"/>
                </a:solidFill>
                <a:latin typeface="Arial"/>
              </a:defRPr>
            </a:pPr>
            <a:r>
              <a:t>ĐÓNG GÓI SẢN PHẨM SẴN SÀNG TRIỂN KHAI</a:t>
            </a:r>
          </a:p>
        </p:txBody>
      </p:sp>
      <p:sp>
        <p:nvSpPr>
          <p:cNvPr id="16" name="TextBox 15"/>
          <p:cNvSpPr txBox="1"/>
          <p:nvPr/>
        </p:nvSpPr>
        <p:spPr>
          <a:xfrm>
            <a:off x="6458407" y="3666744"/>
            <a:ext cx="4818888" cy="2642616"/>
          </a:xfrm>
          <a:prstGeom prst="rect">
            <a:avLst/>
          </a:prstGeom>
          <a:noFill/>
        </p:spPr>
        <p:txBody>
          <a:bodyPr wrap="square">
            <a:spAutoFit/>
          </a:bodyPr>
          <a:lstStyle/>
          <a:p>
            <a:pPr>
              <a:defRPr sz="1300" b="1">
                <a:solidFill>
                  <a:srgbClr val="D97706"/>
                </a:solidFill>
                <a:latin typeface="Arial"/>
              </a:defRPr>
            </a:pPr>
            <a:r>
              <a:t>• Tính nhất quán (Reproducibility):</a:t>
            </a:r>
          </a:p>
          <a:p>
            <a:pPr>
              <a:spcBef>
                <a:spcPts val="200"/>
              </a:spcBef>
              <a:defRPr sz="1250">
                <a:solidFill>
                  <a:srgbClr val="1E293B"/>
                </a:solidFill>
                <a:latin typeface="Arial"/>
              </a:defRPr>
            </a:pPr>
            <a:r>
              <a:t>Pipeline tích hợp đóng gói toàn bộ luồng xử lý và mô hình thành 1 tệp nhị phân duy nhất (`pipeline.pkl`).</a:t>
            </a:r>
          </a:p>
          <a:p>
            <a:pPr>
              <a:spcBef>
                <a:spcPts val="1200"/>
              </a:spcBef>
              <a:defRPr sz="1300" b="1">
                <a:solidFill>
                  <a:srgbClr val="D97706"/>
                </a:solidFill>
                <a:latin typeface="Arial"/>
              </a:defRPr>
            </a:pPr>
            <a:r>
              <a:t>• Khả năng mở rộng (Scalability):</a:t>
            </a:r>
          </a:p>
          <a:p>
            <a:pPr>
              <a:spcBef>
                <a:spcPts val="200"/>
              </a:spcBef>
              <a:defRPr sz="1250">
                <a:solidFill>
                  <a:srgbClr val="1E293B"/>
                </a:solidFill>
                <a:latin typeface="Arial"/>
              </a:defRPr>
            </a:pPr>
            <a:r>
              <a:t>Dễ dàng thay thế mô hình lõi từ GBDT sang LightGBM hoặc XGBoost mà không làm gãy luồng xử lý.</a:t>
            </a:r>
          </a:p>
          <a:p>
            <a:pPr>
              <a:spcBef>
                <a:spcPts val="1200"/>
              </a:spcBef>
              <a:defRPr sz="1300" b="1">
                <a:solidFill>
                  <a:srgbClr val="D97706"/>
                </a:solidFill>
                <a:latin typeface="Arial"/>
              </a:defRPr>
            </a:pPr>
            <a:r>
              <a:t>• Sẵn sàng cho Suy Diễn (Inference Pipeline):</a:t>
            </a:r>
          </a:p>
          <a:p>
            <a:pPr>
              <a:spcBef>
                <a:spcPts val="200"/>
              </a:spcBef>
              <a:defRPr sz="1250">
                <a:solidFill>
                  <a:srgbClr val="1E293B"/>
                </a:solidFill>
                <a:latin typeface="Arial"/>
              </a:defRPr>
            </a:pPr>
            <a:r>
              <a:t>Hàm pipeline.predict() nhận trực tiếp dữ liệu thô, tự động tiền xử lý và dự báo giá trong 0.05 giây.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Thống Kê Mô Tả 4 Họ Dữ Liệu Bất Động Sản</a:t>
            </a:r>
          </a:p>
        </p:txBody>
      </p:sp>
      <p:sp>
        <p:nvSpPr>
          <p:cNvPr id="5" name="Rectangle 4"/>
          <p:cNvSpPr/>
          <p:nvPr/>
        </p:nvSpPr>
        <p:spPr>
          <a:xfrm>
            <a:off x="731520" y="12344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4855464" cy="530352"/>
          </a:xfrm>
          <a:prstGeom prst="rect">
            <a:avLst/>
          </a:prstGeom>
          <a:noFill/>
        </p:spPr>
        <p:txBody>
          <a:bodyPr wrap="square">
            <a:spAutoFit/>
          </a:bodyPr>
          <a:lstStyle/>
          <a:p>
            <a:pPr>
              <a:defRPr sz="1250" b="1">
                <a:solidFill>
                  <a:srgbClr val="FFFFFF"/>
                </a:solidFill>
                <a:latin typeface="Arial"/>
              </a:defRPr>
            </a:pPr>
            <a:r>
              <a:t>HỌ 1: ĐỊNH DANH &amp; LOẠI HÌNH BĐS</a:t>
            </a:r>
          </a:p>
        </p:txBody>
      </p:sp>
      <p:sp>
        <p:nvSpPr>
          <p:cNvPr id="8" name="TextBox 7"/>
          <p:cNvSpPr txBox="1"/>
          <p:nvPr/>
        </p:nvSpPr>
        <p:spPr>
          <a:xfrm>
            <a:off x="914400" y="1929384"/>
            <a:ext cx="4818888" cy="1636776"/>
          </a:xfrm>
          <a:prstGeom prst="rect">
            <a:avLst/>
          </a:prstGeom>
          <a:noFill/>
        </p:spPr>
        <p:txBody>
          <a:bodyPr wrap="square">
            <a:spAutoFit/>
          </a:bodyPr>
          <a:lstStyle/>
          <a:p>
            <a:pPr>
              <a:defRPr sz="1250" b="1">
                <a:solidFill>
                  <a:srgbClr val="D97706"/>
                </a:solidFill>
                <a:latin typeface="Arial"/>
              </a:defRPr>
            </a:pPr>
            <a:r>
              <a:t>• Quy mô mẫu: </a:t>
            </a:r>
            <a:r>
              <a:rPr sz="1200" b="0">
                <a:solidFill>
                  <a:srgbClr val="1E293B"/>
                </a:solidFill>
                <a:latin typeface="Arial"/>
              </a:rPr>
              <a:t>21.142 bản ghi sạch đại diện toàn diện thị trường Hà Nội.</a:t>
            </a:r>
          </a:p>
          <a:p>
            <a:pPr>
              <a:spcBef>
                <a:spcPts val="800"/>
              </a:spcBef>
              <a:defRPr sz="1250" b="1">
                <a:solidFill>
                  <a:srgbClr val="D97706"/>
                </a:solidFill>
                <a:latin typeface="Arial"/>
              </a:defRPr>
            </a:pPr>
            <a:r>
              <a:t>• Cơ cấu loại hình: </a:t>
            </a:r>
            <a:r>
              <a:rPr sz="1200" b="0">
                <a:solidFill>
                  <a:srgbClr val="1E293B"/>
                </a:solidFill>
                <a:latin typeface="Arial"/>
              </a:rPr>
              <a:t>68.4% Nhà riêng / Liền kề, 22.1% Căn hộ chung cư, 9.5% Nhà mặt phố thương mại.</a:t>
            </a:r>
          </a:p>
          <a:p>
            <a:pPr>
              <a:spcBef>
                <a:spcPts val="800"/>
              </a:spcBef>
              <a:defRPr sz="1250" b="1">
                <a:solidFill>
                  <a:srgbClr val="D97706"/>
                </a:solidFill>
                <a:latin typeface="Arial"/>
              </a:defRPr>
            </a:pPr>
            <a:r>
              <a:t>• Ý nghĩa phân tích: </a:t>
            </a:r>
            <a:r>
              <a:rPr sz="1200" b="0">
                <a:solidFill>
                  <a:srgbClr val="1E293B"/>
                </a:solidFill>
                <a:latin typeface="Arial"/>
              </a:rPr>
              <a:t>Cần phân tầng mô hình theo loại hình để đạt độ chính xác tối ưu.</a:t>
            </a:r>
          </a:p>
        </p:txBody>
      </p:sp>
      <p:sp>
        <p:nvSpPr>
          <p:cNvPr id="9" name="Rectangle 8"/>
          <p:cNvSpPr/>
          <p:nvPr/>
        </p:nvSpPr>
        <p:spPr>
          <a:xfrm>
            <a:off x="6275527" y="12344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5527"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0119" y="1271016"/>
            <a:ext cx="4855464" cy="530352"/>
          </a:xfrm>
          <a:prstGeom prst="rect">
            <a:avLst/>
          </a:prstGeom>
          <a:noFill/>
        </p:spPr>
        <p:txBody>
          <a:bodyPr wrap="square">
            <a:spAutoFit/>
          </a:bodyPr>
          <a:lstStyle/>
          <a:p>
            <a:pPr>
              <a:defRPr sz="1250" b="1">
                <a:solidFill>
                  <a:srgbClr val="FFFFFF"/>
                </a:solidFill>
                <a:latin typeface="Arial"/>
              </a:defRPr>
            </a:pPr>
            <a:r>
              <a:t>HỌ 2: KHÔNG GIAN ĐỊA LÝ (30 QUẬN/HUYỆN)</a:t>
            </a:r>
          </a:p>
        </p:txBody>
      </p:sp>
      <p:sp>
        <p:nvSpPr>
          <p:cNvPr id="12" name="TextBox 11"/>
          <p:cNvSpPr txBox="1"/>
          <p:nvPr/>
        </p:nvSpPr>
        <p:spPr>
          <a:xfrm>
            <a:off x="6458407" y="1929384"/>
            <a:ext cx="4818888" cy="1636776"/>
          </a:xfrm>
          <a:prstGeom prst="rect">
            <a:avLst/>
          </a:prstGeom>
          <a:noFill/>
        </p:spPr>
        <p:txBody>
          <a:bodyPr wrap="square">
            <a:spAutoFit/>
          </a:bodyPr>
          <a:lstStyle/>
          <a:p>
            <a:pPr>
              <a:defRPr sz="1250" b="1">
                <a:solidFill>
                  <a:srgbClr val="D97706"/>
                </a:solidFill>
                <a:latin typeface="Arial"/>
              </a:defRPr>
            </a:pPr>
            <a:r>
              <a:t>• Mật độ tập trung: </a:t>
            </a:r>
            <a:r>
              <a:rPr sz="1200" b="0">
                <a:solidFill>
                  <a:srgbClr val="1E293B"/>
                </a:solidFill>
                <a:latin typeface="Arial"/>
              </a:rPr>
              <a:t>54% giao dịch tập trung tại Cầu Giấy, Đống Đa, Nam Từ Liêm, Hà Đông.</a:t>
            </a:r>
          </a:p>
          <a:p>
            <a:pPr>
              <a:spcBef>
                <a:spcPts val="800"/>
              </a:spcBef>
              <a:defRPr sz="1250" b="1">
                <a:solidFill>
                  <a:srgbClr val="D97706"/>
                </a:solidFill>
                <a:latin typeface="Arial"/>
              </a:defRPr>
            </a:pPr>
            <a:r>
              <a:t>• Bán kính đô thị: </a:t>
            </a:r>
            <a:r>
              <a:rPr sz="1200" b="0">
                <a:solidFill>
                  <a:srgbClr val="1E293B"/>
                </a:solidFill>
                <a:latin typeface="Arial"/>
              </a:rPr>
              <a:t>Từ 0km (Hoàn Kiếm) đến 35km (Ba Vì, Sóc Sơn).</a:t>
            </a:r>
          </a:p>
          <a:p>
            <a:pPr>
              <a:spcBef>
                <a:spcPts val="800"/>
              </a:spcBef>
              <a:defRPr sz="1250" b="1">
                <a:solidFill>
                  <a:srgbClr val="D97706"/>
                </a:solidFill>
                <a:latin typeface="Arial"/>
              </a:defRPr>
            </a:pPr>
            <a:r>
              <a:t>• Ý nghĩa phân tích: </a:t>
            </a:r>
            <a:r>
              <a:rPr sz="1200" b="0">
                <a:solidFill>
                  <a:srgbClr val="1E293B"/>
                </a:solidFill>
                <a:latin typeface="Arial"/>
              </a:rPr>
              <a:t>Vị trí địa lý giải thích tới 28% độ biến thiên giá trị tài sản.</a:t>
            </a:r>
          </a:p>
        </p:txBody>
      </p:sp>
      <p:sp>
        <p:nvSpPr>
          <p:cNvPr id="13" name="Rectangle 12"/>
          <p:cNvSpPr/>
          <p:nvPr/>
        </p:nvSpPr>
        <p:spPr>
          <a:xfrm>
            <a:off x="731520" y="39776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776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14216"/>
            <a:ext cx="4855464" cy="530352"/>
          </a:xfrm>
          <a:prstGeom prst="rect">
            <a:avLst/>
          </a:prstGeom>
          <a:noFill/>
        </p:spPr>
        <p:txBody>
          <a:bodyPr wrap="square">
            <a:spAutoFit/>
          </a:bodyPr>
          <a:lstStyle/>
          <a:p>
            <a:pPr>
              <a:defRPr sz="1250" b="1">
                <a:solidFill>
                  <a:srgbClr val="FFFFFF"/>
                </a:solidFill>
                <a:latin typeface="Arial"/>
              </a:defRPr>
            </a:pPr>
            <a:r>
              <a:t>HỌ 3: QUY MÔ HÌNH HỌC (DIỆN TÍCH &amp; MẶT TIỀN)</a:t>
            </a:r>
          </a:p>
        </p:txBody>
      </p:sp>
      <p:sp>
        <p:nvSpPr>
          <p:cNvPr id="16" name="TextBox 15"/>
          <p:cNvSpPr txBox="1"/>
          <p:nvPr/>
        </p:nvSpPr>
        <p:spPr>
          <a:xfrm>
            <a:off x="914400" y="4672584"/>
            <a:ext cx="4818888" cy="1636776"/>
          </a:xfrm>
          <a:prstGeom prst="rect">
            <a:avLst/>
          </a:prstGeom>
          <a:noFill/>
        </p:spPr>
        <p:txBody>
          <a:bodyPr wrap="square">
            <a:spAutoFit/>
          </a:bodyPr>
          <a:lstStyle/>
          <a:p>
            <a:pPr>
              <a:defRPr sz="1250" b="1">
                <a:solidFill>
                  <a:srgbClr val="D97706"/>
                </a:solidFill>
                <a:latin typeface="Arial"/>
              </a:defRPr>
            </a:pPr>
            <a:r>
              <a:t>• Diện tích đất: </a:t>
            </a:r>
            <a:r>
              <a:rPr sz="1200" b="0">
                <a:solidFill>
                  <a:srgbClr val="1E293B"/>
                </a:solidFill>
                <a:latin typeface="Arial"/>
              </a:rPr>
              <a:t>Trung vị 52 m² (IQR: 38 - 85 m²), trung bình 64.2 m².</a:t>
            </a:r>
          </a:p>
          <a:p>
            <a:pPr>
              <a:spcBef>
                <a:spcPts val="800"/>
              </a:spcBef>
              <a:defRPr sz="1250" b="1">
                <a:solidFill>
                  <a:srgbClr val="D97706"/>
                </a:solidFill>
                <a:latin typeface="Arial"/>
              </a:defRPr>
            </a:pPr>
            <a:r>
              <a:t>• Chiều rộng mặt tiền: </a:t>
            </a:r>
            <a:r>
              <a:rPr sz="1200" b="0">
                <a:solidFill>
                  <a:srgbClr val="1E293B"/>
                </a:solidFill>
                <a:latin typeface="Arial"/>
              </a:rPr>
              <a:t>Trung vị 4.2m, dao động phổ biến từ 3.2m đến 5.5m.</a:t>
            </a:r>
          </a:p>
          <a:p>
            <a:pPr>
              <a:spcBef>
                <a:spcPts val="800"/>
              </a:spcBef>
              <a:defRPr sz="1250" b="1">
                <a:solidFill>
                  <a:srgbClr val="D97706"/>
                </a:solidFill>
                <a:latin typeface="Arial"/>
              </a:defRPr>
            </a:pPr>
            <a:r>
              <a:t>• Ý nghĩa phân tích: </a:t>
            </a:r>
            <a:r>
              <a:rPr sz="1200" b="0">
                <a:solidFill>
                  <a:srgbClr val="1E293B"/>
                </a:solidFill>
                <a:latin typeface="Arial"/>
              </a:rPr>
              <a:t>Diện tích tương quan mạnh nhất với tổng giá trị (r = 0.72).</a:t>
            </a:r>
          </a:p>
        </p:txBody>
      </p:sp>
      <p:sp>
        <p:nvSpPr>
          <p:cNvPr id="17" name="Rectangle 16"/>
          <p:cNvSpPr/>
          <p:nvPr/>
        </p:nvSpPr>
        <p:spPr>
          <a:xfrm>
            <a:off x="6275527" y="39776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5527" y="39776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0119" y="4014216"/>
            <a:ext cx="4855464" cy="530352"/>
          </a:xfrm>
          <a:prstGeom prst="rect">
            <a:avLst/>
          </a:prstGeom>
          <a:noFill/>
        </p:spPr>
        <p:txBody>
          <a:bodyPr wrap="square">
            <a:spAutoFit/>
          </a:bodyPr>
          <a:lstStyle/>
          <a:p>
            <a:pPr>
              <a:defRPr sz="1250" b="1">
                <a:solidFill>
                  <a:srgbClr val="FFFFFF"/>
                </a:solidFill>
                <a:latin typeface="Arial"/>
              </a:defRPr>
            </a:pPr>
            <a:r>
              <a:t>HỌ 4: PHÂN PHỐI GIÁ &amp; ĐƠN GIÁ M²</a:t>
            </a:r>
          </a:p>
        </p:txBody>
      </p:sp>
      <p:sp>
        <p:nvSpPr>
          <p:cNvPr id="20" name="TextBox 19"/>
          <p:cNvSpPr txBox="1"/>
          <p:nvPr/>
        </p:nvSpPr>
        <p:spPr>
          <a:xfrm>
            <a:off x="6458407" y="4672584"/>
            <a:ext cx="4818888" cy="1636776"/>
          </a:xfrm>
          <a:prstGeom prst="rect">
            <a:avLst/>
          </a:prstGeom>
          <a:noFill/>
        </p:spPr>
        <p:txBody>
          <a:bodyPr wrap="square">
            <a:spAutoFit/>
          </a:bodyPr>
          <a:lstStyle/>
          <a:p>
            <a:pPr>
              <a:defRPr sz="1250" b="1">
                <a:solidFill>
                  <a:srgbClr val="D97706"/>
                </a:solidFill>
                <a:latin typeface="Arial"/>
              </a:defRPr>
            </a:pPr>
            <a:r>
              <a:t>• Tổng giá trị tài sản: </a:t>
            </a:r>
            <a:r>
              <a:rPr sz="1200" b="0">
                <a:solidFill>
                  <a:srgbClr val="1E293B"/>
                </a:solidFill>
                <a:latin typeface="Arial"/>
              </a:rPr>
              <a:t>Trung vị 4.8 tỷ VNĐ (Dao động từ 1.2 tỷ đến 35 tỷ sau lọc).</a:t>
            </a:r>
          </a:p>
          <a:p>
            <a:pPr>
              <a:spcBef>
                <a:spcPts val="800"/>
              </a:spcBef>
              <a:defRPr sz="1250" b="1">
                <a:solidFill>
                  <a:srgbClr val="D97706"/>
                </a:solidFill>
                <a:latin typeface="Arial"/>
              </a:defRPr>
            </a:pPr>
            <a:r>
              <a:t>• Đơn giá m²: </a:t>
            </a:r>
            <a:r>
              <a:rPr sz="1200" b="0">
                <a:solidFill>
                  <a:srgbClr val="1E293B"/>
                </a:solidFill>
                <a:latin typeface="Arial"/>
              </a:rPr>
              <a:t>Trung vị 92.5 triệu/m², phân phối lệch phải (Skewness = 3.84).</a:t>
            </a:r>
          </a:p>
          <a:p>
            <a:pPr>
              <a:spcBef>
                <a:spcPts val="800"/>
              </a:spcBef>
              <a:defRPr sz="1250" b="1">
                <a:solidFill>
                  <a:srgbClr val="D97706"/>
                </a:solidFill>
                <a:latin typeface="Arial"/>
              </a:defRPr>
            </a:pPr>
            <a:r>
              <a:t>• Ý nghĩa phân tích: </a:t>
            </a:r>
            <a:r>
              <a:rPr sz="1200" b="0">
                <a:solidFill>
                  <a:srgbClr val="1E293B"/>
                </a:solidFill>
                <a:latin typeface="Arial"/>
              </a:rPr>
              <a:t>Cần log-transform để đưa phân phối về chuẩn hóa Gauss.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1: Ma Trận Tương Quan Tuyến Tính Giữa Các Đặc Trưng</a:t>
            </a:r>
          </a:p>
        </p:txBody>
      </p:sp>
      <p:sp>
        <p:nvSpPr>
          <p:cNvPr id="5" name="Rectangle 4"/>
          <p:cNvSpPr/>
          <p:nvPr/>
        </p:nvSpPr>
        <p:spPr>
          <a:xfrm>
            <a:off x="731520" y="1234440"/>
            <a:ext cx="676656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_correlation_heatmap.png"/>
          <p:cNvPicPr>
            <a:picLocks noChangeAspect="1"/>
          </p:cNvPicPr>
          <p:nvPr/>
        </p:nvPicPr>
        <p:blipFill>
          <a:blip r:embed="rId2"/>
          <a:stretch>
            <a:fillRect/>
          </a:stretch>
        </p:blipFill>
        <p:spPr>
          <a:xfrm>
            <a:off x="977264" y="1307592"/>
            <a:ext cx="6275070" cy="5020056"/>
          </a:xfrm>
          <a:prstGeom prst="rect">
            <a:avLst/>
          </a:prstGeom>
        </p:spPr>
      </p:pic>
      <p:sp>
        <p:nvSpPr>
          <p:cNvPr id="7" name="Rectangle 6"/>
          <p:cNvSpPr/>
          <p:nvPr/>
        </p:nvSpPr>
        <p:spPr>
          <a:xfrm>
            <a:off x="7726680" y="1234440"/>
            <a:ext cx="3733495"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26680" y="1234440"/>
            <a:ext cx="37334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91272" y="1271016"/>
            <a:ext cx="3404311" cy="530352"/>
          </a:xfrm>
          <a:prstGeom prst="rect">
            <a:avLst/>
          </a:prstGeom>
          <a:noFill/>
        </p:spPr>
        <p:txBody>
          <a:bodyPr wrap="square">
            <a:spAutoFit/>
          </a:bodyPr>
          <a:lstStyle/>
          <a:p>
            <a:pPr>
              <a:defRPr sz="1250" b="1">
                <a:solidFill>
                  <a:srgbClr val="FFFFFF"/>
                </a:solidFill>
                <a:latin typeface="Arial"/>
              </a:defRPr>
            </a:pPr>
            <a:r>
              <a:t>TƯƠNG QUAN TUYẾN TÍNH (BĐ 01)</a:t>
            </a:r>
          </a:p>
        </p:txBody>
      </p:sp>
      <p:sp>
        <p:nvSpPr>
          <p:cNvPr id="10" name="TextBox 9"/>
          <p:cNvSpPr txBox="1"/>
          <p:nvPr/>
        </p:nvSpPr>
        <p:spPr>
          <a:xfrm>
            <a:off x="7909560" y="1929384"/>
            <a:ext cx="3367735" cy="4379976"/>
          </a:xfrm>
          <a:prstGeom prst="rect">
            <a:avLst/>
          </a:prstGeom>
          <a:noFill/>
        </p:spPr>
        <p:txBody>
          <a:bodyPr wrap="square">
            <a:spAutoFit/>
          </a:bodyPr>
          <a:lstStyle/>
          <a:p>
            <a:pPr>
              <a:defRPr sz="1350" b="1">
                <a:solidFill>
                  <a:srgbClr val="D97706"/>
                </a:solidFill>
                <a:latin typeface="Arial"/>
              </a:defRPr>
            </a:pPr>
            <a:r>
              <a:t>Tác Dụng &amp; Mục Đích Biểu Đồ:</a:t>
            </a:r>
          </a:p>
          <a:p>
            <a:pPr>
              <a:spcBef>
                <a:spcPts val="300"/>
              </a:spcBef>
              <a:defRPr sz="1250">
                <a:solidFill>
                  <a:srgbClr val="1E293B"/>
                </a:solidFill>
                <a:latin typeface="Arial"/>
              </a:defRPr>
            </a:pPr>
            <a:r>
              <a:t>Đo lường mức độ liên kết tuyến tính (hệ số Pearson r) giữa các biến định lượng: Diện tích, Số phòng ngủ, Số tầng, Mặt tiền và Giá.</a:t>
            </a:r>
          </a:p>
          <a:p>
            <a:pPr>
              <a:spcBef>
                <a:spcPts val="1000"/>
              </a:spcBef>
              <a:defRPr sz="1350" b="1">
                <a:solidFill>
                  <a:srgbClr val="D97706"/>
                </a:solidFill>
                <a:latin typeface="Arial"/>
              </a:defRPr>
            </a:pPr>
            <a:r>
              <a:t>Phát Hiện Trọng Tâm (Key Insight):</a:t>
            </a:r>
          </a:p>
          <a:p>
            <a:pPr>
              <a:spcBef>
                <a:spcPts val="300"/>
              </a:spcBef>
              <a:defRPr sz="1250">
                <a:solidFill>
                  <a:srgbClr val="1E293B"/>
                </a:solidFill>
                <a:latin typeface="Arial"/>
              </a:defRPr>
            </a:pPr>
            <a:r>
              <a:t>Diện tích (area) có tương quan dương mạnh nhất với Tổng giá trị tài sản (r = 0.72), khẳng định quy mô diện tích là nhân tố gốc chi phối giá.</a:t>
            </a:r>
          </a:p>
          <a:p>
            <a:pPr>
              <a:spcBef>
                <a:spcPts val="1000"/>
              </a:spcBef>
              <a:defRPr sz="1350" b="1">
                <a:solidFill>
                  <a:srgbClr val="D97706"/>
                </a:solidFill>
                <a:latin typeface="Arial"/>
              </a:defRPr>
            </a:pPr>
            <a:r>
              <a:t>Cảnh Báo Đa Cộng Tuyến (Multicollinearity):</a:t>
            </a:r>
          </a:p>
          <a:p>
            <a:pPr>
              <a:spcBef>
                <a:spcPts val="300"/>
              </a:spcBef>
              <a:defRPr sz="1250">
                <a:solidFill>
                  <a:srgbClr val="1E293B"/>
                </a:solidFill>
                <a:latin typeface="Arial"/>
              </a:defRPr>
            </a:pPr>
            <a:r>
              <a:t>Số phòng ngủ và Diện tích có mức tương quan r = 0.68 -&gt; Cần kiểm soát chỉ số VIF để tránh mô hình tuyến tính bị thổi phồng phương sai.</a:t>
            </a:r>
          </a:p>
          <a:p>
            <a:pPr>
              <a:spcBef>
                <a:spcPts val="1000"/>
              </a:spcBef>
              <a:defRPr sz="1350" b="1">
                <a:solidFill>
                  <a:srgbClr val="D97706"/>
                </a:solidFill>
                <a:latin typeface="Arial"/>
              </a:defRPr>
            </a:pPr>
            <a:r>
              <a:t>Ý Nghĩa Ứng Dụng Thực Tiễn:</a:t>
            </a:r>
          </a:p>
          <a:p>
            <a:pPr>
              <a:spcBef>
                <a:spcPts val="300"/>
              </a:spcBef>
              <a:defRPr sz="1250">
                <a:solidFill>
                  <a:srgbClr val="1E293B"/>
                </a:solidFill>
                <a:latin typeface="Arial"/>
              </a:defRPr>
            </a:pPr>
            <a:r>
              <a:t>Loại bỏ các biến dư thừa có tương quan nội bộ cao, giữ lại các đặc trưng độc lập mạnh nhất cho thuật toán Machine Learning.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2: Phân Phối Giá BĐS &amp; Đột Phá Sau Biến Đổi Logarit</a:t>
            </a:r>
          </a:p>
        </p:txBody>
      </p:sp>
      <p:sp>
        <p:nvSpPr>
          <p:cNvPr id="5" name="Rectangle 4"/>
          <p:cNvSpPr/>
          <p:nvPr/>
        </p:nvSpPr>
        <p:spPr>
          <a:xfrm>
            <a:off x="731520" y="1234440"/>
            <a:ext cx="10728655" cy="3520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price_distribution.png"/>
          <p:cNvPicPr>
            <a:picLocks noChangeAspect="1"/>
          </p:cNvPicPr>
          <p:nvPr/>
        </p:nvPicPr>
        <p:blipFill>
          <a:blip r:embed="rId2"/>
          <a:stretch>
            <a:fillRect/>
          </a:stretch>
        </p:blipFill>
        <p:spPr>
          <a:xfrm>
            <a:off x="1878177" y="1307592"/>
            <a:ext cx="8435340" cy="3374136"/>
          </a:xfrm>
          <a:prstGeom prst="rect">
            <a:avLst/>
          </a:prstGeom>
        </p:spPr>
      </p:pic>
      <p:sp>
        <p:nvSpPr>
          <p:cNvPr id="7" name="Rectangle 6"/>
          <p:cNvSpPr/>
          <p:nvPr/>
        </p:nvSpPr>
        <p:spPr>
          <a:xfrm>
            <a:off x="731520"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974336"/>
            <a:ext cx="3125114" cy="530352"/>
          </a:xfrm>
          <a:prstGeom prst="rect">
            <a:avLst/>
          </a:prstGeom>
          <a:noFill/>
        </p:spPr>
        <p:txBody>
          <a:bodyPr wrap="square">
            <a:spAutoFit/>
          </a:bodyPr>
          <a:lstStyle/>
          <a:p>
            <a:pPr>
              <a:defRPr sz="1250" b="1">
                <a:solidFill>
                  <a:srgbClr val="FFFFFF"/>
                </a:solidFill>
                <a:latin typeface="Arial"/>
              </a:defRPr>
            </a:pPr>
            <a:r>
              <a:t>1. PHÂN PHỐI GỐC (LỆCH PHẢI)</a:t>
            </a:r>
          </a:p>
        </p:txBody>
      </p:sp>
      <p:sp>
        <p:nvSpPr>
          <p:cNvPr id="10" name="TextBox 9"/>
          <p:cNvSpPr txBox="1"/>
          <p:nvPr/>
        </p:nvSpPr>
        <p:spPr>
          <a:xfrm>
            <a:off x="914400"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Độ lệch Skewness ban đầu = 3.84 cực kỳ cao. Đa số BĐS tập trung ở mức 2 - 6 tỷ nhưng đuôi kéo dài tới 35 tỷ, gây nhiễu sai số lớn.</a:t>
            </a:r>
          </a:p>
        </p:txBody>
      </p:sp>
      <p:sp>
        <p:nvSpPr>
          <p:cNvPr id="11" name="Rectangle 10"/>
          <p:cNvSpPr/>
          <p:nvPr/>
        </p:nvSpPr>
        <p:spPr>
          <a:xfrm>
            <a:off x="4368698"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8698"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290" y="4974336"/>
            <a:ext cx="3125114" cy="530352"/>
          </a:xfrm>
          <a:prstGeom prst="rect">
            <a:avLst/>
          </a:prstGeom>
          <a:noFill/>
        </p:spPr>
        <p:txBody>
          <a:bodyPr wrap="square">
            <a:spAutoFit/>
          </a:bodyPr>
          <a:lstStyle/>
          <a:p>
            <a:pPr>
              <a:defRPr sz="1250" b="1">
                <a:solidFill>
                  <a:srgbClr val="FFFFFF"/>
                </a:solidFill>
                <a:latin typeface="Arial"/>
              </a:defRPr>
            </a:pPr>
            <a:r>
              <a:t>2. GIẢI PHÁP LOG-TRANSFORM</a:t>
            </a:r>
          </a:p>
        </p:txBody>
      </p:sp>
      <p:sp>
        <p:nvSpPr>
          <p:cNvPr id="14" name="TextBox 13"/>
          <p:cNvSpPr txBox="1"/>
          <p:nvPr/>
        </p:nvSpPr>
        <p:spPr>
          <a:xfrm>
            <a:off x="4551578"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Biến đổi logarit đưa Skewness về 0.18, nén biên độ dao động và tạo ra đường cong phân phối chuẩn đối xứng lý tưởng (chuông Gauss).</a:t>
            </a:r>
          </a:p>
        </p:txBody>
      </p:sp>
      <p:sp>
        <p:nvSpPr>
          <p:cNvPr id="15" name="Rectangle 14"/>
          <p:cNvSpPr/>
          <p:nvPr/>
        </p:nvSpPr>
        <p:spPr>
          <a:xfrm>
            <a:off x="8005876"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5876"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0468" y="4974336"/>
            <a:ext cx="3125114" cy="530352"/>
          </a:xfrm>
          <a:prstGeom prst="rect">
            <a:avLst/>
          </a:prstGeom>
          <a:noFill/>
        </p:spPr>
        <p:txBody>
          <a:bodyPr wrap="square">
            <a:spAutoFit/>
          </a:bodyPr>
          <a:lstStyle/>
          <a:p>
            <a:pPr>
              <a:defRPr sz="1250" b="1">
                <a:solidFill>
                  <a:srgbClr val="FFFFFF"/>
                </a:solidFill>
                <a:latin typeface="Arial"/>
              </a:defRPr>
            </a:pPr>
            <a:r>
              <a:t>3. Ý NGHĨA KHOA HỌC DỮ LIỆU</a:t>
            </a:r>
          </a:p>
        </p:txBody>
      </p:sp>
      <p:sp>
        <p:nvSpPr>
          <p:cNvPr id="18" name="TextBox 17"/>
          <p:cNvSpPr txBox="1"/>
          <p:nvPr/>
        </p:nvSpPr>
        <p:spPr>
          <a:xfrm>
            <a:off x="8188756"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Giúp các mô hình nhạy cảm với ngoại lệ (Linear, Ridge) đạt độ hội tụ ổn định, giảm hiện tượng phương sai dư sai thay đổi (Heteroscedasticity).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3: Tương Quan Tán Xạ Giữa Diện Tích &amp; Giá Trị BĐS</a:t>
            </a:r>
          </a:p>
        </p:txBody>
      </p:sp>
      <p:sp>
        <p:nvSpPr>
          <p:cNvPr id="5" name="Rectangle 4"/>
          <p:cNvSpPr/>
          <p:nvPr/>
        </p:nvSpPr>
        <p:spPr>
          <a:xfrm>
            <a:off x="731520" y="1234440"/>
            <a:ext cx="10728655" cy="3520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_price_vs_area_scatter.png"/>
          <p:cNvPicPr>
            <a:picLocks noChangeAspect="1"/>
          </p:cNvPicPr>
          <p:nvPr/>
        </p:nvPicPr>
        <p:blipFill>
          <a:blip r:embed="rId2"/>
          <a:stretch>
            <a:fillRect/>
          </a:stretch>
        </p:blipFill>
        <p:spPr>
          <a:xfrm>
            <a:off x="1878177" y="1307592"/>
            <a:ext cx="8435340" cy="3374136"/>
          </a:xfrm>
          <a:prstGeom prst="rect">
            <a:avLst/>
          </a:prstGeom>
        </p:spPr>
      </p:pic>
      <p:sp>
        <p:nvSpPr>
          <p:cNvPr id="7" name="Rectangle 6"/>
          <p:cNvSpPr/>
          <p:nvPr/>
        </p:nvSpPr>
        <p:spPr>
          <a:xfrm>
            <a:off x="731520"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974336"/>
            <a:ext cx="3125114" cy="530352"/>
          </a:xfrm>
          <a:prstGeom prst="rect">
            <a:avLst/>
          </a:prstGeom>
          <a:noFill/>
        </p:spPr>
        <p:txBody>
          <a:bodyPr wrap="square">
            <a:spAutoFit/>
          </a:bodyPr>
          <a:lstStyle/>
          <a:p>
            <a:pPr>
              <a:defRPr sz="1250" b="1">
                <a:solidFill>
                  <a:srgbClr val="FFFFFF"/>
                </a:solidFill>
                <a:latin typeface="Arial"/>
              </a:defRPr>
            </a:pPr>
            <a:r>
              <a:t>1. QUAN HỆ ĐỒNG BIẾN RÕ NÉT</a:t>
            </a:r>
          </a:p>
        </p:txBody>
      </p:sp>
      <p:sp>
        <p:nvSpPr>
          <p:cNvPr id="10" name="TextBox 9"/>
          <p:cNvSpPr txBox="1"/>
          <p:nvPr/>
        </p:nvSpPr>
        <p:spPr>
          <a:xfrm>
            <a:off x="914400"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Đường hồi quy thực nghiệm có độ dốc dương rõ ràng: Diện tích càng lớn thì tổng giá trị tài sản càng tăng theo quy luật tuyến tính chủ đạo.</a:t>
            </a:r>
          </a:p>
        </p:txBody>
      </p:sp>
      <p:sp>
        <p:nvSpPr>
          <p:cNvPr id="11" name="Rectangle 10"/>
          <p:cNvSpPr/>
          <p:nvPr/>
        </p:nvSpPr>
        <p:spPr>
          <a:xfrm>
            <a:off x="4368698"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8698"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290" y="4974336"/>
            <a:ext cx="3125114" cy="530352"/>
          </a:xfrm>
          <a:prstGeom prst="rect">
            <a:avLst/>
          </a:prstGeom>
          <a:noFill/>
        </p:spPr>
        <p:txBody>
          <a:bodyPr wrap="square">
            <a:spAutoFit/>
          </a:bodyPr>
          <a:lstStyle/>
          <a:p>
            <a:pPr>
              <a:defRPr sz="1250" b="1">
                <a:solidFill>
                  <a:srgbClr val="FFFFFF"/>
                </a:solidFill>
                <a:latin typeface="Arial"/>
              </a:defRPr>
            </a:pPr>
            <a:r>
              <a:t>2. TÍNH PHI TUYẾN &amp; ĐỘ PHÂN TÁN</a:t>
            </a:r>
          </a:p>
        </p:txBody>
      </p:sp>
      <p:sp>
        <p:nvSpPr>
          <p:cNvPr id="14" name="TextBox 13"/>
          <p:cNvSpPr txBox="1"/>
          <p:nvPr/>
        </p:nvSpPr>
        <p:spPr>
          <a:xfrm>
            <a:off x="4551578"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Tại cùng diện tích 50m², giá nhà dao động mạnh từ 3 tỷ (ngoại thành) đến 15 tỷ (trung tâm), phản ánh trọng số cực lớn của vị trí địa lý.</a:t>
            </a:r>
          </a:p>
        </p:txBody>
      </p:sp>
      <p:sp>
        <p:nvSpPr>
          <p:cNvPr id="15" name="Rectangle 14"/>
          <p:cNvSpPr/>
          <p:nvPr/>
        </p:nvSpPr>
        <p:spPr>
          <a:xfrm>
            <a:off x="8005876"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5876"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0468" y="4974336"/>
            <a:ext cx="3125114" cy="530352"/>
          </a:xfrm>
          <a:prstGeom prst="rect">
            <a:avLst/>
          </a:prstGeom>
          <a:noFill/>
        </p:spPr>
        <p:txBody>
          <a:bodyPr wrap="square">
            <a:spAutoFit/>
          </a:bodyPr>
          <a:lstStyle/>
          <a:p>
            <a:pPr>
              <a:defRPr sz="1250" b="1">
                <a:solidFill>
                  <a:srgbClr val="FFFFFF"/>
                </a:solidFill>
                <a:latin typeface="Arial"/>
              </a:defRPr>
            </a:pPr>
            <a:r>
              <a:t>3. KHUYẾN NGHỊ MÔ HÌNH HÓA</a:t>
            </a:r>
          </a:p>
        </p:txBody>
      </p:sp>
      <p:sp>
        <p:nvSpPr>
          <p:cNvPr id="18" name="TextBox 17"/>
          <p:cNvSpPr txBox="1"/>
          <p:nvPr/>
        </p:nvSpPr>
        <p:spPr>
          <a:xfrm>
            <a:off x="8188756"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Thuật toán tuyến tính đơn thuần không thể bao quát toàn bộ độ phân tán này; bắt buộc phải dùng Gradient Boosting để bắt tương tác phi tuyến.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4: Phân Bố Đơn Giá (triệu/m²) Chi Tiết 30 Quận / Huyện Hà Nội</a:t>
            </a:r>
          </a:p>
        </p:txBody>
      </p:sp>
      <p:sp>
        <p:nvSpPr>
          <p:cNvPr id="5" name="Rectangle 4"/>
          <p:cNvSpPr/>
          <p:nvPr/>
        </p:nvSpPr>
        <p:spPr>
          <a:xfrm>
            <a:off x="731520" y="1234440"/>
            <a:ext cx="10728655" cy="3520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_price_by_district_boxplot.png"/>
          <p:cNvPicPr>
            <a:picLocks noChangeAspect="1"/>
          </p:cNvPicPr>
          <p:nvPr/>
        </p:nvPicPr>
        <p:blipFill>
          <a:blip r:embed="rId2"/>
          <a:stretch>
            <a:fillRect/>
          </a:stretch>
        </p:blipFill>
        <p:spPr>
          <a:xfrm>
            <a:off x="2159355" y="1307592"/>
            <a:ext cx="7872984" cy="3374136"/>
          </a:xfrm>
          <a:prstGeom prst="rect">
            <a:avLst/>
          </a:prstGeom>
        </p:spPr>
      </p:pic>
      <p:sp>
        <p:nvSpPr>
          <p:cNvPr id="7" name="Rectangle 6"/>
          <p:cNvSpPr/>
          <p:nvPr/>
        </p:nvSpPr>
        <p:spPr>
          <a:xfrm>
            <a:off x="731520"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974336"/>
            <a:ext cx="3125114" cy="530352"/>
          </a:xfrm>
          <a:prstGeom prst="rect">
            <a:avLst/>
          </a:prstGeom>
          <a:noFill/>
        </p:spPr>
        <p:txBody>
          <a:bodyPr wrap="square">
            <a:spAutoFit/>
          </a:bodyPr>
          <a:lstStyle/>
          <a:p>
            <a:pPr>
              <a:defRPr sz="1250" b="1">
                <a:solidFill>
                  <a:srgbClr val="FFFFFF"/>
                </a:solidFill>
                <a:latin typeface="Arial"/>
              </a:defRPr>
            </a:pPr>
            <a:r>
              <a:t>1. TOP 3 QUẬN ĐẮT ĐỎ NHẤT</a:t>
            </a:r>
          </a:p>
        </p:txBody>
      </p:sp>
      <p:sp>
        <p:nvSpPr>
          <p:cNvPr id="10" name="TextBox 9"/>
          <p:cNvSpPr txBox="1"/>
          <p:nvPr/>
        </p:nvSpPr>
        <p:spPr>
          <a:xfrm>
            <a:off x="914400"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Hoàn Kiếm (trung vị &gt;280 tr/m²), Ba Đình (195 tr/m²), Hai Bà Trưng (175 tr/m²). Nguồn cung khan hiếm, giá trị bảo toàn cao.</a:t>
            </a:r>
          </a:p>
        </p:txBody>
      </p:sp>
      <p:sp>
        <p:nvSpPr>
          <p:cNvPr id="11" name="Rectangle 10"/>
          <p:cNvSpPr/>
          <p:nvPr/>
        </p:nvSpPr>
        <p:spPr>
          <a:xfrm>
            <a:off x="4368698"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8698"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290" y="4974336"/>
            <a:ext cx="3125114" cy="530352"/>
          </a:xfrm>
          <a:prstGeom prst="rect">
            <a:avLst/>
          </a:prstGeom>
          <a:noFill/>
        </p:spPr>
        <p:txBody>
          <a:bodyPr wrap="square">
            <a:spAutoFit/>
          </a:bodyPr>
          <a:lstStyle/>
          <a:p>
            <a:pPr>
              <a:defRPr sz="1250" b="1">
                <a:solidFill>
                  <a:srgbClr val="FFFFFF"/>
                </a:solidFill>
                <a:latin typeface="Arial"/>
              </a:defRPr>
            </a:pPr>
            <a:r>
              <a:t>2. TOP 3 VÙNG GIÁ DỄ TIẾP CẬN</a:t>
            </a:r>
          </a:p>
        </p:txBody>
      </p:sp>
      <p:sp>
        <p:nvSpPr>
          <p:cNvPr id="14" name="TextBox 13"/>
          <p:cNvSpPr txBox="1"/>
          <p:nvPr/>
        </p:nvSpPr>
        <p:spPr>
          <a:xfrm>
            <a:off x="4551578"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Ba Vì (22 tr/m²), Sóc Sơn (26 tr/m²), Mê Linh (31 tr/m²). Biên độ tăng trưởng dài hạn lớn gắn liền quy hoạch hạ tầng vành đai.</a:t>
            </a:r>
          </a:p>
        </p:txBody>
      </p:sp>
      <p:sp>
        <p:nvSpPr>
          <p:cNvPr id="15" name="Rectangle 14"/>
          <p:cNvSpPr/>
          <p:nvPr/>
        </p:nvSpPr>
        <p:spPr>
          <a:xfrm>
            <a:off x="8005876"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5876"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0468" y="4974336"/>
            <a:ext cx="3125114" cy="530352"/>
          </a:xfrm>
          <a:prstGeom prst="rect">
            <a:avLst/>
          </a:prstGeom>
          <a:noFill/>
        </p:spPr>
        <p:txBody>
          <a:bodyPr wrap="square">
            <a:spAutoFit/>
          </a:bodyPr>
          <a:lstStyle/>
          <a:p>
            <a:pPr>
              <a:defRPr sz="1250" b="1">
                <a:solidFill>
                  <a:srgbClr val="FFFFFF"/>
                </a:solidFill>
                <a:latin typeface="Arial"/>
              </a:defRPr>
            </a:pPr>
            <a:r>
              <a:t>3. ĐỘ PHÂN TÁN NỘI BỘ (IQR)</a:t>
            </a:r>
          </a:p>
        </p:txBody>
      </p:sp>
      <p:sp>
        <p:nvSpPr>
          <p:cNvPr id="18" name="TextBox 17"/>
          <p:cNvSpPr txBox="1"/>
          <p:nvPr/>
        </p:nvSpPr>
        <p:spPr>
          <a:xfrm>
            <a:off x="8188756"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Các quận trung tâm có 'râu hộp' (whisker) rất dài, phản ánh sự phân hóa sâu sắc giữa phân khúc nhà mặt phố và nhà ngõ sâu.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Thử Nghiệm &amp; So Sánh 5 Mô Hình Machine Learning</a:t>
            </a:r>
          </a:p>
        </p:txBody>
      </p:sp>
      <p:graphicFrame>
        <p:nvGraphicFramePr>
          <p:cNvPr id="5" name="Table 4"/>
          <p:cNvGraphicFramePr>
            <a:graphicFrameLocks noGrp="1"/>
          </p:cNvGraphicFramePr>
          <p:nvPr/>
        </p:nvGraphicFramePr>
        <p:xfrm>
          <a:off x="731520" y="1234440"/>
          <a:ext cx="10728655" cy="3291840"/>
        </p:xfrm>
        <a:graphic>
          <a:graphicData uri="http://schemas.openxmlformats.org/drawingml/2006/table">
            <a:tbl>
              <a:tblPr firstRow="1" bandRow="1">
                <a:tableStyleId>{5C22544A-7EE6-4342-B048-85BDC9FD1C3A}</a:tableStyleId>
              </a:tblPr>
              <a:tblGrid>
                <a:gridCol w="2133295"/>
                <a:gridCol w="1371600"/>
                <a:gridCol w="1645920"/>
                <a:gridCol w="1645920"/>
                <a:gridCol w="1645920"/>
                <a:gridCol w="2286000"/>
              </a:tblGrid>
              <a:tr h="548640">
                <a:tc>
                  <a:txBody>
                    <a:bodyPr/>
                    <a:lstStyle/>
                    <a:p>
                      <a:pPr algn="ctr">
                        <a:defRPr b="1" sz="1300">
                          <a:solidFill>
                            <a:srgbClr val="FFFFFF"/>
                          </a:solidFill>
                          <a:latin typeface="Arial"/>
                        </a:defRPr>
                      </a:pPr>
                      <a:r>
                        <a:t>Mô Hình ML</a:t>
                      </a:r>
                    </a:p>
                  </a:txBody>
                  <a:tcPr anchor="ctr">
                    <a:solidFill>
                      <a:srgbClr val="1A365D"/>
                    </a:solidFill>
                  </a:tcPr>
                </a:tc>
                <a:tc>
                  <a:txBody>
                    <a:bodyPr/>
                    <a:lstStyle/>
                    <a:p>
                      <a:pPr algn="ctr">
                        <a:defRPr b="1" sz="1300">
                          <a:solidFill>
                            <a:srgbClr val="FFFFFF"/>
                          </a:solidFill>
                          <a:latin typeface="Arial"/>
                        </a:defRPr>
                      </a:pPr>
                      <a:r>
                        <a:t>R² Score</a:t>
                      </a:r>
                    </a:p>
                  </a:txBody>
                  <a:tcPr anchor="ctr">
                    <a:solidFill>
                      <a:srgbClr val="1A365D"/>
                    </a:solidFill>
                  </a:tcPr>
                </a:tc>
                <a:tc>
                  <a:txBody>
                    <a:bodyPr/>
                    <a:lstStyle/>
                    <a:p>
                      <a:pPr algn="ctr">
                        <a:defRPr b="1" sz="1300">
                          <a:solidFill>
                            <a:srgbClr val="FFFFFF"/>
                          </a:solidFill>
                          <a:latin typeface="Arial"/>
                        </a:defRPr>
                      </a:pPr>
                      <a:r>
                        <a:t>MAE (tr/m²)</a:t>
                      </a:r>
                    </a:p>
                  </a:txBody>
                  <a:tcPr anchor="ctr">
                    <a:solidFill>
                      <a:srgbClr val="1A365D"/>
                    </a:solidFill>
                  </a:tcPr>
                </a:tc>
                <a:tc>
                  <a:txBody>
                    <a:bodyPr/>
                    <a:lstStyle/>
                    <a:p>
                      <a:pPr algn="ctr">
                        <a:defRPr b="1" sz="1300">
                          <a:solidFill>
                            <a:srgbClr val="FFFFFF"/>
                          </a:solidFill>
                          <a:latin typeface="Arial"/>
                        </a:defRPr>
                      </a:pPr>
                      <a:r>
                        <a:t>RMSE (tr/m²)</a:t>
                      </a:r>
                    </a:p>
                  </a:txBody>
                  <a:tcPr anchor="ctr">
                    <a:solidFill>
                      <a:srgbClr val="1A365D"/>
                    </a:solidFill>
                  </a:tcPr>
                </a:tc>
                <a:tc>
                  <a:txBody>
                    <a:bodyPr/>
                    <a:lstStyle/>
                    <a:p>
                      <a:pPr algn="ctr">
                        <a:defRPr b="1" sz="1300">
                          <a:solidFill>
                            <a:srgbClr val="FFFFFF"/>
                          </a:solidFill>
                          <a:latin typeface="Arial"/>
                        </a:defRPr>
                      </a:pPr>
                      <a:r>
                        <a:t>Thời Gian Train</a:t>
                      </a:r>
                    </a:p>
                  </a:txBody>
                  <a:tcPr anchor="ctr">
                    <a:solidFill>
                      <a:srgbClr val="1A365D"/>
                    </a:solidFill>
                  </a:tcPr>
                </a:tc>
                <a:tc>
                  <a:txBody>
                    <a:bodyPr/>
                    <a:lstStyle/>
                    <a:p>
                      <a:pPr algn="ctr">
                        <a:defRPr b="1" sz="1300">
                          <a:solidFill>
                            <a:srgbClr val="FFFFFF"/>
                          </a:solidFill>
                          <a:latin typeface="Arial"/>
                        </a:defRPr>
                      </a:pPr>
                      <a:r>
                        <a:t>Đánh Giá Toàn Diện</a:t>
                      </a:r>
                    </a:p>
                  </a:txBody>
                  <a:tcPr anchor="ctr">
                    <a:solidFill>
                      <a:srgbClr val="1A365D"/>
                    </a:solidFill>
                  </a:tcPr>
                </a:tc>
              </a:tr>
              <a:tr h="548640">
                <a:tc>
                  <a:txBody>
                    <a:bodyPr/>
                    <a:lstStyle/>
                    <a:p>
                      <a:pPr>
                        <a:defRPr sz="1200">
                          <a:solidFill>
                            <a:srgbClr val="1E293B"/>
                          </a:solidFill>
                          <a:latin typeface="Arial"/>
                        </a:defRPr>
                      </a:pPr>
                      <a:r>
                        <a:t>Linear Regression</a:t>
                      </a:r>
                    </a:p>
                  </a:txBody>
                  <a:tcPr anchor="ctr">
                    <a:solidFill>
                      <a:srgbClr val="FFFFFF"/>
                    </a:solidFill>
                  </a:tcPr>
                </a:tc>
                <a:tc>
                  <a:txBody>
                    <a:bodyPr/>
                    <a:lstStyle/>
                    <a:p>
                      <a:pPr algn="ctr">
                        <a:defRPr sz="1200">
                          <a:solidFill>
                            <a:srgbClr val="1E293B"/>
                          </a:solidFill>
                          <a:latin typeface="Arial"/>
                        </a:defRPr>
                      </a:pPr>
                      <a:r>
                        <a:t>0.3820</a:t>
                      </a:r>
                    </a:p>
                  </a:txBody>
                  <a:tcPr anchor="ctr">
                    <a:solidFill>
                      <a:srgbClr val="FFFFFF"/>
                    </a:solidFill>
                  </a:tcPr>
                </a:tc>
                <a:tc>
                  <a:txBody>
                    <a:bodyPr/>
                    <a:lstStyle/>
                    <a:p>
                      <a:pPr algn="ctr">
                        <a:defRPr sz="1200">
                          <a:solidFill>
                            <a:srgbClr val="1E293B"/>
                          </a:solidFill>
                          <a:latin typeface="Arial"/>
                        </a:defRPr>
                      </a:pPr>
                      <a:r>
                        <a:t>28.45</a:t>
                      </a:r>
                    </a:p>
                  </a:txBody>
                  <a:tcPr anchor="ctr">
                    <a:solidFill>
                      <a:srgbClr val="FFFFFF"/>
                    </a:solidFill>
                  </a:tcPr>
                </a:tc>
                <a:tc>
                  <a:txBody>
                    <a:bodyPr/>
                    <a:lstStyle/>
                    <a:p>
                      <a:pPr algn="ctr">
                        <a:defRPr sz="1200">
                          <a:solidFill>
                            <a:srgbClr val="1E293B"/>
                          </a:solidFill>
                          <a:latin typeface="Arial"/>
                        </a:defRPr>
                      </a:pPr>
                      <a:r>
                        <a:t>38.12</a:t>
                      </a:r>
                    </a:p>
                  </a:txBody>
                  <a:tcPr anchor="ctr">
                    <a:solidFill>
                      <a:srgbClr val="FFFFFF"/>
                    </a:solidFill>
                  </a:tcPr>
                </a:tc>
                <a:tc>
                  <a:txBody>
                    <a:bodyPr/>
                    <a:lstStyle/>
                    <a:p>
                      <a:pPr algn="ctr">
                        <a:defRPr sz="1200">
                          <a:solidFill>
                            <a:srgbClr val="1E293B"/>
                          </a:solidFill>
                          <a:latin typeface="Arial"/>
                        </a:defRPr>
                      </a:pPr>
                      <a:r>
                        <a:t>0.15 giây</a:t>
                      </a:r>
                    </a:p>
                  </a:txBody>
                  <a:tcPr anchor="ctr">
                    <a:solidFill>
                      <a:srgbClr val="FFFFFF"/>
                    </a:solidFill>
                  </a:tcPr>
                </a:tc>
                <a:tc>
                  <a:txBody>
                    <a:bodyPr/>
                    <a:lstStyle/>
                    <a:p>
                      <a:pPr>
                        <a:defRPr sz="1200">
                          <a:solidFill>
                            <a:srgbClr val="1E293B"/>
                          </a:solidFill>
                          <a:latin typeface="Arial"/>
                        </a:defRPr>
                      </a:pPr>
                      <a:r>
                        <a:t>Baseline cơ bản; sai số cao ở phân khúc đắt.</a:t>
                      </a:r>
                    </a:p>
                  </a:txBody>
                  <a:tcPr anchor="ctr">
                    <a:solidFill>
                      <a:srgbClr val="FFFFFF"/>
                    </a:solidFill>
                  </a:tcPr>
                </a:tc>
              </a:tr>
              <a:tr h="548640">
                <a:tc>
                  <a:txBody>
                    <a:bodyPr/>
                    <a:lstStyle/>
                    <a:p>
                      <a:pPr>
                        <a:defRPr sz="1200">
                          <a:solidFill>
                            <a:srgbClr val="1E293B"/>
                          </a:solidFill>
                          <a:latin typeface="Arial"/>
                        </a:defRPr>
                      </a:pPr>
                      <a:r>
                        <a:t>Ridge Regression (L2)</a:t>
                      </a:r>
                    </a:p>
                  </a:txBody>
                  <a:tcPr anchor="ctr">
                    <a:solidFill>
                      <a:srgbClr val="F8FAFC"/>
                    </a:solidFill>
                  </a:tcPr>
                </a:tc>
                <a:tc>
                  <a:txBody>
                    <a:bodyPr/>
                    <a:lstStyle/>
                    <a:p>
                      <a:pPr algn="ctr">
                        <a:defRPr sz="1200">
                          <a:solidFill>
                            <a:srgbClr val="1E293B"/>
                          </a:solidFill>
                          <a:latin typeface="Arial"/>
                        </a:defRPr>
                      </a:pPr>
                      <a:r>
                        <a:t>0.3824</a:t>
                      </a:r>
                    </a:p>
                  </a:txBody>
                  <a:tcPr anchor="ctr">
                    <a:solidFill>
                      <a:srgbClr val="F8FAFC"/>
                    </a:solidFill>
                  </a:tcPr>
                </a:tc>
                <a:tc>
                  <a:txBody>
                    <a:bodyPr/>
                    <a:lstStyle/>
                    <a:p>
                      <a:pPr algn="ctr">
                        <a:defRPr sz="1200">
                          <a:solidFill>
                            <a:srgbClr val="1E293B"/>
                          </a:solidFill>
                          <a:latin typeface="Arial"/>
                        </a:defRPr>
                      </a:pPr>
                      <a:r>
                        <a:t>28.42</a:t>
                      </a:r>
                    </a:p>
                  </a:txBody>
                  <a:tcPr anchor="ctr">
                    <a:solidFill>
                      <a:srgbClr val="F8FAFC"/>
                    </a:solidFill>
                  </a:tcPr>
                </a:tc>
                <a:tc>
                  <a:txBody>
                    <a:bodyPr/>
                    <a:lstStyle/>
                    <a:p>
                      <a:pPr algn="ctr">
                        <a:defRPr sz="1200">
                          <a:solidFill>
                            <a:srgbClr val="1E293B"/>
                          </a:solidFill>
                          <a:latin typeface="Arial"/>
                        </a:defRPr>
                      </a:pPr>
                      <a:r>
                        <a:t>38.10</a:t>
                      </a:r>
                    </a:p>
                  </a:txBody>
                  <a:tcPr anchor="ctr">
                    <a:solidFill>
                      <a:srgbClr val="F8FAFC"/>
                    </a:solidFill>
                  </a:tcPr>
                </a:tc>
                <a:tc>
                  <a:txBody>
                    <a:bodyPr/>
                    <a:lstStyle/>
                    <a:p>
                      <a:pPr algn="ctr">
                        <a:defRPr sz="1200">
                          <a:solidFill>
                            <a:srgbClr val="1E293B"/>
                          </a:solidFill>
                          <a:latin typeface="Arial"/>
                        </a:defRPr>
                      </a:pPr>
                      <a:r>
                        <a:t>0.18 giây</a:t>
                      </a:r>
                    </a:p>
                  </a:txBody>
                  <a:tcPr anchor="ctr">
                    <a:solidFill>
                      <a:srgbClr val="F8FAFC"/>
                    </a:solidFill>
                  </a:tcPr>
                </a:tc>
                <a:tc>
                  <a:txBody>
                    <a:bodyPr/>
                    <a:lstStyle/>
                    <a:p>
                      <a:pPr>
                        <a:defRPr sz="1200">
                          <a:solidFill>
                            <a:srgbClr val="1E293B"/>
                          </a:solidFill>
                          <a:latin typeface="Arial"/>
                        </a:defRPr>
                      </a:pPr>
                      <a:r>
                        <a:t>Khống chế đa cộng tuyến nhưng vẫn tuyến tính.</a:t>
                      </a:r>
                    </a:p>
                  </a:txBody>
                  <a:tcPr anchor="ctr">
                    <a:solidFill>
                      <a:srgbClr val="F8FAFC"/>
                    </a:solidFill>
                  </a:tcPr>
                </a:tc>
              </a:tr>
              <a:tr h="548640">
                <a:tc>
                  <a:txBody>
                    <a:bodyPr/>
                    <a:lstStyle/>
                    <a:p>
                      <a:pPr>
                        <a:defRPr sz="1200">
                          <a:solidFill>
                            <a:srgbClr val="1E293B"/>
                          </a:solidFill>
                          <a:latin typeface="Arial"/>
                        </a:defRPr>
                      </a:pPr>
                      <a:r>
                        <a:t>Decision Tree</a:t>
                      </a:r>
                    </a:p>
                  </a:txBody>
                  <a:tcPr anchor="ctr">
                    <a:solidFill>
                      <a:srgbClr val="FFFFFF"/>
                    </a:solidFill>
                  </a:tcPr>
                </a:tc>
                <a:tc>
                  <a:txBody>
                    <a:bodyPr/>
                    <a:lstStyle/>
                    <a:p>
                      <a:pPr algn="ctr">
                        <a:defRPr sz="1200">
                          <a:solidFill>
                            <a:srgbClr val="1E293B"/>
                          </a:solidFill>
                          <a:latin typeface="Arial"/>
                        </a:defRPr>
                      </a:pPr>
                      <a:r>
                        <a:t>0.3150</a:t>
                      </a:r>
                    </a:p>
                  </a:txBody>
                  <a:tcPr anchor="ctr">
                    <a:solidFill>
                      <a:srgbClr val="FFFFFF"/>
                    </a:solidFill>
                  </a:tcPr>
                </a:tc>
                <a:tc>
                  <a:txBody>
                    <a:bodyPr/>
                    <a:lstStyle/>
                    <a:p>
                      <a:pPr algn="ctr">
                        <a:defRPr sz="1200">
                          <a:solidFill>
                            <a:srgbClr val="1E293B"/>
                          </a:solidFill>
                          <a:latin typeface="Arial"/>
                        </a:defRPr>
                      </a:pPr>
                      <a:r>
                        <a:t>30.12</a:t>
                      </a:r>
                    </a:p>
                  </a:txBody>
                  <a:tcPr anchor="ctr">
                    <a:solidFill>
                      <a:srgbClr val="FFFFFF"/>
                    </a:solidFill>
                  </a:tcPr>
                </a:tc>
                <a:tc>
                  <a:txBody>
                    <a:bodyPr/>
                    <a:lstStyle/>
                    <a:p>
                      <a:pPr algn="ctr">
                        <a:defRPr sz="1200">
                          <a:solidFill>
                            <a:srgbClr val="1E293B"/>
                          </a:solidFill>
                          <a:latin typeface="Arial"/>
                        </a:defRPr>
                      </a:pPr>
                      <a:r>
                        <a:t>41.50</a:t>
                      </a:r>
                    </a:p>
                  </a:txBody>
                  <a:tcPr anchor="ctr">
                    <a:solidFill>
                      <a:srgbClr val="FFFFFF"/>
                    </a:solidFill>
                  </a:tcPr>
                </a:tc>
                <a:tc>
                  <a:txBody>
                    <a:bodyPr/>
                    <a:lstStyle/>
                    <a:p>
                      <a:pPr algn="ctr">
                        <a:defRPr sz="1200">
                          <a:solidFill>
                            <a:srgbClr val="1E293B"/>
                          </a:solidFill>
                          <a:latin typeface="Arial"/>
                        </a:defRPr>
                      </a:pPr>
                      <a:r>
                        <a:t>0.45 giây</a:t>
                      </a:r>
                    </a:p>
                  </a:txBody>
                  <a:tcPr anchor="ctr">
                    <a:solidFill>
                      <a:srgbClr val="FFFFFF"/>
                    </a:solidFill>
                  </a:tcPr>
                </a:tc>
                <a:tc>
                  <a:txBody>
                    <a:bodyPr/>
                    <a:lstStyle/>
                    <a:p>
                      <a:pPr>
                        <a:defRPr sz="1200">
                          <a:solidFill>
                            <a:srgbClr val="1E293B"/>
                          </a:solidFill>
                          <a:latin typeface="Arial"/>
                        </a:defRPr>
                      </a:pPr>
                      <a:r>
                        <a:t>Dễ quá khớp (Overfitting), ranh giới cắt bậc thang.</a:t>
                      </a:r>
                    </a:p>
                  </a:txBody>
                  <a:tcPr anchor="ctr">
                    <a:solidFill>
                      <a:srgbClr val="FFFFFF"/>
                    </a:solidFill>
                  </a:tcPr>
                </a:tc>
              </a:tr>
              <a:tr h="548640">
                <a:tc>
                  <a:txBody>
                    <a:bodyPr/>
                    <a:lstStyle/>
                    <a:p>
                      <a:pPr>
                        <a:defRPr b="1" sz="1250">
                          <a:solidFill>
                            <a:srgbClr val="1A365D"/>
                          </a:solidFill>
                          <a:latin typeface="Arial"/>
                        </a:defRPr>
                      </a:pPr>
                      <a:r>
                        <a:t>Gradient Boosting (GBDT)</a:t>
                      </a:r>
                    </a:p>
                  </a:txBody>
                  <a:tcPr anchor="ctr">
                    <a:solidFill>
                      <a:srgbClr val="EAF3FE"/>
                    </a:solidFill>
                  </a:tcPr>
                </a:tc>
                <a:tc>
                  <a:txBody>
                    <a:bodyPr/>
                    <a:lstStyle/>
                    <a:p>
                      <a:pPr algn="ctr">
                        <a:defRPr b="1" sz="1250">
                          <a:solidFill>
                            <a:srgbClr val="1A365D"/>
                          </a:solidFill>
                          <a:latin typeface="Arial"/>
                        </a:defRPr>
                      </a:pPr>
                      <a:r>
                        <a:t>0.4390</a:t>
                      </a:r>
                    </a:p>
                  </a:txBody>
                  <a:tcPr anchor="ctr">
                    <a:solidFill>
                      <a:srgbClr val="EAF3FE"/>
                    </a:solidFill>
                  </a:tcPr>
                </a:tc>
                <a:tc>
                  <a:txBody>
                    <a:bodyPr/>
                    <a:lstStyle/>
                    <a:p>
                      <a:pPr algn="ctr">
                        <a:defRPr b="1" sz="1250">
                          <a:solidFill>
                            <a:srgbClr val="1A365D"/>
                          </a:solidFill>
                          <a:latin typeface="Arial"/>
                        </a:defRPr>
                      </a:pPr>
                      <a:r>
                        <a:t>26.07</a:t>
                      </a:r>
                    </a:p>
                  </a:txBody>
                  <a:tcPr anchor="ctr">
                    <a:solidFill>
                      <a:srgbClr val="EAF3FE"/>
                    </a:solidFill>
                  </a:tcPr>
                </a:tc>
                <a:tc>
                  <a:txBody>
                    <a:bodyPr/>
                    <a:lstStyle/>
                    <a:p>
                      <a:pPr algn="ctr">
                        <a:defRPr b="1" sz="1250">
                          <a:solidFill>
                            <a:srgbClr val="1A365D"/>
                          </a:solidFill>
                          <a:latin typeface="Arial"/>
                        </a:defRPr>
                      </a:pPr>
                      <a:r>
                        <a:t>35.80</a:t>
                      </a:r>
                    </a:p>
                  </a:txBody>
                  <a:tcPr anchor="ctr">
                    <a:solidFill>
                      <a:srgbClr val="EAF3FE"/>
                    </a:solidFill>
                  </a:tcPr>
                </a:tc>
                <a:tc>
                  <a:txBody>
                    <a:bodyPr/>
                    <a:lstStyle/>
                    <a:p>
                      <a:pPr algn="ctr">
                        <a:defRPr b="1" sz="1250">
                          <a:solidFill>
                            <a:srgbClr val="1A365D"/>
                          </a:solidFill>
                          <a:latin typeface="Arial"/>
                        </a:defRPr>
                      </a:pPr>
                      <a:r>
                        <a:t>1.20 giây</a:t>
                      </a:r>
                    </a:p>
                  </a:txBody>
                  <a:tcPr anchor="ctr">
                    <a:solidFill>
                      <a:srgbClr val="EAF3FE"/>
                    </a:solidFill>
                  </a:tcPr>
                </a:tc>
                <a:tc>
                  <a:txBody>
                    <a:bodyPr/>
                    <a:lstStyle/>
                    <a:p>
                      <a:pPr>
                        <a:defRPr b="1" sz="1250">
                          <a:solidFill>
                            <a:srgbClr val="1A365D"/>
                          </a:solidFill>
                          <a:latin typeface="Arial"/>
                        </a:defRPr>
                      </a:pPr>
                      <a:r>
                        <a:t>🏆 TỐT NHẤT TOÀN DIỆN: R² cao nhất, MAE thấp nhất.</a:t>
                      </a:r>
                    </a:p>
                  </a:txBody>
                  <a:tcPr anchor="ctr">
                    <a:solidFill>
                      <a:srgbClr val="EAF3FE"/>
                    </a:solidFill>
                  </a:tcPr>
                </a:tc>
              </a:tr>
              <a:tr h="548640">
                <a:tc>
                  <a:txBody>
                    <a:bodyPr/>
                    <a:lstStyle/>
                    <a:p>
                      <a:pPr>
                        <a:defRPr sz="1200">
                          <a:solidFill>
                            <a:srgbClr val="1E293B"/>
                          </a:solidFill>
                          <a:latin typeface="Arial"/>
                        </a:defRPr>
                      </a:pPr>
                      <a:r>
                        <a:t>Random Forest</a:t>
                      </a:r>
                    </a:p>
                  </a:txBody>
                  <a:tcPr anchor="ctr">
                    <a:solidFill>
                      <a:srgbClr val="FFFFFF"/>
                    </a:solidFill>
                  </a:tcPr>
                </a:tc>
                <a:tc>
                  <a:txBody>
                    <a:bodyPr/>
                    <a:lstStyle/>
                    <a:p>
                      <a:pPr algn="ctr">
                        <a:defRPr sz="1200">
                          <a:solidFill>
                            <a:srgbClr val="1E293B"/>
                          </a:solidFill>
                          <a:latin typeface="Arial"/>
                        </a:defRPr>
                      </a:pPr>
                      <a:r>
                        <a:t>0.4280</a:t>
                      </a:r>
                    </a:p>
                  </a:txBody>
                  <a:tcPr anchor="ctr">
                    <a:solidFill>
                      <a:srgbClr val="FFFFFF"/>
                    </a:solidFill>
                  </a:tcPr>
                </a:tc>
                <a:tc>
                  <a:txBody>
                    <a:bodyPr/>
                    <a:lstStyle/>
                    <a:p>
                      <a:pPr algn="ctr">
                        <a:defRPr sz="1200">
                          <a:solidFill>
                            <a:srgbClr val="1E293B"/>
                          </a:solidFill>
                          <a:latin typeface="Arial"/>
                        </a:defRPr>
                      </a:pPr>
                      <a:r>
                        <a:t>26.55</a:t>
                      </a:r>
                    </a:p>
                  </a:txBody>
                  <a:tcPr anchor="ctr">
                    <a:solidFill>
                      <a:srgbClr val="FFFFFF"/>
                    </a:solidFill>
                  </a:tcPr>
                </a:tc>
                <a:tc>
                  <a:txBody>
                    <a:bodyPr/>
                    <a:lstStyle/>
                    <a:p>
                      <a:pPr algn="ctr">
                        <a:defRPr sz="1200">
                          <a:solidFill>
                            <a:srgbClr val="1E293B"/>
                          </a:solidFill>
                          <a:latin typeface="Arial"/>
                        </a:defRPr>
                      </a:pPr>
                      <a:r>
                        <a:t>36.20</a:t>
                      </a:r>
                    </a:p>
                  </a:txBody>
                  <a:tcPr anchor="ctr">
                    <a:solidFill>
                      <a:srgbClr val="FFFFFF"/>
                    </a:solidFill>
                  </a:tcPr>
                </a:tc>
                <a:tc>
                  <a:txBody>
                    <a:bodyPr/>
                    <a:lstStyle/>
                    <a:p>
                      <a:pPr algn="ctr">
                        <a:defRPr sz="1200">
                          <a:solidFill>
                            <a:srgbClr val="1E293B"/>
                          </a:solidFill>
                          <a:latin typeface="Arial"/>
                        </a:defRPr>
                      </a:pPr>
                      <a:r>
                        <a:t>2.85 giây</a:t>
                      </a:r>
                    </a:p>
                  </a:txBody>
                  <a:tcPr anchor="ctr">
                    <a:solidFill>
                      <a:srgbClr val="FFFFFF"/>
                    </a:solidFill>
                  </a:tcPr>
                </a:tc>
                <a:tc>
                  <a:txBody>
                    <a:bodyPr/>
                    <a:lstStyle/>
                    <a:p>
                      <a:pPr>
                        <a:defRPr sz="1200">
                          <a:solidFill>
                            <a:srgbClr val="1E293B"/>
                          </a:solidFill>
                          <a:latin typeface="Arial"/>
                        </a:defRPr>
                      </a:pPr>
                      <a:r>
                        <a:t>Ổn định cao nhưng thời gian train gấp 2.4 lần GBDT.</a:t>
                      </a:r>
                    </a:p>
                  </a:txBody>
                  <a:tcPr anchor="ctr">
                    <a:solidFill>
                      <a:srgbClr val="FFFFFF"/>
                    </a:solidFill>
                  </a:tcPr>
                </a:tc>
              </a:tr>
            </a:tbl>
          </a:graphicData>
        </a:graphic>
      </p:graphicFrame>
      <p:sp>
        <p:nvSpPr>
          <p:cNvPr id="6" name="Rectangle 5"/>
          <p:cNvSpPr/>
          <p:nvPr/>
        </p:nvSpPr>
        <p:spPr>
          <a:xfrm>
            <a:off x="731520" y="4800600"/>
            <a:ext cx="10728655" cy="1600200"/>
          </a:xfrm>
          <a:prstGeom prst="rect">
            <a:avLst/>
          </a:prstGeom>
          <a:solidFill>
            <a:srgbClr val="0F224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D97706"/>
                </a:solidFill>
                <a:latin typeface="Arial"/>
              </a:defRPr>
            </a:pPr>
            <a:r>
              <a:t>🏆 KẾT LUẬN CHIẾN LƯỢC MÔ HÌNH HÓA</a:t>
            </a:r>
          </a:p>
          <a:p>
            <a:pPr>
              <a:spcBef>
                <a:spcPts val="800"/>
              </a:spcBef>
              <a:defRPr sz="1300">
                <a:solidFill>
                  <a:srgbClr val="FFFFFF"/>
                </a:solidFill>
                <a:latin typeface="Arial"/>
              </a:defRPr>
            </a:pPr>
            <a:r>
              <a:t>• Gradient Boosting (GBDT) được lựa chọn làm mô hình sản xuất chính: Giảm 8.4% sai số MAE so với Linear Regression nhờ khả năng học tương tác phi tuyến giữa diện tích và vị trí quận.</a:t>
            </a:r>
            <a:br/>
            <a:r>
              <a:t>• Thời gian huấn luyện siêu nhanh (1.20 giây) đáp ứng hoàn hảo yêu cầu cập nhật lại mô hình định kỳ (Retraining Pipeline) và đóng gói triển khai suy diễn tự động.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5: So Sánh Hiệu Năng Các Mô Hình (MAE &amp; R² Score)</a:t>
            </a:r>
          </a:p>
        </p:txBody>
      </p:sp>
      <p:sp>
        <p:nvSpPr>
          <p:cNvPr id="5" name="Rectangle 4"/>
          <p:cNvSpPr/>
          <p:nvPr/>
        </p:nvSpPr>
        <p:spPr>
          <a:xfrm>
            <a:off x="731520" y="1234440"/>
            <a:ext cx="10728655" cy="3520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_model_comparison.png"/>
          <p:cNvPicPr>
            <a:picLocks noChangeAspect="1"/>
          </p:cNvPicPr>
          <p:nvPr/>
        </p:nvPicPr>
        <p:blipFill>
          <a:blip r:embed="rId2"/>
          <a:stretch>
            <a:fillRect/>
          </a:stretch>
        </p:blipFill>
        <p:spPr>
          <a:xfrm>
            <a:off x="1372057" y="1307592"/>
            <a:ext cx="9447580" cy="3374136"/>
          </a:xfrm>
          <a:prstGeom prst="rect">
            <a:avLst/>
          </a:prstGeom>
        </p:spPr>
      </p:pic>
      <p:sp>
        <p:nvSpPr>
          <p:cNvPr id="7" name="Rectangle 6"/>
          <p:cNvSpPr/>
          <p:nvPr/>
        </p:nvSpPr>
        <p:spPr>
          <a:xfrm>
            <a:off x="731520"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974336"/>
            <a:ext cx="3125114" cy="530352"/>
          </a:xfrm>
          <a:prstGeom prst="rect">
            <a:avLst/>
          </a:prstGeom>
          <a:noFill/>
        </p:spPr>
        <p:txBody>
          <a:bodyPr wrap="square">
            <a:spAutoFit/>
          </a:bodyPr>
          <a:lstStyle/>
          <a:p>
            <a:pPr>
              <a:defRPr sz="1250" b="1">
                <a:solidFill>
                  <a:srgbClr val="FFFFFF"/>
                </a:solidFill>
                <a:latin typeface="Arial"/>
              </a:defRPr>
            </a:pPr>
            <a:r>
              <a:t>1. GBDT QUÁN QUÂN TUYỆT ĐỐI</a:t>
            </a:r>
          </a:p>
        </p:txBody>
      </p:sp>
      <p:sp>
        <p:nvSpPr>
          <p:cNvPr id="10" name="TextBox 9"/>
          <p:cNvSpPr txBox="1"/>
          <p:nvPr/>
        </p:nvSpPr>
        <p:spPr>
          <a:xfrm>
            <a:off x="914400"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Đạt R² = 0.4390 cao nhất và MAE = 26.07 triệu/m² thấp nhất toàn bộ thử nghiệm, giảm 8.4% sai số so với mô hình Linear.</a:t>
            </a:r>
          </a:p>
        </p:txBody>
      </p:sp>
      <p:sp>
        <p:nvSpPr>
          <p:cNvPr id="11" name="Rectangle 10"/>
          <p:cNvSpPr/>
          <p:nvPr/>
        </p:nvSpPr>
        <p:spPr>
          <a:xfrm>
            <a:off x="4368698"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8698" y="4937760"/>
            <a:ext cx="3454298" cy="43891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290" y="4974336"/>
            <a:ext cx="3125114" cy="365760"/>
          </a:xfrm>
          <a:prstGeom prst="rect">
            <a:avLst/>
          </a:prstGeom>
          <a:noFill/>
        </p:spPr>
        <p:txBody>
          <a:bodyPr wrap="square">
            <a:spAutoFit/>
          </a:bodyPr>
          <a:lstStyle/>
          <a:p>
            <a:pPr>
              <a:defRPr sz="1350" b="1">
                <a:solidFill>
                  <a:srgbClr val="FFFFFF"/>
                </a:solidFill>
                <a:latin typeface="Arial"/>
              </a:defRPr>
            </a:pPr>
            <a:r>
              <a:t>2. BẢN CHẤT PHI TUYẾN</a:t>
            </a:r>
          </a:p>
        </p:txBody>
      </p:sp>
      <p:sp>
        <p:nvSpPr>
          <p:cNvPr id="14" name="TextBox 13"/>
          <p:cNvSpPr txBox="1"/>
          <p:nvPr/>
        </p:nvSpPr>
        <p:spPr>
          <a:xfrm>
            <a:off x="4551578" y="5468112"/>
            <a:ext cx="3088538" cy="978407"/>
          </a:xfrm>
          <a:prstGeom prst="rect">
            <a:avLst/>
          </a:prstGeom>
          <a:noFill/>
        </p:spPr>
        <p:txBody>
          <a:bodyPr wrap="square">
            <a:spAutoFit/>
          </a:bodyPr>
          <a:lstStyle/>
          <a:p>
            <a:pPr>
              <a:spcBef>
                <a:spcPts val="400"/>
              </a:spcBef>
              <a:defRPr sz="1300">
                <a:solidFill>
                  <a:srgbClr val="1E293B"/>
                </a:solidFill>
                <a:latin typeface="Arial"/>
              </a:defRPr>
            </a:pPr>
            <a:r>
              <a:t>Chuỗi cây quyết định liên tiếp học phần dư sai của các cây trước, giải quyết triệt để tính phi tuyến và tương tác vị trí.</a:t>
            </a:r>
          </a:p>
        </p:txBody>
      </p:sp>
      <p:sp>
        <p:nvSpPr>
          <p:cNvPr id="15" name="Rectangle 14"/>
          <p:cNvSpPr/>
          <p:nvPr/>
        </p:nvSpPr>
        <p:spPr>
          <a:xfrm>
            <a:off x="8005876" y="4937760"/>
            <a:ext cx="3454298" cy="1600199"/>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5876" y="4937760"/>
            <a:ext cx="345429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0468" y="4974336"/>
            <a:ext cx="3125114" cy="530352"/>
          </a:xfrm>
          <a:prstGeom prst="rect">
            <a:avLst/>
          </a:prstGeom>
          <a:noFill/>
        </p:spPr>
        <p:txBody>
          <a:bodyPr wrap="square">
            <a:spAutoFit/>
          </a:bodyPr>
          <a:lstStyle/>
          <a:p>
            <a:pPr>
              <a:defRPr sz="1250" b="1">
                <a:solidFill>
                  <a:srgbClr val="FFFFFF"/>
                </a:solidFill>
                <a:latin typeface="Arial"/>
              </a:defRPr>
            </a:pPr>
            <a:r>
              <a:t>3. Ý NGHĨA KHOA HỌC DỮ LIỆU</a:t>
            </a:r>
          </a:p>
        </p:txBody>
      </p:sp>
      <p:sp>
        <p:nvSpPr>
          <p:cNvPr id="18" name="TextBox 17"/>
          <p:cNvSpPr txBox="1"/>
          <p:nvPr/>
        </p:nvSpPr>
        <p:spPr>
          <a:xfrm>
            <a:off x="8188756" y="5632704"/>
            <a:ext cx="3088538" cy="813815"/>
          </a:xfrm>
          <a:prstGeom prst="rect">
            <a:avLst/>
          </a:prstGeom>
          <a:noFill/>
        </p:spPr>
        <p:txBody>
          <a:bodyPr wrap="square">
            <a:spAutoFit/>
          </a:bodyPr>
          <a:lstStyle/>
          <a:p>
            <a:pPr>
              <a:spcBef>
                <a:spcPts val="400"/>
              </a:spcBef>
              <a:defRPr sz="1300">
                <a:solidFill>
                  <a:srgbClr val="1E293B"/>
                </a:solidFill>
                <a:latin typeface="Arial"/>
              </a:defRPr>
            </a:pPr>
            <a:r>
              <a:t>Khẳng định mô hình học máy dạng cây tăng cường là sự lựa chọn tối ưu, đủ cơ sở khoa học để đưa vào sản xuất thực tế.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6: Tầm Quan Trọng Của Các Đặc Trưng Trong Mô Hình GBDT</a:t>
            </a:r>
          </a:p>
        </p:txBody>
      </p:sp>
      <p:sp>
        <p:nvSpPr>
          <p:cNvPr id="5" name="Rectangle 4"/>
          <p:cNvSpPr/>
          <p:nvPr/>
        </p:nvSpPr>
        <p:spPr>
          <a:xfrm>
            <a:off x="731520" y="1234440"/>
            <a:ext cx="676656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_feature_importance.png"/>
          <p:cNvPicPr>
            <a:picLocks noChangeAspect="1"/>
          </p:cNvPicPr>
          <p:nvPr/>
        </p:nvPicPr>
        <p:blipFill>
          <a:blip r:embed="rId2"/>
          <a:stretch>
            <a:fillRect/>
          </a:stretch>
        </p:blipFill>
        <p:spPr>
          <a:xfrm>
            <a:off x="804672" y="1886712"/>
            <a:ext cx="6620256" cy="3861816"/>
          </a:xfrm>
          <a:prstGeom prst="rect">
            <a:avLst/>
          </a:prstGeom>
        </p:spPr>
      </p:pic>
      <p:sp>
        <p:nvSpPr>
          <p:cNvPr id="7" name="Rectangle 6"/>
          <p:cNvSpPr/>
          <p:nvPr/>
        </p:nvSpPr>
        <p:spPr>
          <a:xfrm>
            <a:off x="7726680" y="1234440"/>
            <a:ext cx="3733495"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26680" y="1234440"/>
            <a:ext cx="37334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91272" y="1271016"/>
            <a:ext cx="3404311" cy="530352"/>
          </a:xfrm>
          <a:prstGeom prst="rect">
            <a:avLst/>
          </a:prstGeom>
          <a:noFill/>
        </p:spPr>
        <p:txBody>
          <a:bodyPr wrap="square">
            <a:spAutoFit/>
          </a:bodyPr>
          <a:lstStyle/>
          <a:p>
            <a:pPr>
              <a:defRPr sz="1250" b="1">
                <a:solidFill>
                  <a:srgbClr val="FFFFFF"/>
                </a:solidFill>
                <a:latin typeface="Arial"/>
              </a:defRPr>
            </a:pPr>
            <a:r>
              <a:t>TẦM QUAN TRỌNG ĐẶC TRƯNG (BĐ 06)</a:t>
            </a:r>
          </a:p>
        </p:txBody>
      </p:sp>
      <p:sp>
        <p:nvSpPr>
          <p:cNvPr id="10" name="TextBox 9"/>
          <p:cNvSpPr txBox="1"/>
          <p:nvPr/>
        </p:nvSpPr>
        <p:spPr>
          <a:xfrm>
            <a:off x="7909560" y="1929384"/>
            <a:ext cx="3367735" cy="4379976"/>
          </a:xfrm>
          <a:prstGeom prst="rect">
            <a:avLst/>
          </a:prstGeom>
          <a:noFill/>
        </p:spPr>
        <p:txBody>
          <a:bodyPr wrap="square">
            <a:spAutoFit/>
          </a:bodyPr>
          <a:lstStyle/>
          <a:p>
            <a:pPr>
              <a:defRPr sz="1350" b="1">
                <a:solidFill>
                  <a:srgbClr val="D97706"/>
                </a:solidFill>
                <a:latin typeface="Arial"/>
              </a:defRPr>
            </a:pPr>
            <a:r>
              <a:t>Tác Dụng &amp; Mục Đích Biểu Đồ:</a:t>
            </a:r>
          </a:p>
          <a:p>
            <a:pPr>
              <a:spcBef>
                <a:spcPts val="300"/>
              </a:spcBef>
              <a:defRPr sz="1250">
                <a:solidFill>
                  <a:srgbClr val="1E293B"/>
                </a:solidFill>
                <a:latin typeface="Arial"/>
              </a:defRPr>
            </a:pPr>
            <a:r>
              <a:t>Xếp hạng đóng góp tương đối (Relative Feature Importance) của các đặc trưng vào quyết định dự báo giá của mô hình Gradient Boosting.</a:t>
            </a:r>
          </a:p>
          <a:p>
            <a:pPr>
              <a:spcBef>
                <a:spcPts val="1000"/>
              </a:spcBef>
              <a:defRPr sz="1350" b="1">
                <a:solidFill>
                  <a:srgbClr val="D97706"/>
                </a:solidFill>
                <a:latin typeface="Arial"/>
              </a:defRPr>
            </a:pPr>
            <a:r>
              <a:t>🥇 Đặc Trưng Số 1: Diện Tích (42%):</a:t>
            </a:r>
          </a:p>
          <a:p>
            <a:pPr>
              <a:spcBef>
                <a:spcPts val="300"/>
              </a:spcBef>
              <a:defRPr sz="1250">
                <a:solidFill>
                  <a:srgbClr val="1E293B"/>
                </a:solidFill>
                <a:latin typeface="Arial"/>
              </a:defRPr>
            </a:pPr>
            <a:r>
              <a:t>Chiếm tỷ trọng áp đảo, khẳng định quy luật bất biến: quy mô diện tích luôn là nhân tố nền tảng quyết định giá trị bất động sản.</a:t>
            </a:r>
          </a:p>
          <a:p>
            <a:pPr>
              <a:spcBef>
                <a:spcPts val="1000"/>
              </a:spcBef>
              <a:defRPr sz="1350" b="1">
                <a:solidFill>
                  <a:srgbClr val="D97706"/>
                </a:solidFill>
                <a:latin typeface="Arial"/>
              </a:defRPr>
            </a:pPr>
            <a:r>
              <a:t>🥈 Đặc Trưng Số 2: Vị Trí Địa Lý (28%):</a:t>
            </a:r>
          </a:p>
          <a:p>
            <a:pPr>
              <a:spcBef>
                <a:spcPts val="300"/>
              </a:spcBef>
              <a:defRPr sz="1250">
                <a:solidFill>
                  <a:srgbClr val="1E293B"/>
                </a:solidFill>
                <a:latin typeface="Arial"/>
              </a:defRPr>
            </a:pPr>
            <a:r>
              <a:t>Các biến Quận/Huyện đóng góp 28% tổng trọng số, phản ánh tính chất 'nhất vị, nhị hướng' của thị trường thủ đô.</a:t>
            </a:r>
          </a:p>
          <a:p>
            <a:pPr>
              <a:spcBef>
                <a:spcPts val="1000"/>
              </a:spcBef>
              <a:defRPr sz="1350" b="1">
                <a:solidFill>
                  <a:srgbClr val="D97706"/>
                </a:solidFill>
                <a:latin typeface="Arial"/>
              </a:defRPr>
            </a:pPr>
            <a:r>
              <a:t>🥉 Mặt Tiền &amp; Số Tầng (15%):</a:t>
            </a:r>
          </a:p>
          <a:p>
            <a:pPr>
              <a:spcBef>
                <a:spcPts val="300"/>
              </a:spcBef>
              <a:defRPr sz="1250">
                <a:solidFill>
                  <a:srgbClr val="1E293B"/>
                </a:solidFill>
                <a:latin typeface="Arial"/>
              </a:defRPr>
            </a:pPr>
            <a:r>
              <a:t>Chiều rộng mặt tiền tạo ra giá trị thặng dư thương mại lớn, trong khi số tầng quyết định tổng không gian sử dụng thực tế.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Khung Suy Luận Thống Kê &amp; Quy Trình Kiểm Định Giả Thuyết (Tuần 9)</a:t>
            </a:r>
          </a:p>
        </p:txBody>
      </p:sp>
      <p:sp>
        <p:nvSpPr>
          <p:cNvPr id="5" name="Rectangle 4"/>
          <p:cNvSpPr/>
          <p:nvPr/>
        </p:nvSpPr>
        <p:spPr>
          <a:xfrm>
            <a:off x="731520" y="1234440"/>
            <a:ext cx="5184648" cy="516636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5184648" cy="603504"/>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4855464" cy="530352"/>
          </a:xfrm>
          <a:prstGeom prst="rect">
            <a:avLst/>
          </a:prstGeom>
          <a:noFill/>
        </p:spPr>
        <p:txBody>
          <a:bodyPr wrap="square">
            <a:spAutoFit/>
          </a:bodyPr>
          <a:lstStyle/>
          <a:p>
            <a:pPr>
              <a:defRPr sz="1250" b="1">
                <a:solidFill>
                  <a:srgbClr val="FFFFFF"/>
                </a:solidFill>
                <a:latin typeface="Arial"/>
              </a:defRPr>
            </a:pPr>
            <a:r>
              <a:t>CÂY QUYẾT ĐỊNH CHỌN PHÉP KIỂM ĐỊNH</a:t>
            </a:r>
          </a:p>
        </p:txBody>
      </p:sp>
      <p:sp>
        <p:nvSpPr>
          <p:cNvPr id="8" name="TextBox 7"/>
          <p:cNvSpPr txBox="1"/>
          <p:nvPr/>
        </p:nvSpPr>
        <p:spPr>
          <a:xfrm>
            <a:off x="914400" y="1929384"/>
            <a:ext cx="4818888" cy="4379976"/>
          </a:xfrm>
          <a:prstGeom prst="rect">
            <a:avLst/>
          </a:prstGeom>
          <a:noFill/>
        </p:spPr>
        <p:txBody>
          <a:bodyPr wrap="square">
            <a:spAutoFit/>
          </a:bodyPr>
          <a:lstStyle/>
          <a:p>
            <a:pPr>
              <a:defRPr sz="1300" b="1">
                <a:solidFill>
                  <a:srgbClr val="D97706"/>
                </a:solidFill>
                <a:latin typeface="Arial"/>
              </a:defRPr>
            </a:pPr>
            <a:r>
              <a:t>• Bản chất Thống kê Suy luận:</a:t>
            </a:r>
          </a:p>
          <a:p>
            <a:pPr>
              <a:spcBef>
                <a:spcPts val="200"/>
              </a:spcBef>
              <a:defRPr sz="1200">
                <a:solidFill>
                  <a:srgbClr val="FFFFFF"/>
                </a:solidFill>
                <a:latin typeface="Arial"/>
              </a:defRPr>
            </a:pPr>
            <a:r>
              <a:t>Thống kê mô tả chỉ tóm tắt 21.142 mẫu quan sát được; Thống kê suy luận kiểm định các quy luật trên toàn thể thị trường kèm mức độ không chắc chắn.</a:t>
            </a:r>
          </a:p>
          <a:p>
            <a:pPr>
              <a:spcBef>
                <a:spcPts val="1000"/>
              </a:spcBef>
              <a:defRPr sz="1300" b="1">
                <a:solidFill>
                  <a:srgbClr val="D97706"/>
                </a:solidFill>
                <a:latin typeface="Arial"/>
              </a:defRPr>
            </a:pPr>
            <a:r>
              <a:t>• 1. So sánh 2 nhóm độc lập (Mặt phố vs Ngõ):</a:t>
            </a:r>
          </a:p>
          <a:p>
            <a:pPr>
              <a:spcBef>
                <a:spcPts val="200"/>
              </a:spcBef>
              <a:defRPr sz="1200">
                <a:solidFill>
                  <a:srgbClr val="FFFFFF"/>
                </a:solidFill>
                <a:latin typeface="Arial"/>
              </a:defRPr>
            </a:pPr>
            <a:r>
              <a:t>Phương sai hai nhóm không đồng nhất (s₁² ≠ s₂²) ➔ Bắt buộc dùng Welch's t-test (equal_var=False) để triệt tiêu sai lầm Loại I.</a:t>
            </a:r>
          </a:p>
          <a:p>
            <a:pPr>
              <a:spcBef>
                <a:spcPts val="1000"/>
              </a:spcBef>
              <a:defRPr sz="1300" b="1">
                <a:solidFill>
                  <a:srgbClr val="D97706"/>
                </a:solidFill>
                <a:latin typeface="Arial"/>
              </a:defRPr>
            </a:pPr>
            <a:r>
              <a:t>• 2. So sánh 3+ nhóm định lượng (30 Quận/Huyện):</a:t>
            </a:r>
          </a:p>
          <a:p>
            <a:pPr>
              <a:spcBef>
                <a:spcPts val="200"/>
              </a:spcBef>
              <a:defRPr sz="1200">
                <a:solidFill>
                  <a:srgbClr val="FFFFFF"/>
                </a:solidFill>
                <a:latin typeface="Arial"/>
              </a:defRPr>
            </a:pPr>
            <a:r>
              <a:t>Phân tích phương sai One-way ANOVA ➔ Kết hợp kiểm định hậu nghiệm Tukey's HSD Post-hoc phát hiện các cặp quận tương đồng giá.</a:t>
            </a:r>
          </a:p>
          <a:p>
            <a:pPr>
              <a:spcBef>
                <a:spcPts val="1000"/>
              </a:spcBef>
              <a:defRPr sz="1300" b="1">
                <a:solidFill>
                  <a:srgbClr val="D97706"/>
                </a:solidFill>
                <a:latin typeface="Arial"/>
              </a:defRPr>
            </a:pPr>
            <a:r>
              <a:t>• 3. Dữ liệu phân phối lệch &amp; Ngoại lệ:</a:t>
            </a:r>
          </a:p>
          <a:p>
            <a:pPr>
              <a:spcBef>
                <a:spcPts val="200"/>
              </a:spcBef>
              <a:defRPr sz="1200">
                <a:solidFill>
                  <a:srgbClr val="FFFFFF"/>
                </a:solidFill>
                <a:latin typeface="Arial"/>
              </a:defRPr>
            </a:pPr>
            <a:r>
              <a:t>Dùng kỹ thuật tái lấy mẫu phi tham số Bootstrap 1.000 lần xác lập khoảng tin cậy 95% (CI) không phụ thuộc giả định chuẩn hóa.</a:t>
            </a:r>
          </a:p>
        </p:txBody>
      </p:sp>
      <p:sp>
        <p:nvSpPr>
          <p:cNvPr id="9" name="Rectangle 8"/>
          <p:cNvSpPr/>
          <p:nvPr/>
        </p:nvSpPr>
        <p:spPr>
          <a:xfrm>
            <a:off x="6275527" y="1234440"/>
            <a:ext cx="5184648"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5527"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0119" y="1271016"/>
            <a:ext cx="4855464" cy="530352"/>
          </a:xfrm>
          <a:prstGeom prst="rect">
            <a:avLst/>
          </a:prstGeom>
          <a:noFill/>
        </p:spPr>
        <p:txBody>
          <a:bodyPr wrap="square">
            <a:spAutoFit/>
          </a:bodyPr>
          <a:lstStyle/>
          <a:p>
            <a:pPr>
              <a:defRPr sz="1250" b="1">
                <a:solidFill>
                  <a:srgbClr val="FFFFFF"/>
                </a:solidFill>
                <a:latin typeface="Arial"/>
              </a:defRPr>
            </a:pPr>
            <a:r>
              <a:t>QUY TRÌNH 5 BƯỚC &amp; BẢN CHẤT P-VALUE</a:t>
            </a:r>
          </a:p>
        </p:txBody>
      </p:sp>
      <p:sp>
        <p:nvSpPr>
          <p:cNvPr id="12" name="TextBox 11"/>
          <p:cNvSpPr txBox="1"/>
          <p:nvPr/>
        </p:nvSpPr>
        <p:spPr>
          <a:xfrm>
            <a:off x="6458407" y="1929384"/>
            <a:ext cx="4818888" cy="4379976"/>
          </a:xfrm>
          <a:prstGeom prst="rect">
            <a:avLst/>
          </a:prstGeom>
          <a:noFill/>
        </p:spPr>
        <p:txBody>
          <a:bodyPr wrap="square">
            <a:spAutoFit/>
          </a:bodyPr>
          <a:lstStyle/>
          <a:p>
            <a:pPr>
              <a:defRPr sz="1300" b="1">
                <a:solidFill>
                  <a:srgbClr val="D97706"/>
                </a:solidFill>
                <a:latin typeface="Arial"/>
              </a:defRPr>
            </a:pPr>
            <a:r>
              <a:t>• Quy trình 5 bước kiểm định giả thuyết chuẩn:</a:t>
            </a:r>
          </a:p>
          <a:p>
            <a:pPr>
              <a:spcBef>
                <a:spcPts val="200"/>
              </a:spcBef>
              <a:defRPr sz="1200">
                <a:solidFill>
                  <a:srgbClr val="1E293B"/>
                </a:solidFill>
                <a:latin typeface="Arial"/>
              </a:defRPr>
            </a:pPr>
            <a:r>
              <a:t>1. Phát biểu H₀ (Không khác biệt) và H₁ (Có khác biệt thực sự).</a:t>
            </a:r>
            <a:br/>
            <a:r>
              <a:t>2. Thiết lập mức ý nghĩa α = 0.05 TRƯỚC KHI quan sát số liệu.</a:t>
            </a:r>
            <a:br/>
            <a:r>
              <a:t>3. Kiểm tra giả định (Normality, Homoscedasticity) &amp; chọn phép kiểm.</a:t>
            </a:r>
            <a:br/>
            <a:r>
              <a:t>4. Tính Test-statistic, p-value, Khoảng tin cậy CI và Effect Size.</a:t>
            </a:r>
            <a:br/>
            <a:r>
              <a:t>5. Đưa ra kết luận: Bác bỏ H₀ nếu p-value &lt; α.</a:t>
            </a:r>
          </a:p>
          <a:p>
            <a:pPr>
              <a:spcBef>
                <a:spcPts val="1200"/>
              </a:spcBef>
              <a:defRPr sz="1300" b="1">
                <a:solidFill>
                  <a:srgbClr val="D97706"/>
                </a:solidFill>
                <a:latin typeface="Arial"/>
              </a:defRPr>
            </a:pPr>
            <a:r>
              <a:t>• Bản chất p-value &amp; 4 ngộ nhận cần tránh:</a:t>
            </a:r>
          </a:p>
          <a:p>
            <a:pPr>
              <a:spcBef>
                <a:spcPts val="200"/>
              </a:spcBef>
              <a:defRPr sz="1200">
                <a:solidFill>
                  <a:srgbClr val="1E293B"/>
                </a:solidFill>
                <a:latin typeface="Arial"/>
              </a:defRPr>
            </a:pPr>
            <a:r>
              <a:t>p-value là xác suất quan sát dữ liệu cực đoan như vậy với giả định H₀ đúng; KHÔNG PHẢI là xác suất H₀ đúng. p &lt; 0.05 không đồng nghĩa hiệu ứng lớn.</a:t>
            </a:r>
          </a:p>
          <a:p>
            <a:pPr>
              <a:spcBef>
                <a:spcPts val="1200"/>
              </a:spcBef>
              <a:defRPr sz="1300" b="1">
                <a:solidFill>
                  <a:srgbClr val="D97706"/>
                </a:solidFill>
                <a:latin typeface="Arial"/>
              </a:defRPr>
            </a:pPr>
            <a:r>
              <a:t>• Kiểm soát 2 loại sai lầm thống kê:</a:t>
            </a:r>
          </a:p>
          <a:p>
            <a:pPr>
              <a:spcBef>
                <a:spcPts val="200"/>
              </a:spcBef>
              <a:defRPr sz="1200">
                <a:solidFill>
                  <a:srgbClr val="1E293B"/>
                </a:solidFill>
                <a:latin typeface="Arial"/>
              </a:defRPr>
            </a:pPr>
            <a:r>
              <a:t>• Sai lầm Loại I (α): Bác bỏ H₀ khi H₀ đúng (Báo động giả).</a:t>
            </a:r>
            <a:br/>
            <a:r>
              <a:t>• Sai lầm Loại II (β): Không bác bỏ H₀ khi H₀ sai; Power = 1 - β ≥ 0.8.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Thống Kê Suy Luận: Welch's T-Test (Mặt Tiền vs Trong Ngõ)</a:t>
            </a:r>
          </a:p>
        </p:txBody>
      </p:sp>
      <p:sp>
        <p:nvSpPr>
          <p:cNvPr id="5" name="Rectangle 4"/>
          <p:cNvSpPr/>
          <p:nvPr/>
        </p:nvSpPr>
        <p:spPr>
          <a:xfrm>
            <a:off x="731520" y="1234440"/>
            <a:ext cx="5184648" cy="38404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5184648" cy="43891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4855464" cy="365760"/>
          </a:xfrm>
          <a:prstGeom prst="rect">
            <a:avLst/>
          </a:prstGeom>
          <a:noFill/>
        </p:spPr>
        <p:txBody>
          <a:bodyPr wrap="square">
            <a:spAutoFit/>
          </a:bodyPr>
          <a:lstStyle/>
          <a:p>
            <a:pPr>
              <a:defRPr sz="1350" b="1">
                <a:solidFill>
                  <a:srgbClr val="FFFFFF"/>
                </a:solidFill>
                <a:latin typeface="Arial"/>
              </a:defRPr>
            </a:pPr>
            <a:r>
              <a:t>NHÓM 1: BẤT ĐỘNG SẢN MẶT PHỐ</a:t>
            </a:r>
          </a:p>
        </p:txBody>
      </p:sp>
      <p:sp>
        <p:nvSpPr>
          <p:cNvPr id="8" name="TextBox 7"/>
          <p:cNvSpPr txBox="1"/>
          <p:nvPr/>
        </p:nvSpPr>
        <p:spPr>
          <a:xfrm>
            <a:off x="914400" y="1764792"/>
            <a:ext cx="4818888" cy="3218688"/>
          </a:xfrm>
          <a:prstGeom prst="rect">
            <a:avLst/>
          </a:prstGeom>
          <a:noFill/>
        </p:spPr>
        <p:txBody>
          <a:bodyPr wrap="square">
            <a:spAutoFit/>
          </a:bodyPr>
          <a:lstStyle/>
          <a:p>
            <a:pPr>
              <a:defRPr sz="1350" b="1">
                <a:solidFill>
                  <a:srgbClr val="D97706"/>
                </a:solidFill>
                <a:latin typeface="Arial"/>
              </a:defRPr>
            </a:pPr>
            <a:r>
              <a:t>• Đơn giá trung bình thực nghiệm:</a:t>
            </a:r>
          </a:p>
          <a:p>
            <a:pPr>
              <a:spcBef>
                <a:spcPts val="200"/>
              </a:spcBef>
              <a:defRPr sz="1250">
                <a:solidFill>
                  <a:srgbClr val="1E293B"/>
                </a:solidFill>
                <a:latin typeface="Arial"/>
              </a:defRPr>
            </a:pPr>
            <a:r>
              <a:t>162.8 triệu/m² (Độ lệch chuẩn: 42.5 triệu/m²).</a:t>
            </a:r>
          </a:p>
          <a:p>
            <a:pPr>
              <a:spcBef>
                <a:spcPts val="1200"/>
              </a:spcBef>
              <a:defRPr sz="1350" b="1">
                <a:solidFill>
                  <a:srgbClr val="D97706"/>
                </a:solidFill>
                <a:latin typeface="Arial"/>
              </a:defRPr>
            </a:pPr>
            <a:r>
              <a:t>• Đặc tính kinh tế vượt trội:</a:t>
            </a:r>
          </a:p>
          <a:p>
            <a:pPr>
              <a:spcBef>
                <a:spcPts val="200"/>
              </a:spcBef>
              <a:defRPr sz="1250">
                <a:solidFill>
                  <a:srgbClr val="1E293B"/>
                </a:solidFill>
                <a:latin typeface="Arial"/>
              </a:defRPr>
            </a:pPr>
            <a:r>
              <a:t>Khả năng khai thác thương mại, mở showroom, cửa hàng kinh doanh tạo dòng tiền thụ động.</a:t>
            </a:r>
          </a:p>
          <a:p>
            <a:pPr>
              <a:spcBef>
                <a:spcPts val="1200"/>
              </a:spcBef>
              <a:defRPr sz="1350" b="1">
                <a:solidFill>
                  <a:srgbClr val="D97706"/>
                </a:solidFill>
                <a:latin typeface="Arial"/>
              </a:defRPr>
            </a:pPr>
            <a:r>
              <a:t>• Thanh khoản thị trường:</a:t>
            </a:r>
          </a:p>
          <a:p>
            <a:pPr>
              <a:spcBef>
                <a:spcPts val="200"/>
              </a:spcBef>
              <a:defRPr sz="1250">
                <a:solidFill>
                  <a:srgbClr val="1E293B"/>
                </a:solidFill>
                <a:latin typeface="Arial"/>
              </a:defRPr>
            </a:pPr>
            <a:r>
              <a:t>Nhu cầu mua giữ tài sản lớn, tốc độ tăng giá ổn định trước biến động lạm phát.</a:t>
            </a:r>
          </a:p>
          <a:p>
            <a:pPr>
              <a:spcBef>
                <a:spcPts val="1200"/>
              </a:spcBef>
              <a:defRPr sz="1350" b="1">
                <a:solidFill>
                  <a:srgbClr val="D97706"/>
                </a:solidFill>
                <a:latin typeface="Arial"/>
              </a:defRPr>
            </a:pPr>
            <a:r>
              <a:t>• Quy mô mẫu phân tích:</a:t>
            </a:r>
          </a:p>
          <a:p>
            <a:pPr>
              <a:spcBef>
                <a:spcPts val="200"/>
              </a:spcBef>
              <a:defRPr sz="1250">
                <a:solidFill>
                  <a:srgbClr val="1E293B"/>
                </a:solidFill>
                <a:latin typeface="Arial"/>
              </a:defRPr>
            </a:pPr>
            <a:r>
              <a:t>3.420 bản ghi BĐS mặt phố trên toàn địa bàn Hà Nội.</a:t>
            </a:r>
          </a:p>
        </p:txBody>
      </p:sp>
      <p:sp>
        <p:nvSpPr>
          <p:cNvPr id="9" name="Rectangle 8"/>
          <p:cNvSpPr/>
          <p:nvPr/>
        </p:nvSpPr>
        <p:spPr>
          <a:xfrm>
            <a:off x="6275527" y="1234440"/>
            <a:ext cx="5184648" cy="38404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5527"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0119" y="1271016"/>
            <a:ext cx="4855464" cy="530352"/>
          </a:xfrm>
          <a:prstGeom prst="rect">
            <a:avLst/>
          </a:prstGeom>
          <a:noFill/>
        </p:spPr>
        <p:txBody>
          <a:bodyPr wrap="square">
            <a:spAutoFit/>
          </a:bodyPr>
          <a:lstStyle/>
          <a:p>
            <a:pPr>
              <a:defRPr sz="1250" b="1">
                <a:solidFill>
                  <a:srgbClr val="FFFFFF"/>
                </a:solidFill>
                <a:latin typeface="Arial"/>
              </a:defRPr>
            </a:pPr>
            <a:r>
              <a:t>NHÓM 2: BẤT ĐỘNG SẢN TRONG NGÕ NGÁCH</a:t>
            </a:r>
          </a:p>
        </p:txBody>
      </p:sp>
      <p:sp>
        <p:nvSpPr>
          <p:cNvPr id="12" name="TextBox 11"/>
          <p:cNvSpPr txBox="1"/>
          <p:nvPr/>
        </p:nvSpPr>
        <p:spPr>
          <a:xfrm>
            <a:off x="6458407" y="1929384"/>
            <a:ext cx="4818888" cy="3054096"/>
          </a:xfrm>
          <a:prstGeom prst="rect">
            <a:avLst/>
          </a:prstGeom>
          <a:noFill/>
        </p:spPr>
        <p:txBody>
          <a:bodyPr wrap="square">
            <a:spAutoFit/>
          </a:bodyPr>
          <a:lstStyle/>
          <a:p>
            <a:pPr>
              <a:defRPr sz="1350" b="1">
                <a:solidFill>
                  <a:srgbClr val="D97706"/>
                </a:solidFill>
                <a:latin typeface="Arial"/>
              </a:defRPr>
            </a:pPr>
            <a:r>
              <a:t>• Đơn giá trung bình thực nghiệm:</a:t>
            </a:r>
          </a:p>
          <a:p>
            <a:pPr>
              <a:spcBef>
                <a:spcPts val="200"/>
              </a:spcBef>
              <a:defRPr sz="1250">
                <a:solidFill>
                  <a:srgbClr val="1E293B"/>
                </a:solidFill>
                <a:latin typeface="Arial"/>
              </a:defRPr>
            </a:pPr>
            <a:r>
              <a:t>114.2 triệu/m² (Độ lệch chuẩn: 31.8 triệu/m²).</a:t>
            </a:r>
          </a:p>
          <a:p>
            <a:pPr>
              <a:spcBef>
                <a:spcPts val="1200"/>
              </a:spcBef>
              <a:defRPr sz="1350" b="1">
                <a:solidFill>
                  <a:srgbClr val="D97706"/>
                </a:solidFill>
                <a:latin typeface="Arial"/>
              </a:defRPr>
            </a:pPr>
            <a:r>
              <a:t>• Đặc tính an cư:</a:t>
            </a:r>
          </a:p>
          <a:p>
            <a:pPr>
              <a:spcBef>
                <a:spcPts val="200"/>
              </a:spcBef>
              <a:defRPr sz="1250">
                <a:solidFill>
                  <a:srgbClr val="1E293B"/>
                </a:solidFill>
                <a:latin typeface="Arial"/>
              </a:defRPr>
            </a:pPr>
            <a:r>
              <a:t>Không gian yên tĩnh, phục vụ mục đích ở thuần túy, phụ thuộc vào độ rộng ngõ và khả năng đỗ ô tô.</a:t>
            </a:r>
          </a:p>
          <a:p>
            <a:pPr>
              <a:spcBef>
                <a:spcPts val="1200"/>
              </a:spcBef>
              <a:defRPr sz="1350" b="1">
                <a:solidFill>
                  <a:srgbClr val="D97706"/>
                </a:solidFill>
                <a:latin typeface="Arial"/>
              </a:defRPr>
            </a:pPr>
            <a:r>
              <a:t>• Chênh lệch giá trị tuyệt đối:</a:t>
            </a:r>
          </a:p>
          <a:p>
            <a:pPr>
              <a:spcBef>
                <a:spcPts val="200"/>
              </a:spcBef>
              <a:defRPr sz="1250">
                <a:solidFill>
                  <a:srgbClr val="1E293B"/>
                </a:solidFill>
                <a:latin typeface="Arial"/>
              </a:defRPr>
            </a:pPr>
            <a:r>
              <a:t>Thấp hơn nhà mặt phố trung bình 48.6 triệu/m² (chênh lệch ~30% giá trị).</a:t>
            </a:r>
          </a:p>
          <a:p>
            <a:pPr>
              <a:spcBef>
                <a:spcPts val="1200"/>
              </a:spcBef>
              <a:defRPr sz="1350" b="1">
                <a:solidFill>
                  <a:srgbClr val="D97706"/>
                </a:solidFill>
                <a:latin typeface="Arial"/>
              </a:defRPr>
            </a:pPr>
            <a:r>
              <a:t>• Quy mô mẫu phân tích:</a:t>
            </a:r>
          </a:p>
          <a:p>
            <a:pPr>
              <a:spcBef>
                <a:spcPts val="200"/>
              </a:spcBef>
              <a:defRPr sz="1250">
                <a:solidFill>
                  <a:srgbClr val="1E293B"/>
                </a:solidFill>
                <a:latin typeface="Arial"/>
              </a:defRPr>
            </a:pPr>
            <a:r>
              <a:t>17.722 bản ghi BĐS trong ngõ ngách sau làm sạch.</a:t>
            </a:r>
          </a:p>
        </p:txBody>
      </p:sp>
      <p:sp>
        <p:nvSpPr>
          <p:cNvPr id="13" name="Rectangle 12"/>
          <p:cNvSpPr/>
          <p:nvPr/>
        </p:nvSpPr>
        <p:spPr>
          <a:xfrm>
            <a:off x="731520" y="5257800"/>
            <a:ext cx="10728655" cy="1234440"/>
          </a:xfrm>
          <a:prstGeom prst="rect">
            <a:avLst/>
          </a:prstGeom>
          <a:solidFill>
            <a:srgbClr val="0F224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D97706"/>
                </a:solidFill>
                <a:latin typeface="Arial"/>
              </a:defRPr>
            </a:pPr>
            <a:r>
              <a:t>🔬 KẾT QUẢ KIỂM ĐỊNH WELCH'S T-TEST (PHƯƠNG SAI KHÔNG ĐỒNG NHẤT)</a:t>
            </a:r>
          </a:p>
          <a:p>
            <a:pPr>
              <a:spcBef>
                <a:spcPts val="600"/>
              </a:spcBef>
              <a:defRPr sz="1250">
                <a:solidFill>
                  <a:srgbClr val="FFFFFF"/>
                </a:solidFill>
                <a:latin typeface="Arial"/>
              </a:defRPr>
            </a:pPr>
            <a:r>
              <a:t>• T-statistic = 42.18 | P-value = 1.2e-85 (&lt; 0.001) -&gt; BÁC BỎ HOÀN TOÀN GIẢ THUYẾT H0 (HAI NHÓM CÓ GIÁ BẰNG NHAU).</a:t>
            </a:r>
            <a:br/>
            <a:r>
              <a:t>• Khẳng định với độ tin cậy &gt; 99.99%: Nhà mặt phố tại Hà Nội có giá trị cao hơn có ý nghĩa thống kê so với nhà trong ngõ.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ANOVA Phân Tích Phương Sai &amp; 9 Cặp Quận 'Song Sinh' Giá</a:t>
            </a:r>
          </a:p>
        </p:txBody>
      </p:sp>
      <p:sp>
        <p:nvSpPr>
          <p:cNvPr id="5" name="Rectangle 4"/>
          <p:cNvSpPr/>
          <p:nvPr/>
        </p:nvSpPr>
        <p:spPr>
          <a:xfrm>
            <a:off x="731520" y="1234440"/>
            <a:ext cx="10728655" cy="16916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1072865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10399471" cy="530352"/>
          </a:xfrm>
          <a:prstGeom prst="rect">
            <a:avLst/>
          </a:prstGeom>
          <a:noFill/>
        </p:spPr>
        <p:txBody>
          <a:bodyPr wrap="square">
            <a:spAutoFit/>
          </a:bodyPr>
          <a:lstStyle/>
          <a:p>
            <a:pPr>
              <a:defRPr sz="1250" b="1">
                <a:solidFill>
                  <a:srgbClr val="FFFFFF"/>
                </a:solidFill>
                <a:latin typeface="Arial"/>
              </a:defRPr>
            </a:pPr>
            <a:r>
              <a:t>KẾT QUẢ PHÂN TÍCH PHƯƠNG SAI ANOVA 30 QUẬN/HUYỆN</a:t>
            </a:r>
          </a:p>
        </p:txBody>
      </p:sp>
      <p:sp>
        <p:nvSpPr>
          <p:cNvPr id="8" name="TextBox 7"/>
          <p:cNvSpPr txBox="1"/>
          <p:nvPr/>
        </p:nvSpPr>
        <p:spPr>
          <a:xfrm>
            <a:off x="914400" y="1929384"/>
            <a:ext cx="10362895" cy="905256"/>
          </a:xfrm>
          <a:prstGeom prst="rect">
            <a:avLst/>
          </a:prstGeom>
          <a:noFill/>
        </p:spPr>
        <p:txBody>
          <a:bodyPr wrap="square">
            <a:spAutoFit/>
          </a:bodyPr>
          <a:lstStyle/>
          <a:p>
            <a:pPr>
              <a:defRPr sz="1300" b="1">
                <a:solidFill>
                  <a:srgbClr val="D97706"/>
                </a:solidFill>
                <a:latin typeface="Arial"/>
              </a:defRPr>
            </a:pPr>
            <a:r>
              <a:t>• F-statistic = 186.42 | P-value &lt; 0.001: </a:t>
            </a:r>
            <a:r>
              <a:rPr sz="1250">
                <a:solidFill>
                  <a:srgbClr val="1E293B"/>
                </a:solidFill>
                <a:latin typeface="Arial"/>
              </a:rPr>
              <a:t>Bác bỏ giả thuyết H0; vị trí địa lý tạo nên sự phân hóa đơn giá có ý nghĩa thống kê cực kỳ mạnh mẽ.</a:t>
            </a:r>
          </a:p>
          <a:p>
            <a:pPr>
              <a:spcBef>
                <a:spcPts val="800"/>
              </a:spcBef>
              <a:defRPr sz="1300" b="1">
                <a:solidFill>
                  <a:srgbClr val="D97706"/>
                </a:solidFill>
                <a:latin typeface="Arial"/>
              </a:defRPr>
            </a:pPr>
            <a:r>
              <a:t>• Ý nghĩa kiểm định hậu nghiệm (Tukey HSD Post-hoc): </a:t>
            </a:r>
            <a:r>
              <a:rPr sz="1250">
                <a:solidFill>
                  <a:srgbClr val="1E293B"/>
                </a:solidFill>
                <a:latin typeface="Arial"/>
              </a:rPr>
              <a:t>Xác định chính xác những cặp quận nào có giá thực sự khác biệt và những cặp quận nào có mức giá tương đương nhau.</a:t>
            </a:r>
          </a:p>
        </p:txBody>
      </p:sp>
      <p:sp>
        <p:nvSpPr>
          <p:cNvPr id="9" name="Rectangle 8"/>
          <p:cNvSpPr/>
          <p:nvPr/>
        </p:nvSpPr>
        <p:spPr>
          <a:xfrm>
            <a:off x="731520" y="3108960"/>
            <a:ext cx="5184648" cy="3337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145536"/>
            <a:ext cx="4855464" cy="530352"/>
          </a:xfrm>
          <a:prstGeom prst="rect">
            <a:avLst/>
          </a:prstGeom>
          <a:noFill/>
        </p:spPr>
        <p:txBody>
          <a:bodyPr wrap="square">
            <a:spAutoFit/>
          </a:bodyPr>
          <a:lstStyle/>
          <a:p>
            <a:pPr>
              <a:defRPr sz="1250" b="1">
                <a:solidFill>
                  <a:srgbClr val="FFFFFF"/>
                </a:solidFill>
                <a:latin typeface="Arial"/>
              </a:defRPr>
            </a:pPr>
            <a:r>
              <a:t>9 CẶP QUẬN 'SONG SINH' TƯƠNG ĐỒNG GIÁ</a:t>
            </a:r>
          </a:p>
        </p:txBody>
      </p:sp>
      <p:sp>
        <p:nvSpPr>
          <p:cNvPr id="12" name="TextBox 11"/>
          <p:cNvSpPr txBox="1"/>
          <p:nvPr/>
        </p:nvSpPr>
        <p:spPr>
          <a:xfrm>
            <a:off x="914400" y="3803904"/>
            <a:ext cx="4818888" cy="2551176"/>
          </a:xfrm>
          <a:prstGeom prst="rect">
            <a:avLst/>
          </a:prstGeom>
          <a:noFill/>
        </p:spPr>
        <p:txBody>
          <a:bodyPr wrap="square">
            <a:spAutoFit/>
          </a:bodyPr>
          <a:lstStyle/>
          <a:p>
            <a:pPr>
              <a:defRPr sz="1300" b="1">
                <a:solidFill>
                  <a:srgbClr val="D97706"/>
                </a:solidFill>
                <a:latin typeface="Arial"/>
              </a:defRPr>
            </a:pPr>
            <a:r>
              <a:t>• Cầu Giấy ≈ Đống Đa: </a:t>
            </a:r>
            <a:r>
              <a:rPr sz="1200">
                <a:solidFill>
                  <a:srgbClr val="1E293B"/>
                </a:solidFill>
                <a:latin typeface="Arial"/>
              </a:rPr>
              <a:t>Chênh lệch trung vị &lt; 2.5% (p = 0.82), hai trung tâm giáo dục &amp; văn phòng.</a:t>
            </a:r>
          </a:p>
          <a:p>
            <a:pPr>
              <a:spcBef>
                <a:spcPts val="1000"/>
              </a:spcBef>
              <a:defRPr sz="1300" b="1">
                <a:solidFill>
                  <a:srgbClr val="D97706"/>
                </a:solidFill>
                <a:latin typeface="Arial"/>
              </a:defRPr>
            </a:pPr>
            <a:r>
              <a:t>• Thanh Xuân ≈ Nam Từ Liêm: </a:t>
            </a:r>
            <a:r>
              <a:rPr sz="1200">
                <a:solidFill>
                  <a:srgbClr val="1E293B"/>
                </a:solidFill>
                <a:latin typeface="Arial"/>
              </a:rPr>
              <a:t>Chênh lệch &lt; 3.2% (p = 0.76), trục phát triển đô thị phía Tây sôi động.</a:t>
            </a:r>
          </a:p>
          <a:p>
            <a:pPr>
              <a:spcBef>
                <a:spcPts val="1000"/>
              </a:spcBef>
              <a:defRPr sz="1300" b="1">
                <a:solidFill>
                  <a:srgbClr val="D97706"/>
                </a:solidFill>
                <a:latin typeface="Arial"/>
              </a:defRPr>
            </a:pPr>
            <a:r>
              <a:t>• Hà Đông ≈ Hoàng Mai: </a:t>
            </a:r>
            <a:r>
              <a:rPr sz="1200">
                <a:solidFill>
                  <a:srgbClr val="1E293B"/>
                </a:solidFill>
                <a:latin typeface="Arial"/>
              </a:rPr>
              <a:t>Chênh lệch &lt; 2.1% (p = 0.88), phân khúc giá vừa túi tiền cho gia đình trẻ.</a:t>
            </a:r>
          </a:p>
          <a:p>
            <a:pPr>
              <a:spcBef>
                <a:spcPts val="1000"/>
              </a:spcBef>
              <a:defRPr sz="1300" b="1">
                <a:solidFill>
                  <a:srgbClr val="D97706"/>
                </a:solidFill>
                <a:latin typeface="Arial"/>
              </a:defRPr>
            </a:pPr>
            <a:r>
              <a:t>• Long Biên ≈ Tây Hồ (vùng ngoài): </a:t>
            </a:r>
            <a:r>
              <a:rPr sz="1200">
                <a:solidFill>
                  <a:srgbClr val="1E293B"/>
                </a:solidFill>
                <a:latin typeface="Arial"/>
              </a:rPr>
              <a:t>Tương đồng về biên độ tăng trưởng phân khúc nhà vườn/biệt thự.</a:t>
            </a:r>
          </a:p>
        </p:txBody>
      </p:sp>
      <p:sp>
        <p:nvSpPr>
          <p:cNvPr id="13" name="Rectangle 12"/>
          <p:cNvSpPr/>
          <p:nvPr/>
        </p:nvSpPr>
        <p:spPr>
          <a:xfrm>
            <a:off x="6275527" y="3108960"/>
            <a:ext cx="5184648" cy="33375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5527" y="310896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0119" y="3145536"/>
            <a:ext cx="4855464" cy="530352"/>
          </a:xfrm>
          <a:prstGeom prst="rect">
            <a:avLst/>
          </a:prstGeom>
          <a:noFill/>
        </p:spPr>
        <p:txBody>
          <a:bodyPr wrap="square">
            <a:spAutoFit/>
          </a:bodyPr>
          <a:lstStyle/>
          <a:p>
            <a:pPr>
              <a:defRPr sz="1250" b="1">
                <a:solidFill>
                  <a:srgbClr val="FFFFFF"/>
                </a:solidFill>
                <a:latin typeface="Arial"/>
              </a:defRPr>
            </a:pPr>
            <a:r>
              <a:t>Ý NGHĨA KINH DOANH &amp; TỐI ƯU DANH MỤC ĐẦU TƯ</a:t>
            </a:r>
          </a:p>
        </p:txBody>
      </p:sp>
      <p:sp>
        <p:nvSpPr>
          <p:cNvPr id="16" name="TextBox 15"/>
          <p:cNvSpPr txBox="1"/>
          <p:nvPr/>
        </p:nvSpPr>
        <p:spPr>
          <a:xfrm>
            <a:off x="6458407" y="3803904"/>
            <a:ext cx="4818888" cy="2551176"/>
          </a:xfrm>
          <a:prstGeom prst="rect">
            <a:avLst/>
          </a:prstGeom>
          <a:noFill/>
        </p:spPr>
        <p:txBody>
          <a:bodyPr wrap="square">
            <a:spAutoFit/>
          </a:bodyPr>
          <a:lstStyle/>
          <a:p>
            <a:pPr>
              <a:defRPr sz="1300" b="1">
                <a:solidFill>
                  <a:srgbClr val="D97706"/>
                </a:solidFill>
                <a:latin typeface="Arial"/>
              </a:defRPr>
            </a:pPr>
            <a:r>
              <a:t>• Chiến lược hàng hóa thay thế (Substitute Assets):</a:t>
            </a:r>
          </a:p>
          <a:p>
            <a:pPr>
              <a:spcBef>
                <a:spcPts val="200"/>
              </a:spcBef>
              <a:defRPr sz="1200">
                <a:solidFill>
                  <a:srgbClr val="1E293B"/>
                </a:solidFill>
                <a:latin typeface="Arial"/>
              </a:defRPr>
            </a:pPr>
            <a:r>
              <a:t>Khi giá tại Cầu Giấy bị đẩy lên quá cao, nhà đầu tư có thể chuyển dịch vốn sang Đống Đa hoặc Nam Từ Liêm với kỳ vọng tỷ suất sinh lời tương đương.</a:t>
            </a:r>
          </a:p>
          <a:p>
            <a:pPr>
              <a:spcBef>
                <a:spcPts val="1000"/>
              </a:spcBef>
              <a:defRPr sz="1300" b="1">
                <a:solidFill>
                  <a:srgbClr val="D97706"/>
                </a:solidFill>
                <a:latin typeface="Arial"/>
              </a:defRPr>
            </a:pPr>
            <a:r>
              <a:t>• Phòng ngừa rủi ro định giá sai (Arbitrage):</a:t>
            </a:r>
          </a:p>
          <a:p>
            <a:pPr>
              <a:spcBef>
                <a:spcPts val="200"/>
              </a:spcBef>
              <a:defRPr sz="1200">
                <a:solidFill>
                  <a:srgbClr val="1E293B"/>
                </a:solidFill>
                <a:latin typeface="Arial"/>
              </a:defRPr>
            </a:pPr>
            <a:r>
              <a:t>Phát hiện ngay những căn nhà bị định giá lệch khỏi mức cân bằng của cặp quận song sinh để thực hiện chiến lược mua gom.</a:t>
            </a:r>
          </a:p>
          <a:p>
            <a:pPr>
              <a:spcBef>
                <a:spcPts val="1000"/>
              </a:spcBef>
              <a:defRPr sz="1300" b="1">
                <a:solidFill>
                  <a:srgbClr val="D97706"/>
                </a:solidFill>
                <a:latin typeface="Arial"/>
              </a:defRPr>
            </a:pPr>
            <a:r>
              <a:t>• Khuyến nghị cho sàn môi giới:</a:t>
            </a:r>
          </a:p>
          <a:p>
            <a:pPr>
              <a:spcBef>
                <a:spcPts val="200"/>
              </a:spcBef>
              <a:defRPr sz="1200">
                <a:solidFill>
                  <a:srgbClr val="1E293B"/>
                </a:solidFill>
                <a:latin typeface="Arial"/>
              </a:defRPr>
            </a:pPr>
            <a:r>
              <a:t>Đa dạng hóa rổ sản phẩm liên quận, tư vấn linh hoạt cho khách hàng có ngân sách cố định.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7: Khoảng Tin Cậy 95% Bootstrap Đơn Giá Từng Quận</a:t>
            </a:r>
          </a:p>
        </p:txBody>
      </p:sp>
      <p:sp>
        <p:nvSpPr>
          <p:cNvPr id="5" name="Rectangle 4"/>
          <p:cNvSpPr/>
          <p:nvPr/>
        </p:nvSpPr>
        <p:spPr>
          <a:xfrm>
            <a:off x="731520" y="1234440"/>
            <a:ext cx="676656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7_confidence_intervals_districts.png"/>
          <p:cNvPicPr>
            <a:picLocks noChangeAspect="1"/>
          </p:cNvPicPr>
          <p:nvPr/>
        </p:nvPicPr>
        <p:blipFill>
          <a:blip r:embed="rId2"/>
          <a:stretch>
            <a:fillRect/>
          </a:stretch>
        </p:blipFill>
        <p:spPr>
          <a:xfrm>
            <a:off x="804672" y="1886712"/>
            <a:ext cx="6620256" cy="3861816"/>
          </a:xfrm>
          <a:prstGeom prst="rect">
            <a:avLst/>
          </a:prstGeom>
        </p:spPr>
      </p:pic>
      <p:sp>
        <p:nvSpPr>
          <p:cNvPr id="7" name="Rectangle 6"/>
          <p:cNvSpPr/>
          <p:nvPr/>
        </p:nvSpPr>
        <p:spPr>
          <a:xfrm>
            <a:off x="7726680" y="1234440"/>
            <a:ext cx="3733495"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26680" y="1234440"/>
            <a:ext cx="37334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91272" y="1271016"/>
            <a:ext cx="3404311" cy="530352"/>
          </a:xfrm>
          <a:prstGeom prst="rect">
            <a:avLst/>
          </a:prstGeom>
          <a:noFill/>
        </p:spPr>
        <p:txBody>
          <a:bodyPr wrap="square">
            <a:spAutoFit/>
          </a:bodyPr>
          <a:lstStyle/>
          <a:p>
            <a:pPr>
              <a:defRPr sz="1250" b="1">
                <a:solidFill>
                  <a:srgbClr val="FFFFFF"/>
                </a:solidFill>
                <a:latin typeface="Arial"/>
              </a:defRPr>
            </a:pPr>
            <a:r>
              <a:t>KHOẢNG TIN CẬY 95% (BĐ 07)</a:t>
            </a:r>
          </a:p>
        </p:txBody>
      </p:sp>
      <p:sp>
        <p:nvSpPr>
          <p:cNvPr id="10" name="TextBox 9"/>
          <p:cNvSpPr txBox="1"/>
          <p:nvPr/>
        </p:nvSpPr>
        <p:spPr>
          <a:xfrm>
            <a:off x="7909560" y="1929384"/>
            <a:ext cx="3367735" cy="4379976"/>
          </a:xfrm>
          <a:prstGeom prst="rect">
            <a:avLst/>
          </a:prstGeom>
          <a:noFill/>
        </p:spPr>
        <p:txBody>
          <a:bodyPr wrap="square">
            <a:spAutoFit/>
          </a:bodyPr>
          <a:lstStyle/>
          <a:p>
            <a:pPr>
              <a:defRPr sz="1350" b="1">
                <a:solidFill>
                  <a:srgbClr val="D97706"/>
                </a:solidFill>
                <a:latin typeface="Arial"/>
              </a:defRPr>
            </a:pPr>
            <a:r>
              <a:t>Tác Dụng &amp; Mục Đích Biểu Đồ:</a:t>
            </a:r>
          </a:p>
          <a:p>
            <a:pPr>
              <a:spcBef>
                <a:spcPts val="300"/>
              </a:spcBef>
              <a:defRPr sz="1250">
                <a:solidFill>
                  <a:srgbClr val="1E293B"/>
                </a:solidFill>
                <a:latin typeface="Arial"/>
              </a:defRPr>
            </a:pPr>
            <a:r>
              <a:t>Sử dụng kỹ thuật tái lấy mẫu không hoàn lại Bootstrap 1.000 lần để xác định dải dao động 95% tin cậy của đơn giá m² từng quận.</a:t>
            </a:r>
          </a:p>
          <a:p>
            <a:pPr>
              <a:spcBef>
                <a:spcPts val="1000"/>
              </a:spcBef>
              <a:defRPr sz="1350" b="1">
                <a:solidFill>
                  <a:srgbClr val="D97706"/>
                </a:solidFill>
                <a:latin typeface="Arial"/>
              </a:defRPr>
            </a:pPr>
            <a:r>
              <a:t>Miễn Nhiễm Với Giả Định Phân Phối:</a:t>
            </a:r>
          </a:p>
          <a:p>
            <a:pPr>
              <a:spcBef>
                <a:spcPts val="300"/>
              </a:spcBef>
              <a:defRPr sz="1250">
                <a:solidFill>
                  <a:srgbClr val="1E293B"/>
                </a:solidFill>
                <a:latin typeface="Arial"/>
              </a:defRPr>
            </a:pPr>
            <a:r>
              <a:t>Bootstrap không đòi hỏi dữ liệu phải tuân theo phân phối chuẩn, bảo toàn độ chính xác tuyệt đối ngay cả ở các quận có độ lệch cao.</a:t>
            </a:r>
          </a:p>
          <a:p>
            <a:pPr>
              <a:spcBef>
                <a:spcPts val="1000"/>
              </a:spcBef>
              <a:defRPr sz="1350" b="1">
                <a:solidFill>
                  <a:srgbClr val="D97706"/>
                </a:solidFill>
                <a:latin typeface="Arial"/>
              </a:defRPr>
            </a:pPr>
            <a:r>
              <a:t>Ứng Dụng Quản Trị Rủi Ro Tín Dụng:</a:t>
            </a:r>
          </a:p>
          <a:p>
            <a:pPr>
              <a:spcBef>
                <a:spcPts val="300"/>
              </a:spcBef>
              <a:defRPr sz="1250">
                <a:solidFill>
                  <a:srgbClr val="1E293B"/>
                </a:solidFill>
                <a:latin typeface="Arial"/>
              </a:defRPr>
            </a:pPr>
            <a:r>
              <a:t>Ngân hàng có thể sử dụng cận dưới (Lower Bound 95%) làm mức định giá trần an toàn khi duyệt hạn mức cho vay thế chấp.</a:t>
            </a:r>
          </a:p>
          <a:p>
            <a:pPr>
              <a:spcBef>
                <a:spcPts val="1000"/>
              </a:spcBef>
              <a:defRPr sz="1350" b="1">
                <a:solidFill>
                  <a:srgbClr val="D97706"/>
                </a:solidFill>
                <a:latin typeface="Arial"/>
              </a:defRPr>
            </a:pPr>
            <a:r>
              <a:t>Ý Nghĩa Với Người Mua Nhà:</a:t>
            </a:r>
          </a:p>
          <a:p>
            <a:pPr>
              <a:spcBef>
                <a:spcPts val="300"/>
              </a:spcBef>
              <a:defRPr sz="1250">
                <a:solidFill>
                  <a:srgbClr val="1E293B"/>
                </a:solidFill>
                <a:latin typeface="Arial"/>
              </a:defRPr>
            </a:pPr>
            <a:r>
              <a:t>Giúp khách hàng nhận diện nhanh giao dịch đang mua là đắt hay rẻ so với biên độ dao động thống kê chuẩn mực của khu vực.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Phân Tích Hồi Quy Tuyến Tính OLS &amp; 3 Nghĩa Vụ Đạo Đức AI</a:t>
            </a:r>
          </a:p>
        </p:txBody>
      </p:sp>
      <p:sp>
        <p:nvSpPr>
          <p:cNvPr id="5" name="Rectangle 4"/>
          <p:cNvSpPr/>
          <p:nvPr/>
        </p:nvSpPr>
        <p:spPr>
          <a:xfrm>
            <a:off x="731520" y="1234440"/>
            <a:ext cx="393192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3931920"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3602736" cy="530352"/>
          </a:xfrm>
          <a:prstGeom prst="rect">
            <a:avLst/>
          </a:prstGeom>
          <a:noFill/>
        </p:spPr>
        <p:txBody>
          <a:bodyPr wrap="square">
            <a:spAutoFit/>
          </a:bodyPr>
          <a:lstStyle/>
          <a:p>
            <a:pPr>
              <a:defRPr sz="1250" b="1">
                <a:solidFill>
                  <a:srgbClr val="FFFFFF"/>
                </a:solidFill>
                <a:latin typeface="Arial"/>
              </a:defRPr>
            </a:pPr>
            <a:r>
              <a:t>ĐỌC HIỂU HỆ SỐ HỒI QUY OLS</a:t>
            </a:r>
          </a:p>
        </p:txBody>
      </p:sp>
      <p:sp>
        <p:nvSpPr>
          <p:cNvPr id="8" name="TextBox 7"/>
          <p:cNvSpPr txBox="1"/>
          <p:nvPr/>
        </p:nvSpPr>
        <p:spPr>
          <a:xfrm>
            <a:off x="914400" y="1929384"/>
            <a:ext cx="3566160" cy="4379976"/>
          </a:xfrm>
          <a:prstGeom prst="rect">
            <a:avLst/>
          </a:prstGeom>
          <a:noFill/>
        </p:spPr>
        <p:txBody>
          <a:bodyPr wrap="square">
            <a:spAutoFit/>
          </a:bodyPr>
          <a:lstStyle/>
          <a:p>
            <a:pPr>
              <a:defRPr sz="1300" b="1">
                <a:solidFill>
                  <a:srgbClr val="D97706"/>
                </a:solidFill>
                <a:latin typeface="Arial"/>
              </a:defRPr>
            </a:pPr>
            <a:r>
              <a:t>• Độ giải thích R² = 0.382:</a:t>
            </a:r>
          </a:p>
          <a:p>
            <a:pPr>
              <a:spcBef>
                <a:spcPts val="200"/>
              </a:spcBef>
              <a:defRPr sz="1250">
                <a:solidFill>
                  <a:srgbClr val="1E293B"/>
                </a:solidFill>
                <a:latin typeface="Arial"/>
              </a:defRPr>
            </a:pPr>
            <a:r>
              <a:t>Mô hình OLS giải thích được 38.2% độ biến thiên giá trị; phần còn lại thuộc về yếu tố phi tuyến và vi vị trí.</a:t>
            </a:r>
          </a:p>
          <a:p>
            <a:pPr>
              <a:spcBef>
                <a:spcPts val="1200"/>
              </a:spcBef>
              <a:defRPr sz="1300" b="1">
                <a:solidFill>
                  <a:srgbClr val="D97706"/>
                </a:solidFill>
                <a:latin typeface="Arial"/>
              </a:defRPr>
            </a:pPr>
            <a:r>
              <a:t>• Hệ số Diện tích (Area):</a:t>
            </a:r>
          </a:p>
          <a:p>
            <a:pPr>
              <a:spcBef>
                <a:spcPts val="200"/>
              </a:spcBef>
              <a:defRPr sz="1250">
                <a:solidFill>
                  <a:srgbClr val="1E293B"/>
                </a:solidFill>
                <a:latin typeface="Arial"/>
              </a:defRPr>
            </a:pPr>
            <a:r>
              <a:t>Beta chuẩn hóa = +0.58 (p &lt; 0.001) - Biến số có sức ảnh hưởng mạnh nhất đến tổng giá.</a:t>
            </a:r>
          </a:p>
          <a:p>
            <a:pPr>
              <a:spcBef>
                <a:spcPts val="1200"/>
              </a:spcBef>
              <a:defRPr sz="1300" b="1">
                <a:solidFill>
                  <a:srgbClr val="D97706"/>
                </a:solidFill>
                <a:latin typeface="Arial"/>
              </a:defRPr>
            </a:pPr>
            <a:r>
              <a:t>• Hệ số Mặt tiền (Frontage):</a:t>
            </a:r>
          </a:p>
          <a:p>
            <a:pPr>
              <a:spcBef>
                <a:spcPts val="200"/>
              </a:spcBef>
              <a:defRPr sz="1250">
                <a:solidFill>
                  <a:srgbClr val="1E293B"/>
                </a:solidFill>
                <a:latin typeface="Arial"/>
              </a:defRPr>
            </a:pPr>
            <a:r>
              <a:t>Beta chuẩn hóa = +0.24 (p &lt; 0.001) - Tăng thêm giá trị thặng dư thương mại độc lập.</a:t>
            </a:r>
          </a:p>
          <a:p>
            <a:pPr>
              <a:spcBef>
                <a:spcPts val="1200"/>
              </a:spcBef>
              <a:defRPr sz="1300" b="1">
                <a:solidFill>
                  <a:srgbClr val="D97706"/>
                </a:solidFill>
                <a:latin typeface="Arial"/>
              </a:defRPr>
            </a:pPr>
            <a:r>
              <a:t>• Cảnh báo Đa cộng tuyến (VIF):</a:t>
            </a:r>
          </a:p>
          <a:p>
            <a:pPr>
              <a:spcBef>
                <a:spcPts val="200"/>
              </a:spcBef>
              <a:defRPr sz="1250">
                <a:solidFill>
                  <a:srgbClr val="1E293B"/>
                </a:solidFill>
                <a:latin typeface="Arial"/>
              </a:defRPr>
            </a:pPr>
            <a:r>
              <a:t>Biến số phòng ngủ có VIF &gt; 4.2 khi kết hợp với diện tích -&gt; Cần loại bỏ để tránh ước lượng sai số.</a:t>
            </a:r>
          </a:p>
        </p:txBody>
      </p:sp>
      <p:sp>
        <p:nvSpPr>
          <p:cNvPr id="9" name="Rectangle 8"/>
          <p:cNvSpPr/>
          <p:nvPr/>
        </p:nvSpPr>
        <p:spPr>
          <a:xfrm>
            <a:off x="4983480" y="1234440"/>
            <a:ext cx="6476695" cy="157276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83480" y="1234440"/>
            <a:ext cx="64766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48072" y="1271016"/>
            <a:ext cx="6147511" cy="530352"/>
          </a:xfrm>
          <a:prstGeom prst="rect">
            <a:avLst/>
          </a:prstGeom>
          <a:noFill/>
        </p:spPr>
        <p:txBody>
          <a:bodyPr wrap="square">
            <a:spAutoFit/>
          </a:bodyPr>
          <a:lstStyle/>
          <a:p>
            <a:pPr>
              <a:defRPr sz="1250" b="1">
                <a:solidFill>
                  <a:srgbClr val="FFFFFF"/>
                </a:solidFill>
                <a:latin typeface="Arial"/>
              </a:defRPr>
            </a:pPr>
            <a:r>
              <a:t>1. TÍNH MINH BẠCH &amp; KHẢ NĂNG GIẢI THÍCH (TRANSPARENCY)</a:t>
            </a:r>
          </a:p>
        </p:txBody>
      </p:sp>
      <p:sp>
        <p:nvSpPr>
          <p:cNvPr id="12" name="TextBox 11"/>
          <p:cNvSpPr txBox="1"/>
          <p:nvPr/>
        </p:nvSpPr>
        <p:spPr>
          <a:xfrm>
            <a:off x="5166360" y="1929384"/>
            <a:ext cx="6110935" cy="786384"/>
          </a:xfrm>
          <a:prstGeom prst="rect">
            <a:avLst/>
          </a:prstGeom>
          <a:noFill/>
        </p:spPr>
        <p:txBody>
          <a:bodyPr wrap="square">
            <a:spAutoFit/>
          </a:bodyPr>
          <a:lstStyle/>
          <a:p>
            <a:pPr>
              <a:spcBef>
                <a:spcPts val="400"/>
              </a:spcBef>
              <a:defRPr sz="1250">
                <a:solidFill>
                  <a:srgbClr val="1E293B"/>
                </a:solidFill>
                <a:latin typeface="Arial"/>
              </a:defRPr>
            </a:pPr>
            <a:r>
              <a:t>Không sử dụng mô hình 'hộp đen' khó hiểu. Mọi kết quả định giá từ mô hình đều phải giải trình rõ ràng đóng góp biên của các đặc trưng (SHAP/Feature Importance) cho các bên liên quan.</a:t>
            </a:r>
          </a:p>
        </p:txBody>
      </p:sp>
      <p:sp>
        <p:nvSpPr>
          <p:cNvPr id="13" name="Rectangle 12"/>
          <p:cNvSpPr/>
          <p:nvPr/>
        </p:nvSpPr>
        <p:spPr>
          <a:xfrm>
            <a:off x="4983480" y="3026664"/>
            <a:ext cx="6476695" cy="157276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83480" y="3026664"/>
            <a:ext cx="64766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8072" y="3063240"/>
            <a:ext cx="6147511" cy="530352"/>
          </a:xfrm>
          <a:prstGeom prst="rect">
            <a:avLst/>
          </a:prstGeom>
          <a:noFill/>
        </p:spPr>
        <p:txBody>
          <a:bodyPr wrap="square">
            <a:spAutoFit/>
          </a:bodyPr>
          <a:lstStyle/>
          <a:p>
            <a:pPr>
              <a:defRPr sz="1250" b="1">
                <a:solidFill>
                  <a:srgbClr val="FFFFFF"/>
                </a:solidFill>
                <a:latin typeface="Arial"/>
              </a:defRPr>
            </a:pPr>
            <a:r>
              <a:t>2. PHÒNG CHỐNG ĐỊNH KIẾN THUẬT TOÁN (FAIRNESS)</a:t>
            </a:r>
          </a:p>
        </p:txBody>
      </p:sp>
      <p:sp>
        <p:nvSpPr>
          <p:cNvPr id="16" name="TextBox 15"/>
          <p:cNvSpPr txBox="1"/>
          <p:nvPr/>
        </p:nvSpPr>
        <p:spPr>
          <a:xfrm>
            <a:off x="5166360" y="3721608"/>
            <a:ext cx="6110935" cy="786384"/>
          </a:xfrm>
          <a:prstGeom prst="rect">
            <a:avLst/>
          </a:prstGeom>
          <a:noFill/>
        </p:spPr>
        <p:txBody>
          <a:bodyPr wrap="square">
            <a:spAutoFit/>
          </a:bodyPr>
          <a:lstStyle/>
          <a:p>
            <a:pPr>
              <a:spcBef>
                <a:spcPts val="400"/>
              </a:spcBef>
              <a:defRPr sz="1250">
                <a:solidFill>
                  <a:srgbClr val="1E293B"/>
                </a:solidFill>
                <a:latin typeface="Arial"/>
              </a:defRPr>
            </a:pPr>
            <a:r>
              <a:t>Đảm bảo mô hình không áp đặt định kiến tiêu cực lên các quận ven đô (Đông Anh, Gia Lâm, Mê Linh). Luôn cập nhật tốc độ phát triển hạ tầng thực tế vào thuật toán.</a:t>
            </a:r>
          </a:p>
        </p:txBody>
      </p:sp>
      <p:sp>
        <p:nvSpPr>
          <p:cNvPr id="17" name="Rectangle 16"/>
          <p:cNvSpPr/>
          <p:nvPr/>
        </p:nvSpPr>
        <p:spPr>
          <a:xfrm>
            <a:off x="4983480" y="4818888"/>
            <a:ext cx="6476695" cy="157276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3480" y="4818888"/>
            <a:ext cx="64766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8072" y="4855464"/>
            <a:ext cx="6147511" cy="530352"/>
          </a:xfrm>
          <a:prstGeom prst="rect">
            <a:avLst/>
          </a:prstGeom>
          <a:noFill/>
        </p:spPr>
        <p:txBody>
          <a:bodyPr wrap="square">
            <a:spAutoFit/>
          </a:bodyPr>
          <a:lstStyle/>
          <a:p>
            <a:pPr>
              <a:defRPr sz="1250" b="1">
                <a:solidFill>
                  <a:srgbClr val="FFFFFF"/>
                </a:solidFill>
                <a:latin typeface="Arial"/>
              </a:defRPr>
            </a:pPr>
            <a:r>
              <a:t>3. BẢO MẬT DỮ LIỆU &amp; QUYỀN RIÊNG TƯ (DATA PRIVACY)</a:t>
            </a:r>
          </a:p>
        </p:txBody>
      </p:sp>
      <p:sp>
        <p:nvSpPr>
          <p:cNvPr id="20" name="TextBox 19"/>
          <p:cNvSpPr txBox="1"/>
          <p:nvPr/>
        </p:nvSpPr>
        <p:spPr>
          <a:xfrm>
            <a:off x="5166360" y="5513832"/>
            <a:ext cx="6110935" cy="786384"/>
          </a:xfrm>
          <a:prstGeom prst="rect">
            <a:avLst/>
          </a:prstGeom>
          <a:noFill/>
        </p:spPr>
        <p:txBody>
          <a:bodyPr wrap="square">
            <a:spAutoFit/>
          </a:bodyPr>
          <a:lstStyle/>
          <a:p>
            <a:pPr>
              <a:spcBef>
                <a:spcPts val="400"/>
              </a:spcBef>
              <a:defRPr sz="1250">
                <a:solidFill>
                  <a:srgbClr val="1E293B"/>
                </a:solidFill>
                <a:latin typeface="Arial"/>
              </a:defRPr>
            </a:pPr>
            <a:r>
              <a:t>Ẩn danh hóa hoàn toàn số nhà, tên chủ hộ, thông tin liên lạc cá nhân theo đúng Nghị định 13/2023/NĐ-CP về bảo vệ dữ liệu cá nhân.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8: Kiểm Định 4 GiẢ Định Hồi Quy Tuyến Tính (LINE Diagnostics)</a:t>
            </a:r>
          </a:p>
        </p:txBody>
      </p:sp>
      <p:sp>
        <p:nvSpPr>
          <p:cNvPr id="5" name="Rectangle 4"/>
          <p:cNvSpPr/>
          <p:nvPr/>
        </p:nvSpPr>
        <p:spPr>
          <a:xfrm>
            <a:off x="731520" y="1234440"/>
            <a:ext cx="676656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8_line_assumptions_diagnostics.png"/>
          <p:cNvPicPr>
            <a:picLocks noChangeAspect="1"/>
          </p:cNvPicPr>
          <p:nvPr/>
        </p:nvPicPr>
        <p:blipFill>
          <a:blip r:embed="rId2"/>
          <a:stretch>
            <a:fillRect/>
          </a:stretch>
        </p:blipFill>
        <p:spPr>
          <a:xfrm>
            <a:off x="1023478" y="1307592"/>
            <a:ext cx="6182642" cy="5020056"/>
          </a:xfrm>
          <a:prstGeom prst="rect">
            <a:avLst/>
          </a:prstGeom>
        </p:spPr>
      </p:pic>
      <p:sp>
        <p:nvSpPr>
          <p:cNvPr id="7" name="Rectangle 6"/>
          <p:cNvSpPr/>
          <p:nvPr/>
        </p:nvSpPr>
        <p:spPr>
          <a:xfrm>
            <a:off x="7726680" y="1234440"/>
            <a:ext cx="3733495"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26680" y="1234440"/>
            <a:ext cx="3733495"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91272" y="1271016"/>
            <a:ext cx="3404311" cy="530352"/>
          </a:xfrm>
          <a:prstGeom prst="rect">
            <a:avLst/>
          </a:prstGeom>
          <a:noFill/>
        </p:spPr>
        <p:txBody>
          <a:bodyPr wrap="square">
            <a:spAutoFit/>
          </a:bodyPr>
          <a:lstStyle/>
          <a:p>
            <a:pPr>
              <a:defRPr sz="1250" b="1">
                <a:solidFill>
                  <a:srgbClr val="FFFFFF"/>
                </a:solidFill>
                <a:latin typeface="Arial"/>
              </a:defRPr>
            </a:pPr>
            <a:r>
              <a:t>CHẨN ĐOÁN 4 GIẢ ĐỊNH (BĐ 08)</a:t>
            </a:r>
          </a:p>
        </p:txBody>
      </p:sp>
      <p:sp>
        <p:nvSpPr>
          <p:cNvPr id="10" name="TextBox 9"/>
          <p:cNvSpPr txBox="1"/>
          <p:nvPr/>
        </p:nvSpPr>
        <p:spPr>
          <a:xfrm>
            <a:off x="7909560" y="1929384"/>
            <a:ext cx="3367735" cy="4379976"/>
          </a:xfrm>
          <a:prstGeom prst="rect">
            <a:avLst/>
          </a:prstGeom>
          <a:noFill/>
        </p:spPr>
        <p:txBody>
          <a:bodyPr wrap="square">
            <a:spAutoFit/>
          </a:bodyPr>
          <a:lstStyle/>
          <a:p>
            <a:pPr>
              <a:defRPr sz="1350" b="1">
                <a:solidFill>
                  <a:srgbClr val="D97706"/>
                </a:solidFill>
                <a:latin typeface="Arial"/>
              </a:defRPr>
            </a:pPr>
            <a:r>
              <a:t>Tác Dụng &amp; Mục Đích Biểu Đồ:</a:t>
            </a:r>
          </a:p>
          <a:p>
            <a:pPr>
              <a:spcBef>
                <a:spcPts val="300"/>
              </a:spcBef>
              <a:defRPr sz="1250">
                <a:solidFill>
                  <a:srgbClr val="1E293B"/>
                </a:solidFill>
                <a:latin typeface="Arial"/>
              </a:defRPr>
            </a:pPr>
            <a:r>
              <a:t>Kiểm tra tính hợp lệ của mô hình OLS qua 4 giả định cốt lõi: Tuyến tính (Linearity), Độc lập (Independence), Chuẩn hóa (Normality), và Phương sai đồng nhất (Equal variance).</a:t>
            </a:r>
          </a:p>
          <a:p>
            <a:pPr>
              <a:spcBef>
                <a:spcPts val="1000"/>
              </a:spcBef>
              <a:defRPr sz="1350" b="1">
                <a:solidFill>
                  <a:srgbClr val="D97706"/>
                </a:solidFill>
                <a:latin typeface="Arial"/>
              </a:defRPr>
            </a:pPr>
            <a:r>
              <a:t>Vi Phạm Giả Định Phương Sai (Heteroscedasticity):</a:t>
            </a:r>
          </a:p>
          <a:p>
            <a:pPr>
              <a:spcBef>
                <a:spcPts val="300"/>
              </a:spcBef>
              <a:defRPr sz="1250">
                <a:solidFill>
                  <a:srgbClr val="1E293B"/>
                </a:solidFill>
                <a:latin typeface="Arial"/>
              </a:defRPr>
            </a:pPr>
            <a:r>
              <a:t>Đồ thị Residuals vs Fitted phình to hình phễu ở nhóm giá cao; phương sai sai số không đồng nhất làm lệch khoảng tin cậy của OLS.</a:t>
            </a:r>
          </a:p>
          <a:p>
            <a:pPr>
              <a:spcBef>
                <a:spcPts val="1000"/>
              </a:spcBef>
              <a:defRPr sz="1350" b="1">
                <a:solidFill>
                  <a:srgbClr val="D97706"/>
                </a:solidFill>
                <a:latin typeface="Arial"/>
              </a:defRPr>
            </a:pPr>
            <a:r>
              <a:t>Độ Lệch Chuẩn Ở Q-Q Plot:</a:t>
            </a:r>
          </a:p>
          <a:p>
            <a:pPr>
              <a:spcBef>
                <a:spcPts val="300"/>
              </a:spcBef>
              <a:defRPr sz="1250">
                <a:solidFill>
                  <a:srgbClr val="1E293B"/>
                </a:solidFill>
                <a:latin typeface="Arial"/>
              </a:defRPr>
            </a:pPr>
            <a:r>
              <a:t>Đường Q-Q uốn cong mạnh ở hai đầu đuôi (heavy tails), phản ánh sự hiện diện của các biệt thự hạng sang có mức giá cá biệt.</a:t>
            </a:r>
          </a:p>
          <a:p>
            <a:pPr>
              <a:spcBef>
                <a:spcPts val="1000"/>
              </a:spcBef>
              <a:defRPr sz="1350" b="1">
                <a:solidFill>
                  <a:srgbClr val="D97706"/>
                </a:solidFill>
                <a:latin typeface="Arial"/>
              </a:defRPr>
            </a:pPr>
            <a:r>
              <a:t>Định Hướng Khắc Phục Triệt Để:</a:t>
            </a:r>
          </a:p>
          <a:p>
            <a:pPr>
              <a:spcBef>
                <a:spcPts val="300"/>
              </a:spcBef>
              <a:defRPr sz="1250">
                <a:solidFill>
                  <a:srgbClr val="1E293B"/>
                </a:solidFill>
                <a:latin typeface="Arial"/>
              </a:defRPr>
            </a:pPr>
            <a:r>
              <a:t>Minh chứng rõ ràng lý do tại sao phải chuyển sang mô hình phi tuyến GBDT hoặc áp dụng biến đổi Logarit toàn diện.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So Sánh Hiệu Quả Trước &amp; Sau Khi Biến Đổi Logarit</a:t>
            </a:r>
          </a:p>
        </p:txBody>
      </p:sp>
      <p:sp>
        <p:nvSpPr>
          <p:cNvPr id="5" name="Rectangle 4"/>
          <p:cNvSpPr/>
          <p:nvPr/>
        </p:nvSpPr>
        <p:spPr>
          <a:xfrm>
            <a:off x="731520" y="1234440"/>
            <a:ext cx="5184648"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4855464" cy="530352"/>
          </a:xfrm>
          <a:prstGeom prst="rect">
            <a:avLst/>
          </a:prstGeom>
          <a:noFill/>
        </p:spPr>
        <p:txBody>
          <a:bodyPr wrap="square">
            <a:spAutoFit/>
          </a:bodyPr>
          <a:lstStyle/>
          <a:p>
            <a:pPr>
              <a:defRPr sz="1250" b="1">
                <a:solidFill>
                  <a:srgbClr val="FFFFFF"/>
                </a:solidFill>
                <a:latin typeface="Arial"/>
              </a:defRPr>
            </a:pPr>
            <a:r>
              <a:t>TRƯỚC BIẾN ĐỔI LOGARIT (THANG ĐO GỐC)</a:t>
            </a:r>
          </a:p>
        </p:txBody>
      </p:sp>
      <p:sp>
        <p:nvSpPr>
          <p:cNvPr id="8" name="TextBox 7"/>
          <p:cNvSpPr txBox="1"/>
          <p:nvPr/>
        </p:nvSpPr>
        <p:spPr>
          <a:xfrm>
            <a:off x="914400" y="1929384"/>
            <a:ext cx="4818888" cy="4379976"/>
          </a:xfrm>
          <a:prstGeom prst="rect">
            <a:avLst/>
          </a:prstGeom>
          <a:noFill/>
        </p:spPr>
        <p:txBody>
          <a:bodyPr wrap="square">
            <a:spAutoFit/>
          </a:bodyPr>
          <a:lstStyle/>
          <a:p>
            <a:pPr>
              <a:defRPr sz="1350" b="1">
                <a:solidFill>
                  <a:srgbClr val="D97706"/>
                </a:solidFill>
                <a:latin typeface="Arial"/>
              </a:defRPr>
            </a:pPr>
            <a:r>
              <a:t>• Phân phối lệch phải cực nặng:</a:t>
            </a:r>
          </a:p>
          <a:p>
            <a:pPr>
              <a:spcBef>
                <a:spcPts val="300"/>
              </a:spcBef>
              <a:defRPr sz="1250">
                <a:solidFill>
                  <a:srgbClr val="1E293B"/>
                </a:solidFill>
                <a:latin typeface="Arial"/>
              </a:defRPr>
            </a:pPr>
            <a:r>
              <a:t>Độ lệch Skewness = 3.84; hàm mục tiêu bị kéo lệch bởi nhóm BĐS cao cấp.</a:t>
            </a:r>
          </a:p>
          <a:p>
            <a:pPr>
              <a:spcBef>
                <a:spcPts val="1600"/>
              </a:spcBef>
              <a:defRPr sz="1350" b="1">
                <a:solidFill>
                  <a:srgbClr val="D97706"/>
                </a:solidFill>
                <a:latin typeface="Arial"/>
              </a:defRPr>
            </a:pPr>
            <a:r>
              <a:t>• Hiệu năng mô hình tuyến tính yếu:</a:t>
            </a:r>
          </a:p>
          <a:p>
            <a:pPr>
              <a:spcBef>
                <a:spcPts val="300"/>
              </a:spcBef>
              <a:defRPr sz="1250">
                <a:solidFill>
                  <a:srgbClr val="1E293B"/>
                </a:solidFill>
                <a:latin typeface="Arial"/>
              </a:defRPr>
            </a:pPr>
            <a:r>
              <a:t>R² dừng lại ở 0.382; sai số RMSE lên tới 38.1 triệu/m² do nhạy cảm với ngoại lệ.</a:t>
            </a:r>
          </a:p>
          <a:p>
            <a:pPr>
              <a:spcBef>
                <a:spcPts val="1600"/>
              </a:spcBef>
              <a:defRPr sz="1350" b="1">
                <a:solidFill>
                  <a:srgbClr val="D97706"/>
                </a:solidFill>
                <a:latin typeface="Arial"/>
              </a:defRPr>
            </a:pPr>
            <a:r>
              <a:t>• Dư sai vi phạm nặng giả định LINE:</a:t>
            </a:r>
          </a:p>
          <a:p>
            <a:pPr>
              <a:spcBef>
                <a:spcPts val="300"/>
              </a:spcBef>
              <a:defRPr sz="1250">
                <a:solidFill>
                  <a:srgbClr val="1E293B"/>
                </a:solidFill>
                <a:latin typeface="Arial"/>
              </a:defRPr>
            </a:pPr>
            <a:r>
              <a:t>Biểu đồ phần dư có hiện tượng phương sai thay đổi rõ nét, làm giảm độ tin cậy khi suy luận thống kê.</a:t>
            </a:r>
          </a:p>
          <a:p>
            <a:pPr>
              <a:spcBef>
                <a:spcPts val="1600"/>
              </a:spcBef>
              <a:defRPr sz="1350" b="1">
                <a:solidFill>
                  <a:srgbClr val="D97706"/>
                </a:solidFill>
                <a:latin typeface="Arial"/>
              </a:defRPr>
            </a:pPr>
            <a:r>
              <a:t>• Khó khăn khi tối ưu hóa Gradient:</a:t>
            </a:r>
          </a:p>
          <a:p>
            <a:pPr>
              <a:spcBef>
                <a:spcPts val="300"/>
              </a:spcBef>
              <a:defRPr sz="1250">
                <a:solidFill>
                  <a:srgbClr val="1E293B"/>
                </a:solidFill>
                <a:latin typeface="Arial"/>
              </a:defRPr>
            </a:pPr>
            <a:r>
              <a:t>Thuật toán học máy hội tụ chậm và dễ bị kẹt tại các cực tiểu cục bộ do dải giá trị biến thiên quá rộng.</a:t>
            </a:r>
          </a:p>
        </p:txBody>
      </p:sp>
      <p:sp>
        <p:nvSpPr>
          <p:cNvPr id="9" name="Rectangle 8"/>
          <p:cNvSpPr/>
          <p:nvPr/>
        </p:nvSpPr>
        <p:spPr>
          <a:xfrm>
            <a:off x="6275527" y="1234440"/>
            <a:ext cx="5184648" cy="5166360"/>
          </a:xfrm>
          <a:prstGeom prst="rect">
            <a:avLst/>
          </a:prstGeom>
          <a:solidFill>
            <a:srgbClr val="1A365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5527" y="1234440"/>
            <a:ext cx="5184648" cy="603504"/>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0119" y="1271016"/>
            <a:ext cx="4855464" cy="530352"/>
          </a:xfrm>
          <a:prstGeom prst="rect">
            <a:avLst/>
          </a:prstGeom>
          <a:noFill/>
        </p:spPr>
        <p:txBody>
          <a:bodyPr wrap="square">
            <a:spAutoFit/>
          </a:bodyPr>
          <a:lstStyle/>
          <a:p>
            <a:pPr>
              <a:defRPr sz="1250" b="1">
                <a:solidFill>
                  <a:srgbClr val="FFFFFF"/>
                </a:solidFill>
                <a:latin typeface="Arial"/>
              </a:defRPr>
            </a:pPr>
            <a:r>
              <a:t>SAU BIẾN ĐỔI LOGARIT (LOG-TRANSFORMED)</a:t>
            </a:r>
          </a:p>
        </p:txBody>
      </p:sp>
      <p:sp>
        <p:nvSpPr>
          <p:cNvPr id="12" name="TextBox 11"/>
          <p:cNvSpPr txBox="1"/>
          <p:nvPr/>
        </p:nvSpPr>
        <p:spPr>
          <a:xfrm>
            <a:off x="6458407" y="1929384"/>
            <a:ext cx="4818888" cy="4379976"/>
          </a:xfrm>
          <a:prstGeom prst="rect">
            <a:avLst/>
          </a:prstGeom>
          <a:noFill/>
        </p:spPr>
        <p:txBody>
          <a:bodyPr wrap="square">
            <a:spAutoFit/>
          </a:bodyPr>
          <a:lstStyle/>
          <a:p>
            <a:pPr>
              <a:defRPr sz="1350" b="1">
                <a:solidFill>
                  <a:srgbClr val="D97706"/>
                </a:solidFill>
                <a:latin typeface="Arial"/>
              </a:defRPr>
            </a:pPr>
            <a:r>
              <a:t>• Phân phối tiệm cận chuẩn Gauss lý tưởng:</a:t>
            </a:r>
          </a:p>
          <a:p>
            <a:pPr>
              <a:spcBef>
                <a:spcPts val="300"/>
              </a:spcBef>
              <a:defRPr sz="1250">
                <a:solidFill>
                  <a:srgbClr val="FFFFFF"/>
                </a:solidFill>
                <a:latin typeface="Arial"/>
              </a:defRPr>
            </a:pPr>
            <a:r>
              <a:t>Độ lệch Skewness giảm sâu xuống 0.18, đối xứng hoàn hảo quanh trung vị.</a:t>
            </a:r>
          </a:p>
          <a:p>
            <a:pPr>
              <a:spcBef>
                <a:spcPts val="1600"/>
              </a:spcBef>
              <a:defRPr sz="1350" b="1">
                <a:solidFill>
                  <a:srgbClr val="D97706"/>
                </a:solidFill>
                <a:latin typeface="Arial"/>
              </a:defRPr>
            </a:pPr>
            <a:r>
              <a:t>• Hiệu năng mô hình tăng vọt (+15.4%):</a:t>
            </a:r>
          </a:p>
          <a:p>
            <a:pPr>
              <a:spcBef>
                <a:spcPts val="300"/>
              </a:spcBef>
              <a:defRPr sz="1250">
                <a:solidFill>
                  <a:srgbClr val="FFFFFF"/>
                </a:solidFill>
                <a:latin typeface="Arial"/>
              </a:defRPr>
            </a:pPr>
            <a:r>
              <a:t>R² tăng từ 0.382 lên 0.441; sai số phần trăm trung bình MAPE giảm về mức 12.8%.</a:t>
            </a:r>
          </a:p>
          <a:p>
            <a:pPr>
              <a:spcBef>
                <a:spcPts val="1600"/>
              </a:spcBef>
              <a:defRPr sz="1350" b="1">
                <a:solidFill>
                  <a:srgbClr val="D97706"/>
                </a:solidFill>
                <a:latin typeface="Arial"/>
              </a:defRPr>
            </a:pPr>
            <a:r>
              <a:t>• Ổn định phương sai dư sai (Homoscedasticity):</a:t>
            </a:r>
          </a:p>
          <a:p>
            <a:pPr>
              <a:spcBef>
                <a:spcPts val="300"/>
              </a:spcBef>
              <a:defRPr sz="1250">
                <a:solidFill>
                  <a:srgbClr val="FFFFFF"/>
                </a:solidFill>
                <a:latin typeface="Arial"/>
              </a:defRPr>
            </a:pPr>
            <a:r>
              <a:t>Sai số phân bổ đồng đều trên toàn bộ các phân khúc từ nhà giá rẻ đến biệt thự cao cấp.</a:t>
            </a:r>
          </a:p>
          <a:p>
            <a:pPr>
              <a:spcBef>
                <a:spcPts val="1600"/>
              </a:spcBef>
              <a:defRPr sz="1350" b="1">
                <a:solidFill>
                  <a:srgbClr val="D97706"/>
                </a:solidFill>
                <a:latin typeface="Arial"/>
              </a:defRPr>
            </a:pPr>
            <a:r>
              <a:t>• Độ trễ tối ưu hóa giảm mạnh:</a:t>
            </a:r>
          </a:p>
          <a:p>
            <a:pPr>
              <a:spcBef>
                <a:spcPts val="300"/>
              </a:spcBef>
              <a:defRPr sz="1250">
                <a:solidFill>
                  <a:srgbClr val="FFFFFF"/>
                </a:solidFill>
                <a:latin typeface="Arial"/>
              </a:defRPr>
            </a:pPr>
            <a:r>
              <a:t>Các thuật toán Gradient Descent hội tụ nhanh gấp 2 lần, gradient ổn định không bị hiện tượng bùng nổ.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Biểu Đồ 9: Kiểm Soát Quá Khớp Với Regularization (Lasso L1 vs Ridge L2)</a:t>
            </a:r>
          </a:p>
        </p:txBody>
      </p:sp>
      <p:sp>
        <p:nvSpPr>
          <p:cNvPr id="5" name="Rectangle 4"/>
          <p:cNvSpPr/>
          <p:nvPr/>
        </p:nvSpPr>
        <p:spPr>
          <a:xfrm>
            <a:off x="731520" y="1234440"/>
            <a:ext cx="676656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_regularization_lasso_vs_ridge.png"/>
          <p:cNvPicPr>
            <a:picLocks noChangeAspect="1"/>
          </p:cNvPicPr>
          <p:nvPr/>
        </p:nvPicPr>
        <p:blipFill>
          <a:blip r:embed="rId2"/>
          <a:stretch>
            <a:fillRect/>
          </a:stretch>
        </p:blipFill>
        <p:spPr>
          <a:xfrm>
            <a:off x="804672" y="2162556"/>
            <a:ext cx="6620256" cy="3310128"/>
          </a:xfrm>
          <a:prstGeom prst="rect">
            <a:avLst/>
          </a:prstGeom>
        </p:spPr>
      </p:pic>
      <p:sp>
        <p:nvSpPr>
          <p:cNvPr id="7" name="Rectangle 6"/>
          <p:cNvSpPr/>
          <p:nvPr/>
        </p:nvSpPr>
        <p:spPr>
          <a:xfrm>
            <a:off x="7726680" y="1234440"/>
            <a:ext cx="3733495"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26680" y="1234440"/>
            <a:ext cx="3733495" cy="43891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91272" y="1271016"/>
            <a:ext cx="3404311" cy="365760"/>
          </a:xfrm>
          <a:prstGeom prst="rect">
            <a:avLst/>
          </a:prstGeom>
          <a:noFill/>
        </p:spPr>
        <p:txBody>
          <a:bodyPr wrap="square">
            <a:spAutoFit/>
          </a:bodyPr>
          <a:lstStyle/>
          <a:p>
            <a:pPr>
              <a:defRPr sz="1350" b="1">
                <a:solidFill>
                  <a:srgbClr val="FFFFFF"/>
                </a:solidFill>
                <a:latin typeface="Arial"/>
              </a:defRPr>
            </a:pPr>
            <a:r>
              <a:t>REGULARIZATION (BĐ 09)</a:t>
            </a:r>
          </a:p>
        </p:txBody>
      </p:sp>
      <p:sp>
        <p:nvSpPr>
          <p:cNvPr id="10" name="TextBox 9"/>
          <p:cNvSpPr txBox="1"/>
          <p:nvPr/>
        </p:nvSpPr>
        <p:spPr>
          <a:xfrm>
            <a:off x="7909560" y="1764792"/>
            <a:ext cx="3367735" cy="4544568"/>
          </a:xfrm>
          <a:prstGeom prst="rect">
            <a:avLst/>
          </a:prstGeom>
          <a:noFill/>
        </p:spPr>
        <p:txBody>
          <a:bodyPr wrap="square">
            <a:spAutoFit/>
          </a:bodyPr>
          <a:lstStyle/>
          <a:p>
            <a:pPr>
              <a:defRPr sz="1350" b="1">
                <a:solidFill>
                  <a:srgbClr val="D97706"/>
                </a:solidFill>
                <a:latin typeface="Arial"/>
              </a:defRPr>
            </a:pPr>
            <a:r>
              <a:t>Tác Dụng &amp; Mục Đích Biểu Đồ:</a:t>
            </a:r>
          </a:p>
          <a:p>
            <a:pPr>
              <a:spcBef>
                <a:spcPts val="300"/>
              </a:spcBef>
              <a:defRPr sz="1250">
                <a:solidFill>
                  <a:srgbClr val="1E293B"/>
                </a:solidFill>
                <a:latin typeface="Arial"/>
              </a:defRPr>
            </a:pPr>
            <a:r>
              <a:t>Quan sát đường cong thu hẹp hệ số (Shrinkage Path) khi tham số phạt alpha tăng dần từ 0.001 đến 100 trên hai kỹ thuật chuẩn hóa.</a:t>
            </a:r>
          </a:p>
          <a:p>
            <a:pPr>
              <a:spcBef>
                <a:spcPts val="1000"/>
              </a:spcBef>
              <a:defRPr sz="1350" b="1">
                <a:solidFill>
                  <a:srgbClr val="D97706"/>
                </a:solidFill>
                <a:latin typeface="Arial"/>
              </a:defRPr>
            </a:pPr>
            <a:r>
              <a:t>🎯 Lasso (L1 Penalty) - Tự Động Lựa Chọn Biến:</a:t>
            </a:r>
          </a:p>
          <a:p>
            <a:pPr>
              <a:spcBef>
                <a:spcPts val="300"/>
              </a:spcBef>
              <a:defRPr sz="1250">
                <a:solidFill>
                  <a:srgbClr val="1E293B"/>
                </a:solidFill>
                <a:latin typeface="Arial"/>
              </a:defRPr>
            </a:pPr>
            <a:r>
              <a:t>Triệt tiêu hoàn toàn các hệ số biến nhiễu về chính xác 0, giữ lại tập đặc trưng tinh gọn nhất cho mô hình.</a:t>
            </a:r>
          </a:p>
          <a:p>
            <a:pPr>
              <a:spcBef>
                <a:spcPts val="1000"/>
              </a:spcBef>
              <a:defRPr sz="1350" b="1">
                <a:solidFill>
                  <a:srgbClr val="D97706"/>
                </a:solidFill>
                <a:latin typeface="Arial"/>
              </a:defRPr>
            </a:pPr>
            <a:r>
              <a:t>🛡️ Ridge (L2 Penalty) - Khống Chế Đa Cộng Tuyến:</a:t>
            </a:r>
          </a:p>
          <a:p>
            <a:pPr>
              <a:spcBef>
                <a:spcPts val="300"/>
              </a:spcBef>
              <a:defRPr sz="1250">
                <a:solidFill>
                  <a:srgbClr val="1E293B"/>
                </a:solidFill>
                <a:latin typeface="Arial"/>
              </a:defRPr>
            </a:pPr>
            <a:r>
              <a:t>Thu nhỏ đồng đều tất cả hệ số mà không triệt tiêu về 0, giúp mô hình ổn định khi 30 quận/huyện có tương quan nội bộ cao.</a:t>
            </a:r>
          </a:p>
          <a:p>
            <a:pPr>
              <a:spcBef>
                <a:spcPts val="1000"/>
              </a:spcBef>
              <a:defRPr sz="1350" b="1">
                <a:solidFill>
                  <a:srgbClr val="D97706"/>
                </a:solidFill>
                <a:latin typeface="Arial"/>
              </a:defRPr>
            </a:pPr>
            <a:r>
              <a:t>Quyết Định Lựa Chọn Tối Ưu:</a:t>
            </a:r>
          </a:p>
          <a:p>
            <a:pPr>
              <a:spcBef>
                <a:spcPts val="300"/>
              </a:spcBef>
              <a:defRPr sz="1250">
                <a:solidFill>
                  <a:srgbClr val="1E293B"/>
                </a:solidFill>
                <a:latin typeface="Arial"/>
              </a:defRPr>
            </a:pPr>
            <a:r>
              <a:t>Áp dụng kết hợp ElasticNet hoặc sử dụng Ridge trong các bài toán yêu cầu bảo toàn toàn bộ danh sách 30 Quận/Huyện.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7 Kết Luận Thực Tiễn Cho Doanh Nghiệp &amp; Nhà Đầu Tư</a:t>
            </a:r>
          </a:p>
        </p:txBody>
      </p:sp>
      <p:sp>
        <p:nvSpPr>
          <p:cNvPr id="5" name="Rectangle 4"/>
          <p:cNvSpPr/>
          <p:nvPr/>
        </p:nvSpPr>
        <p:spPr>
          <a:xfrm>
            <a:off x="731520" y="12344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4855464" cy="530352"/>
          </a:xfrm>
          <a:prstGeom prst="rect">
            <a:avLst/>
          </a:prstGeom>
          <a:noFill/>
        </p:spPr>
        <p:txBody>
          <a:bodyPr wrap="square">
            <a:spAutoFit/>
          </a:bodyPr>
          <a:lstStyle/>
          <a:p>
            <a:pPr>
              <a:defRPr sz="1250" b="1">
                <a:solidFill>
                  <a:srgbClr val="FFFFFF"/>
                </a:solidFill>
                <a:latin typeface="Arial"/>
              </a:defRPr>
            </a:pPr>
            <a:r>
              <a:t>TRỤ CỘT 1: ĐỊNH GIÁ &amp; GIAO DỊCH BĐS</a:t>
            </a:r>
          </a:p>
        </p:txBody>
      </p:sp>
      <p:sp>
        <p:nvSpPr>
          <p:cNvPr id="8" name="TextBox 7"/>
          <p:cNvSpPr txBox="1"/>
          <p:nvPr/>
        </p:nvSpPr>
        <p:spPr>
          <a:xfrm>
            <a:off x="914400" y="1929384"/>
            <a:ext cx="4818888" cy="1636776"/>
          </a:xfrm>
          <a:prstGeom prst="rect">
            <a:avLst/>
          </a:prstGeom>
          <a:noFill/>
        </p:spPr>
        <p:txBody>
          <a:bodyPr wrap="square">
            <a:spAutoFit/>
          </a:bodyPr>
          <a:lstStyle/>
          <a:p>
            <a:pPr>
              <a:defRPr sz="1250" b="1">
                <a:solidFill>
                  <a:srgbClr val="D97706"/>
                </a:solidFill>
                <a:latin typeface="Arial"/>
              </a:defRPr>
            </a:pPr>
            <a:r>
              <a:t>• Tự động hóa định giá khách quan: </a:t>
            </a:r>
            <a:r>
              <a:rPr sz="1200">
                <a:solidFill>
                  <a:srgbClr val="1E293B"/>
                </a:solidFill>
                <a:latin typeface="Arial"/>
              </a:rPr>
              <a:t>Áp dụng thuật toán GBDT đạt sai số MAE ~26 tr/m², giảm 8.4% sai số so với Linear.</a:t>
            </a:r>
          </a:p>
          <a:p>
            <a:pPr>
              <a:spcBef>
                <a:spcPts val="800"/>
              </a:spcBef>
              <a:defRPr sz="1250" b="1">
                <a:solidFill>
                  <a:srgbClr val="D97706"/>
                </a:solidFill>
                <a:latin typeface="Arial"/>
              </a:defRPr>
            </a:pPr>
            <a:r>
              <a:t>• Độ chính xác vượt trội: </a:t>
            </a:r>
            <a:r>
              <a:rPr sz="1200">
                <a:solidFill>
                  <a:srgbClr val="1E293B"/>
                </a:solidFill>
                <a:latin typeface="Arial"/>
              </a:rPr>
              <a:t>Sai số thực tế chỉ ~26 tr/m², tin cậy cao trên tập kiểm thử.</a:t>
            </a:r>
          </a:p>
          <a:p>
            <a:pPr>
              <a:spcBef>
                <a:spcPts val="800"/>
              </a:spcBef>
              <a:defRPr sz="1250" b="1">
                <a:solidFill>
                  <a:srgbClr val="D97706"/>
                </a:solidFill>
                <a:latin typeface="Arial"/>
              </a:defRPr>
            </a:pPr>
            <a:r>
              <a:t>• Bảo vệ quyền lợi người mua: </a:t>
            </a:r>
            <a:r>
              <a:rPr sz="1200">
                <a:solidFill>
                  <a:srgbClr val="1E293B"/>
                </a:solidFill>
                <a:latin typeface="Arial"/>
              </a:rPr>
              <a:t>Phát hiện ngay tin rao khống giá hoặc lệch mặt bằng khu vực.</a:t>
            </a:r>
          </a:p>
        </p:txBody>
      </p:sp>
      <p:sp>
        <p:nvSpPr>
          <p:cNvPr id="9" name="Rectangle 8"/>
          <p:cNvSpPr/>
          <p:nvPr/>
        </p:nvSpPr>
        <p:spPr>
          <a:xfrm>
            <a:off x="6275527" y="12344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5527" y="12344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0119" y="1271016"/>
            <a:ext cx="4855464" cy="530352"/>
          </a:xfrm>
          <a:prstGeom prst="rect">
            <a:avLst/>
          </a:prstGeom>
          <a:noFill/>
        </p:spPr>
        <p:txBody>
          <a:bodyPr wrap="square">
            <a:spAutoFit/>
          </a:bodyPr>
          <a:lstStyle/>
          <a:p>
            <a:pPr>
              <a:defRPr sz="1250" b="1">
                <a:solidFill>
                  <a:srgbClr val="FFFFFF"/>
                </a:solidFill>
                <a:latin typeface="Arial"/>
              </a:defRPr>
            </a:pPr>
            <a:r>
              <a:t>TRỤ CỘT 2: ĐẦU TƯ &amp; TỐI ƯU DANH MỤC</a:t>
            </a:r>
          </a:p>
        </p:txBody>
      </p:sp>
      <p:sp>
        <p:nvSpPr>
          <p:cNvPr id="12" name="TextBox 11"/>
          <p:cNvSpPr txBox="1"/>
          <p:nvPr/>
        </p:nvSpPr>
        <p:spPr>
          <a:xfrm>
            <a:off x="6458407" y="1929384"/>
            <a:ext cx="4818888" cy="1636776"/>
          </a:xfrm>
          <a:prstGeom prst="rect">
            <a:avLst/>
          </a:prstGeom>
          <a:noFill/>
        </p:spPr>
        <p:txBody>
          <a:bodyPr wrap="square">
            <a:spAutoFit/>
          </a:bodyPr>
          <a:lstStyle/>
          <a:p>
            <a:pPr>
              <a:defRPr sz="1250" b="1">
                <a:solidFill>
                  <a:srgbClr val="D97706"/>
                </a:solidFill>
                <a:latin typeface="Arial"/>
              </a:defRPr>
            </a:pPr>
            <a:r>
              <a:t>• Khai thác 9 cặp quận 'song sinh': </a:t>
            </a:r>
            <a:r>
              <a:rPr sz="1200">
                <a:solidFill>
                  <a:srgbClr val="1E293B"/>
                </a:solidFill>
                <a:latin typeface="Arial"/>
              </a:rPr>
              <a:t>Chuyển dịch dòng vốn sang quận lân cận có giá tương đồng.</a:t>
            </a:r>
          </a:p>
          <a:p>
            <a:pPr>
              <a:spcBef>
                <a:spcPts val="800"/>
              </a:spcBef>
              <a:defRPr sz="1250" b="1">
                <a:solidFill>
                  <a:srgbClr val="D97706"/>
                </a:solidFill>
                <a:latin typeface="Arial"/>
              </a:defRPr>
            </a:pPr>
            <a:r>
              <a:t>• Bắt đáy cơ hội tăng trưởng: </a:t>
            </a:r>
            <a:r>
              <a:rPr sz="1200">
                <a:solidFill>
                  <a:srgbClr val="1E293B"/>
                </a:solidFill>
                <a:latin typeface="Arial"/>
              </a:rPr>
              <a:t>Tận dụng các khu vực ven đô có quy hoạch vành đai và metro.</a:t>
            </a:r>
          </a:p>
          <a:p>
            <a:pPr>
              <a:spcBef>
                <a:spcPts val="800"/>
              </a:spcBef>
              <a:defRPr sz="1250" b="1">
                <a:solidFill>
                  <a:srgbClr val="D97706"/>
                </a:solidFill>
                <a:latin typeface="Arial"/>
              </a:defRPr>
            </a:pPr>
            <a:r>
              <a:t>• Tối ưu hóa lợi suất cho thuê: </a:t>
            </a:r>
            <a:r>
              <a:rPr sz="1200">
                <a:solidFill>
                  <a:srgbClr val="1E293B"/>
                </a:solidFill>
                <a:latin typeface="Arial"/>
              </a:rPr>
              <a:t>Lựa chọn nhà mặt phố có thặng dư thương mại cao.</a:t>
            </a:r>
          </a:p>
        </p:txBody>
      </p:sp>
      <p:sp>
        <p:nvSpPr>
          <p:cNvPr id="13" name="Rectangle 12"/>
          <p:cNvSpPr/>
          <p:nvPr/>
        </p:nvSpPr>
        <p:spPr>
          <a:xfrm>
            <a:off x="731520" y="39776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776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14216"/>
            <a:ext cx="4855464" cy="530352"/>
          </a:xfrm>
          <a:prstGeom prst="rect">
            <a:avLst/>
          </a:prstGeom>
          <a:noFill/>
        </p:spPr>
        <p:txBody>
          <a:bodyPr wrap="square">
            <a:spAutoFit/>
          </a:bodyPr>
          <a:lstStyle/>
          <a:p>
            <a:pPr>
              <a:defRPr sz="1250" b="1">
                <a:solidFill>
                  <a:srgbClr val="FFFFFF"/>
                </a:solidFill>
                <a:latin typeface="Arial"/>
              </a:defRPr>
            </a:pPr>
            <a:r>
              <a:t>TRỤ CỘT 3: QUẢN TRỊ TÍN DỤNG NGÂN HÀNG</a:t>
            </a:r>
          </a:p>
        </p:txBody>
      </p:sp>
      <p:sp>
        <p:nvSpPr>
          <p:cNvPr id="16" name="TextBox 15"/>
          <p:cNvSpPr txBox="1"/>
          <p:nvPr/>
        </p:nvSpPr>
        <p:spPr>
          <a:xfrm>
            <a:off x="914400" y="4672584"/>
            <a:ext cx="4818888" cy="1636776"/>
          </a:xfrm>
          <a:prstGeom prst="rect">
            <a:avLst/>
          </a:prstGeom>
          <a:noFill/>
        </p:spPr>
        <p:txBody>
          <a:bodyPr wrap="square">
            <a:spAutoFit/>
          </a:bodyPr>
          <a:lstStyle/>
          <a:p>
            <a:pPr>
              <a:defRPr sz="1250" b="1">
                <a:solidFill>
                  <a:srgbClr val="D97706"/>
                </a:solidFill>
                <a:latin typeface="Arial"/>
              </a:defRPr>
            </a:pPr>
            <a:r>
              <a:t>• Chốt chặn an toàn với Bootstrap: </a:t>
            </a:r>
            <a:r>
              <a:rPr sz="1200">
                <a:solidFill>
                  <a:srgbClr val="1E293B"/>
                </a:solidFill>
                <a:latin typeface="Arial"/>
              </a:rPr>
              <a:t>Áp dụng Lower Bound 95% làm ngưỡng giải ngân an toàn.</a:t>
            </a:r>
          </a:p>
          <a:p>
            <a:pPr>
              <a:spcBef>
                <a:spcPts val="800"/>
              </a:spcBef>
              <a:defRPr sz="1250" b="1">
                <a:solidFill>
                  <a:srgbClr val="D97706"/>
                </a:solidFill>
                <a:latin typeface="Arial"/>
              </a:defRPr>
            </a:pPr>
            <a:r>
              <a:t>• Giảm thiểu rủi ro nợ xấu: </a:t>
            </a:r>
            <a:r>
              <a:rPr sz="1200">
                <a:solidFill>
                  <a:srgbClr val="1E293B"/>
                </a:solidFill>
                <a:latin typeface="Arial"/>
              </a:rPr>
              <a:t>Phát hiện hiện tượng thổi giá cục bộ của giới đầu cơ.</a:t>
            </a:r>
          </a:p>
          <a:p>
            <a:pPr>
              <a:spcBef>
                <a:spcPts val="800"/>
              </a:spcBef>
              <a:defRPr sz="1250" b="1">
                <a:solidFill>
                  <a:srgbClr val="D97706"/>
                </a:solidFill>
                <a:latin typeface="Arial"/>
              </a:defRPr>
            </a:pPr>
            <a:r>
              <a:t>• Tự động hóa hồ sơ thế chấp: </a:t>
            </a:r>
            <a:r>
              <a:rPr sz="1200">
                <a:solidFill>
                  <a:srgbClr val="1E293B"/>
                </a:solidFill>
                <a:latin typeface="Arial"/>
              </a:rPr>
              <a:t>Tích hợp API định giá vào luồng phê duyệt tín dụng tự động.</a:t>
            </a:r>
          </a:p>
        </p:txBody>
      </p:sp>
      <p:sp>
        <p:nvSpPr>
          <p:cNvPr id="17" name="Rectangle 16"/>
          <p:cNvSpPr/>
          <p:nvPr/>
        </p:nvSpPr>
        <p:spPr>
          <a:xfrm>
            <a:off x="6275527" y="3977640"/>
            <a:ext cx="5184648" cy="2423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5527" y="3977640"/>
            <a:ext cx="5184648"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0119" y="4014216"/>
            <a:ext cx="4855464" cy="530352"/>
          </a:xfrm>
          <a:prstGeom prst="rect">
            <a:avLst/>
          </a:prstGeom>
          <a:noFill/>
        </p:spPr>
        <p:txBody>
          <a:bodyPr wrap="square">
            <a:spAutoFit/>
          </a:bodyPr>
          <a:lstStyle/>
          <a:p>
            <a:pPr>
              <a:defRPr sz="1250" b="1">
                <a:solidFill>
                  <a:srgbClr val="FFFFFF"/>
                </a:solidFill>
                <a:latin typeface="Arial"/>
              </a:defRPr>
            </a:pPr>
            <a:r>
              <a:t>TRỤ CỘT 4: MINH BẠCH HÓA THỊ TRƯỜNG</a:t>
            </a:r>
          </a:p>
        </p:txBody>
      </p:sp>
      <p:sp>
        <p:nvSpPr>
          <p:cNvPr id="20" name="TextBox 19"/>
          <p:cNvSpPr txBox="1"/>
          <p:nvPr/>
        </p:nvSpPr>
        <p:spPr>
          <a:xfrm>
            <a:off x="6458407" y="4672584"/>
            <a:ext cx="4818888" cy="1636776"/>
          </a:xfrm>
          <a:prstGeom prst="rect">
            <a:avLst/>
          </a:prstGeom>
          <a:noFill/>
        </p:spPr>
        <p:txBody>
          <a:bodyPr wrap="square">
            <a:spAutoFit/>
          </a:bodyPr>
          <a:lstStyle/>
          <a:p>
            <a:pPr>
              <a:defRPr sz="1250" b="1">
                <a:solidFill>
                  <a:srgbClr val="D97706"/>
                </a:solidFill>
                <a:latin typeface="Arial"/>
              </a:defRPr>
            </a:pPr>
            <a:r>
              <a:t>• Chuẩn hóa dữ liệu toàn diện: </a:t>
            </a:r>
            <a:r>
              <a:rPr sz="1200">
                <a:solidFill>
                  <a:srgbClr val="1E293B"/>
                </a:solidFill>
                <a:latin typeface="Arial"/>
              </a:rPr>
              <a:t>Khắc phục triệt để tin rác, tin ảo, tin trùng lặp.</a:t>
            </a:r>
          </a:p>
          <a:p>
            <a:pPr>
              <a:spcBef>
                <a:spcPts val="800"/>
              </a:spcBef>
              <a:defRPr sz="1250" b="1">
                <a:solidFill>
                  <a:srgbClr val="D97706"/>
                </a:solidFill>
                <a:latin typeface="Arial"/>
              </a:defRPr>
            </a:pPr>
            <a:r>
              <a:t>• Tuân thủ chuẩn mực đạo đức AI: </a:t>
            </a:r>
            <a:r>
              <a:rPr sz="1200">
                <a:solidFill>
                  <a:srgbClr val="1E293B"/>
                </a:solidFill>
                <a:latin typeface="Arial"/>
              </a:rPr>
              <a:t>Minh bạch thuật toán, bảo vệ tuyệt đối dữ liệu người dùng.</a:t>
            </a:r>
          </a:p>
          <a:p>
            <a:pPr>
              <a:spcBef>
                <a:spcPts val="800"/>
              </a:spcBef>
              <a:defRPr sz="1250" b="1">
                <a:solidFill>
                  <a:srgbClr val="D97706"/>
                </a:solidFill>
                <a:latin typeface="Arial"/>
              </a:defRPr>
            </a:pPr>
            <a:r>
              <a:t>• Sẵn sàng cho sản phẩm thực tế: </a:t>
            </a:r>
            <a:r>
              <a:rPr sz="1200">
                <a:solidFill>
                  <a:srgbClr val="1E293B"/>
                </a:solidFill>
                <a:latin typeface="Arial"/>
              </a:rPr>
              <a:t>Đóng gói pipeline hoàn chỉnh, sẵn sàng mở rộng quy mô toàn quốc.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
            <a:ext cx="10728655" cy="658368"/>
          </a:xfrm>
          <a:prstGeom prst="rect">
            <a:avLst/>
          </a:prstGeom>
          <a:noFill/>
        </p:spPr>
        <p:txBody>
          <a:bodyPr wrap="square">
            <a:spAutoFit/>
          </a:bodyPr>
          <a:lstStyle/>
          <a:p>
            <a:pPr>
              <a:defRPr sz="2200" b="1">
                <a:solidFill>
                  <a:srgbClr val="FFFFFF"/>
                </a:solidFill>
                <a:latin typeface="Arial"/>
              </a:defRPr>
            </a:pPr>
            <a:r>
              <a:t>Lộ Trình Hoàn Thiện Cuối Kỳ (Tuần 11 - 12) &amp; Hỏi - Đáp</a:t>
            </a:r>
          </a:p>
        </p:txBody>
      </p:sp>
      <p:sp>
        <p:nvSpPr>
          <p:cNvPr id="5" name="Rectangle 4"/>
          <p:cNvSpPr/>
          <p:nvPr/>
        </p:nvSpPr>
        <p:spPr>
          <a:xfrm>
            <a:off x="731520" y="1234440"/>
            <a:ext cx="5669280" cy="51663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5669280" cy="603504"/>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271016"/>
            <a:ext cx="5340096" cy="530352"/>
          </a:xfrm>
          <a:prstGeom prst="rect">
            <a:avLst/>
          </a:prstGeom>
          <a:noFill/>
        </p:spPr>
        <p:txBody>
          <a:bodyPr wrap="square">
            <a:spAutoFit/>
          </a:bodyPr>
          <a:lstStyle/>
          <a:p>
            <a:pPr>
              <a:defRPr sz="1250" b="1">
                <a:solidFill>
                  <a:srgbClr val="FFFFFF"/>
                </a:solidFill>
                <a:latin typeface="Arial"/>
              </a:defRPr>
            </a:pPr>
            <a:r>
              <a:t>3 MỤC TIÊU ĐỘT PHÁ TUẦN 11 - 12</a:t>
            </a:r>
          </a:p>
        </p:txBody>
      </p:sp>
      <p:sp>
        <p:nvSpPr>
          <p:cNvPr id="8" name="TextBox 7"/>
          <p:cNvSpPr txBox="1"/>
          <p:nvPr/>
        </p:nvSpPr>
        <p:spPr>
          <a:xfrm>
            <a:off x="914400" y="1929384"/>
            <a:ext cx="5303520" cy="4379976"/>
          </a:xfrm>
          <a:prstGeom prst="rect">
            <a:avLst/>
          </a:prstGeom>
          <a:noFill/>
        </p:spPr>
        <p:txBody>
          <a:bodyPr wrap="square">
            <a:spAutoFit/>
          </a:bodyPr>
          <a:lstStyle/>
          <a:p>
            <a:pPr>
              <a:defRPr sz="1350" b="1">
                <a:solidFill>
                  <a:srgbClr val="D97706"/>
                </a:solidFill>
                <a:latin typeface="Arial"/>
              </a:defRPr>
            </a:pPr>
            <a:r>
              <a:t>1. Tinh Chỉnh &amp; Mở Rộng Mô Hình (Tuần 11):</a:t>
            </a:r>
          </a:p>
          <a:p>
            <a:pPr>
              <a:spcBef>
                <a:spcPts val="400"/>
              </a:spcBef>
              <a:defRPr sz="1250">
                <a:solidFill>
                  <a:srgbClr val="1E293B"/>
                </a:solidFill>
                <a:latin typeface="Arial"/>
              </a:defRPr>
            </a:pPr>
            <a:r>
              <a:t>Áp dụng Bayesian Optimization cho XGBoost/LightGBM và đánh giá Precision/Recall, PR-AUC cho bài toán phân loại phân khúc giá.</a:t>
            </a:r>
          </a:p>
          <a:p>
            <a:pPr>
              <a:spcBef>
                <a:spcPts val="1800"/>
              </a:spcBef>
              <a:defRPr sz="1350" b="1">
                <a:solidFill>
                  <a:srgbClr val="D97706"/>
                </a:solidFill>
                <a:latin typeface="Arial"/>
              </a:defRPr>
            </a:pPr>
            <a:r>
              <a:t>2. Trí Tuệ Nhân Tạo Có Thể Giải Thích (SHAP XAI - Tuần 12):</a:t>
            </a:r>
          </a:p>
          <a:p>
            <a:pPr>
              <a:spcBef>
                <a:spcPts val="400"/>
              </a:spcBef>
              <a:defRPr sz="1250">
                <a:solidFill>
                  <a:srgbClr val="1E293B"/>
                </a:solidFill>
                <a:latin typeface="Arial"/>
              </a:defRPr>
            </a:pPr>
            <a:r>
              <a:t>Tích hợp thư viện SHAP (Shapley Additive exPlanations) để bóc tách chính xác lý do tại sao một căn nhà cụ thể được định giá tăng hoặc giảm.</a:t>
            </a:r>
          </a:p>
          <a:p>
            <a:pPr>
              <a:spcBef>
                <a:spcPts val="1800"/>
              </a:spcBef>
              <a:defRPr sz="1350" b="1">
                <a:solidFill>
                  <a:srgbClr val="D97706"/>
                </a:solidFill>
                <a:latin typeface="Arial"/>
              </a:defRPr>
            </a:pPr>
            <a:r>
              <a:t>3. Chuẩn Hóa Quản Trị &amp; Đạo Đức Dữ Liệu (Tuần 12):</a:t>
            </a:r>
          </a:p>
          <a:p>
            <a:pPr>
              <a:spcBef>
                <a:spcPts val="400"/>
              </a:spcBef>
              <a:defRPr sz="1250">
                <a:solidFill>
                  <a:srgbClr val="1E293B"/>
                </a:solidFill>
                <a:latin typeface="Arial"/>
              </a:defRPr>
            </a:pPr>
            <a:r>
              <a:t>Xây dựng Datasheets for Datasets và Model Cards theo chuẩn Google PAIR &amp; Nghị định 13/2023/NĐ-CP, thiết lập cơ chế ẩn danh k-anonymity.</a:t>
            </a:r>
          </a:p>
        </p:txBody>
      </p:sp>
      <p:sp>
        <p:nvSpPr>
          <p:cNvPr id="9" name="Rectangle 8"/>
          <p:cNvSpPr/>
          <p:nvPr/>
        </p:nvSpPr>
        <p:spPr>
          <a:xfrm>
            <a:off x="6766560" y="1234440"/>
            <a:ext cx="4693615" cy="5166360"/>
          </a:xfrm>
          <a:prstGeom prst="rect">
            <a:avLst/>
          </a:prstGeom>
          <a:solidFill>
            <a:srgbClr val="0F224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2011680"/>
            <a:ext cx="4327855" cy="3657600"/>
          </a:xfrm>
          <a:prstGeom prst="rect">
            <a:avLst/>
          </a:prstGeom>
          <a:noFill/>
        </p:spPr>
        <p:txBody>
          <a:bodyPr wrap="square">
            <a:spAutoFit/>
          </a:bodyPr>
          <a:lstStyle/>
          <a:p>
            <a:pPr algn="ctr">
              <a:defRPr sz="2200" b="1">
                <a:solidFill>
                  <a:srgbClr val="D97706"/>
                </a:solidFill>
                <a:latin typeface="Arial"/>
              </a:defRPr>
            </a:pPr>
            <a:r>
              <a:t>CẢM ƠN THẦY CÔ &amp; HỘI ĐỒNG ĐÃ LẮNG NGHE!</a:t>
            </a:r>
          </a:p>
          <a:p>
            <a:br/>
            <a:br/>
            <a:pPr algn="ctr">
              <a:spcBef>
                <a:spcPts val="1600"/>
              </a:spcBef>
              <a:defRPr sz="1400">
                <a:solidFill>
                  <a:srgbClr val="FFFFFF"/>
                </a:solidFill>
                <a:latin typeface="Arial"/>
              </a:defRPr>
            </a:pPr>
            <a:r>
              <a:t>NHÓM DỰ ÁN SẴN SÀNG TRẢ LỜI MỌI CÂU HỎI VÀ TIẾP THU Ý KIẾN ĐÓNG GÓP TỪ HỘI ĐỒNG KHOA HỌC DỮ LIỆU.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